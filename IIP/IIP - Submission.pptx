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tkinson Hyperlegible Bold" panose="020B0604020202020204" charset="0"/>
      <p:regular r:id="rId11"/>
    </p:embeddedFont>
    <p:embeddedFont>
      <p:font typeface="Tahoma Bold" panose="020B0804030504040204" pitchFamily="34" charset="0"/>
      <p:regular r:id="rId12"/>
      <p:bold r:id="rId13"/>
    </p:embeddedFont>
    <p:embeddedFont>
      <p:font typeface="Verdana Pro" panose="020B0604030504040204"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06F7B-59E7-45B0-A775-99BE1BF40609}" type="datetimeFigureOut">
              <a:rPr lang="en-IN" smtClean="0"/>
              <a:t>09-03-2026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CF05DA-FE28-4CE4-B93D-39BD87DAA7DE}" type="slidenum">
              <a:rPr lang="en-IN" smtClean="0"/>
              <a:t>‹#›</a:t>
            </a:fld>
            <a:endParaRPr lang="en-IN"/>
          </a:p>
        </p:txBody>
      </p:sp>
    </p:spTree>
    <p:extLst>
      <p:ext uri="{BB962C8B-B14F-4D97-AF65-F5344CB8AC3E}">
        <p14:creationId xmlns:p14="http://schemas.microsoft.com/office/powerpoint/2010/main" val="2879419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grpSp>
        <p:nvGrpSpPr>
          <p:cNvPr id="3" name="Group 3"/>
          <p:cNvGrpSpPr/>
          <p:nvPr/>
        </p:nvGrpSpPr>
        <p:grpSpPr>
          <a:xfrm>
            <a:off x="16423285" y="1390609"/>
            <a:ext cx="275590" cy="78740"/>
            <a:chOff x="0" y="0"/>
            <a:chExt cx="367453" cy="104987"/>
          </a:xfrm>
        </p:grpSpPr>
        <p:sp>
          <p:nvSpPr>
            <p:cNvPr id="4" name="Freeform 4"/>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5" name="Freeform 5"/>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3"/>
            <a:stretch>
              <a:fillRect l="-662" r="-662"/>
            </a:stretch>
          </a:blipFill>
        </p:spPr>
      </p:sp>
      <p:grpSp>
        <p:nvGrpSpPr>
          <p:cNvPr id="6" name="Group 6"/>
          <p:cNvGrpSpPr/>
          <p:nvPr/>
        </p:nvGrpSpPr>
        <p:grpSpPr>
          <a:xfrm>
            <a:off x="16288898" y="1340965"/>
            <a:ext cx="281305" cy="67310"/>
            <a:chOff x="0" y="0"/>
            <a:chExt cx="375073" cy="89747"/>
          </a:xfrm>
        </p:grpSpPr>
        <p:sp>
          <p:nvSpPr>
            <p:cNvPr id="7" name="Freeform 7"/>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8" name="Freeform 8"/>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4"/>
            <a:stretch>
              <a:fillRect t="-679" b="-679"/>
            </a:stretch>
          </a:blipFill>
        </p:spPr>
      </p:sp>
      <p:grpSp>
        <p:nvGrpSpPr>
          <p:cNvPr id="9" name="Group 9"/>
          <p:cNvGrpSpPr/>
          <p:nvPr/>
        </p:nvGrpSpPr>
        <p:grpSpPr>
          <a:xfrm>
            <a:off x="16144541" y="1251566"/>
            <a:ext cx="280670" cy="76200"/>
            <a:chOff x="0" y="0"/>
            <a:chExt cx="374227" cy="101600"/>
          </a:xfrm>
        </p:grpSpPr>
        <p:sp>
          <p:nvSpPr>
            <p:cNvPr id="10" name="Freeform 10"/>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1" name="Freeform 11"/>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5"/>
            <a:stretch>
              <a:fillRect t="-780" b="-780"/>
            </a:stretch>
          </a:blipFill>
        </p:spPr>
      </p:sp>
      <p:sp>
        <p:nvSpPr>
          <p:cNvPr id="12" name="Freeform 12"/>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8"/>
            <a:stretch>
              <a:fillRect t="-168" b="-168"/>
            </a:stretch>
          </a:blipFill>
        </p:spPr>
      </p:sp>
      <p:sp>
        <p:nvSpPr>
          <p:cNvPr id="14" name="Freeform 14"/>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9"/>
            <a:stretch>
              <a:fillRect/>
            </a:stretch>
          </a:blipFill>
        </p:spPr>
      </p:sp>
      <p:sp>
        <p:nvSpPr>
          <p:cNvPr id="15" name="Freeform 15"/>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2"/>
            <a:stretch>
              <a:fillRect/>
            </a:stretch>
          </a:blipFill>
        </p:spPr>
      </p:sp>
      <p:grpSp>
        <p:nvGrpSpPr>
          <p:cNvPr id="17" name="Group 17"/>
          <p:cNvGrpSpPr/>
          <p:nvPr/>
        </p:nvGrpSpPr>
        <p:grpSpPr>
          <a:xfrm>
            <a:off x="17330812" y="1389182"/>
            <a:ext cx="274955" cy="79375"/>
            <a:chOff x="0" y="0"/>
            <a:chExt cx="366607" cy="105833"/>
          </a:xfrm>
        </p:grpSpPr>
        <p:sp>
          <p:nvSpPr>
            <p:cNvPr id="18" name="Freeform 18"/>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19" name="Freeform 19"/>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3"/>
            <a:stretch>
              <a:fillRect l="-138" r="-138"/>
            </a:stretch>
          </a:blipFill>
        </p:spPr>
      </p:sp>
      <p:grpSp>
        <p:nvGrpSpPr>
          <p:cNvPr id="20" name="Group 20"/>
          <p:cNvGrpSpPr/>
          <p:nvPr/>
        </p:nvGrpSpPr>
        <p:grpSpPr>
          <a:xfrm>
            <a:off x="17459738" y="1340632"/>
            <a:ext cx="280670" cy="67310"/>
            <a:chOff x="0" y="0"/>
            <a:chExt cx="374227" cy="89747"/>
          </a:xfrm>
        </p:grpSpPr>
        <p:sp>
          <p:nvSpPr>
            <p:cNvPr id="21" name="Freeform 21"/>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2" name="Freeform 22"/>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4"/>
            <a:stretch>
              <a:fillRect l="-290" r="-290"/>
            </a:stretch>
          </a:blipFill>
        </p:spPr>
      </p:sp>
      <p:grpSp>
        <p:nvGrpSpPr>
          <p:cNvPr id="23" name="Group 23"/>
          <p:cNvGrpSpPr/>
          <p:nvPr/>
        </p:nvGrpSpPr>
        <p:grpSpPr>
          <a:xfrm>
            <a:off x="17604850" y="1252199"/>
            <a:ext cx="280670" cy="75565"/>
            <a:chOff x="0" y="0"/>
            <a:chExt cx="374227" cy="100753"/>
          </a:xfrm>
        </p:grpSpPr>
        <p:sp>
          <p:nvSpPr>
            <p:cNvPr id="24" name="Freeform 24"/>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5" name="Freeform 25"/>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5"/>
            <a:stretch>
              <a:fillRect t="-359" b="-359"/>
            </a:stretch>
          </a:blipFill>
        </p:spPr>
      </p:sp>
      <p:sp>
        <p:nvSpPr>
          <p:cNvPr id="26" name="Freeform 26"/>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7" name="Freeform 27"/>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8"/>
            <a:stretch>
              <a:fillRect l="-2220" r="-2220"/>
            </a:stretch>
          </a:blipFill>
        </p:spPr>
      </p:sp>
      <p:grpSp>
        <p:nvGrpSpPr>
          <p:cNvPr id="28" name="Group 28"/>
          <p:cNvGrpSpPr/>
          <p:nvPr/>
        </p:nvGrpSpPr>
        <p:grpSpPr>
          <a:xfrm>
            <a:off x="16474160" y="744181"/>
            <a:ext cx="38100" cy="307340"/>
            <a:chOff x="0" y="0"/>
            <a:chExt cx="50800" cy="409787"/>
          </a:xfrm>
        </p:grpSpPr>
        <p:sp>
          <p:nvSpPr>
            <p:cNvPr id="29" name="Freeform 29"/>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0" name="Freeform 30"/>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1" name="Freeform 31"/>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19"/>
            <a:stretch>
              <a:fillRect t="-594" b="-594"/>
            </a:stretch>
          </a:blipFill>
        </p:spPr>
      </p:sp>
      <p:sp>
        <p:nvSpPr>
          <p:cNvPr id="32" name="Freeform 32"/>
          <p:cNvSpPr/>
          <p:nvPr/>
        </p:nvSpPr>
        <p:spPr>
          <a:xfrm>
            <a:off x="503593" y="410850"/>
            <a:ext cx="3181349" cy="1238249"/>
          </a:xfrm>
          <a:custGeom>
            <a:avLst/>
            <a:gdLst/>
            <a:ahLst/>
            <a:cxnLst/>
            <a:rect l="l" t="t" r="r" b="b"/>
            <a:pathLst>
              <a:path w="3181349" h="1238249">
                <a:moveTo>
                  <a:pt x="0" y="0"/>
                </a:moveTo>
                <a:lnTo>
                  <a:pt x="3181349" y="0"/>
                </a:lnTo>
                <a:lnTo>
                  <a:pt x="3181349" y="1238249"/>
                </a:lnTo>
                <a:lnTo>
                  <a:pt x="0" y="1238249"/>
                </a:lnTo>
                <a:lnTo>
                  <a:pt x="0" y="0"/>
                </a:lnTo>
                <a:close/>
              </a:path>
            </a:pathLst>
          </a:custGeom>
          <a:blipFill>
            <a:blip r:embed="rId20"/>
            <a:stretch>
              <a:fillRect t="-100" b="-100"/>
            </a:stretch>
          </a:blipFill>
        </p:spPr>
      </p:sp>
      <p:sp>
        <p:nvSpPr>
          <p:cNvPr id="33" name="Freeform 33"/>
          <p:cNvSpPr/>
          <p:nvPr/>
        </p:nvSpPr>
        <p:spPr>
          <a:xfrm>
            <a:off x="15942919" y="755877"/>
            <a:ext cx="175260" cy="374015"/>
          </a:xfrm>
          <a:custGeom>
            <a:avLst/>
            <a:gdLst/>
            <a:ahLst/>
            <a:cxnLst/>
            <a:rect l="l" t="t" r="r" b="b"/>
            <a:pathLst>
              <a:path w="175260" h="374015">
                <a:moveTo>
                  <a:pt x="0" y="0"/>
                </a:moveTo>
                <a:lnTo>
                  <a:pt x="175260" y="0"/>
                </a:lnTo>
                <a:lnTo>
                  <a:pt x="175260" y="374015"/>
                </a:lnTo>
                <a:lnTo>
                  <a:pt x="0" y="37401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34" name="Group 34"/>
          <p:cNvGrpSpPr/>
          <p:nvPr/>
        </p:nvGrpSpPr>
        <p:grpSpPr>
          <a:xfrm>
            <a:off x="16000425" y="699921"/>
            <a:ext cx="44450" cy="354965"/>
            <a:chOff x="0" y="0"/>
            <a:chExt cx="59267" cy="473287"/>
          </a:xfrm>
        </p:grpSpPr>
        <p:sp>
          <p:nvSpPr>
            <p:cNvPr id="35" name="Freeform 35"/>
            <p:cNvSpPr/>
            <p:nvPr/>
          </p:nvSpPr>
          <p:spPr>
            <a:xfrm>
              <a:off x="0" y="424815"/>
              <a:ext cx="47879" cy="47879"/>
            </a:xfrm>
            <a:custGeom>
              <a:avLst/>
              <a:gdLst/>
              <a:ahLst/>
              <a:cxnLst/>
              <a:rect l="l" t="t" r="r" b="b"/>
              <a:pathLst>
                <a:path w="47879" h="47879">
                  <a:moveTo>
                    <a:pt x="47879" y="0"/>
                  </a:moveTo>
                  <a:lnTo>
                    <a:pt x="0" y="0"/>
                  </a:lnTo>
                  <a:lnTo>
                    <a:pt x="0" y="47879"/>
                  </a:lnTo>
                  <a:lnTo>
                    <a:pt x="47879" y="47879"/>
                  </a:lnTo>
                  <a:lnTo>
                    <a:pt x="47879" y="0"/>
                  </a:lnTo>
                  <a:close/>
                </a:path>
              </a:pathLst>
            </a:custGeom>
            <a:solidFill>
              <a:srgbClr val="FFFFFF"/>
            </a:solidFill>
          </p:spPr>
        </p:sp>
        <p:sp>
          <p:nvSpPr>
            <p:cNvPr id="36" name="Freeform 36"/>
            <p:cNvSpPr/>
            <p:nvPr/>
          </p:nvSpPr>
          <p:spPr>
            <a:xfrm>
              <a:off x="10541" y="0"/>
              <a:ext cx="48006" cy="47879"/>
            </a:xfrm>
            <a:custGeom>
              <a:avLst/>
              <a:gdLst/>
              <a:ahLst/>
              <a:cxnLst/>
              <a:rect l="l" t="t" r="r" b="b"/>
              <a:pathLst>
                <a:path w="48006" h="47879">
                  <a:moveTo>
                    <a:pt x="48006" y="0"/>
                  </a:moveTo>
                  <a:lnTo>
                    <a:pt x="0" y="0"/>
                  </a:lnTo>
                  <a:lnTo>
                    <a:pt x="0" y="47879"/>
                  </a:lnTo>
                  <a:lnTo>
                    <a:pt x="48006" y="47879"/>
                  </a:lnTo>
                  <a:lnTo>
                    <a:pt x="48006" y="0"/>
                  </a:lnTo>
                  <a:close/>
                </a:path>
              </a:pathLst>
            </a:custGeom>
            <a:solidFill>
              <a:srgbClr val="FFFFFF"/>
            </a:solidFill>
          </p:spPr>
        </p:sp>
      </p:grpSp>
      <p:sp>
        <p:nvSpPr>
          <p:cNvPr id="37" name="Freeform 37"/>
          <p:cNvSpPr/>
          <p:nvPr/>
        </p:nvSpPr>
        <p:spPr>
          <a:xfrm>
            <a:off x="16547635" y="1446897"/>
            <a:ext cx="157062" cy="155217"/>
          </a:xfrm>
          <a:custGeom>
            <a:avLst/>
            <a:gdLst/>
            <a:ahLst/>
            <a:cxnLst/>
            <a:rect l="l" t="t" r="r" b="b"/>
            <a:pathLst>
              <a:path w="157062" h="155217">
                <a:moveTo>
                  <a:pt x="0" y="0"/>
                </a:moveTo>
                <a:lnTo>
                  <a:pt x="157062" y="0"/>
                </a:lnTo>
                <a:lnTo>
                  <a:pt x="157062" y="155217"/>
                </a:lnTo>
                <a:lnTo>
                  <a:pt x="0" y="155217"/>
                </a:lnTo>
                <a:lnTo>
                  <a:pt x="0" y="0"/>
                </a:lnTo>
                <a:close/>
              </a:path>
            </a:pathLst>
          </a:custGeom>
          <a:blipFill>
            <a:blip r:embed="rId23"/>
            <a:stretch>
              <a:fillRect l="-956" r="-956"/>
            </a:stretch>
          </a:blipFill>
        </p:spPr>
      </p:sp>
      <p:sp>
        <p:nvSpPr>
          <p:cNvPr id="39" name="Freeform 39"/>
          <p:cNvSpPr/>
          <p:nvPr/>
        </p:nvSpPr>
        <p:spPr>
          <a:xfrm>
            <a:off x="1828801" y="4233456"/>
            <a:ext cx="5330761" cy="2528152"/>
          </a:xfrm>
          <a:custGeom>
            <a:avLst/>
            <a:gdLst/>
            <a:ahLst/>
            <a:cxnLst/>
            <a:rect l="l" t="t" r="r" b="b"/>
            <a:pathLst>
              <a:path w="7304194" h="5528733">
                <a:moveTo>
                  <a:pt x="0" y="0"/>
                </a:moveTo>
                <a:lnTo>
                  <a:pt x="7304194" y="0"/>
                </a:lnTo>
                <a:lnTo>
                  <a:pt x="7304194" y="5528733"/>
                </a:lnTo>
                <a:lnTo>
                  <a:pt x="0" y="5528733"/>
                </a:lnTo>
                <a:close/>
              </a:path>
            </a:pathLst>
          </a:custGeom>
        </p:spPr>
      </p:sp>
      <p:sp>
        <p:nvSpPr>
          <p:cNvPr id="41" name="Freeform 41"/>
          <p:cNvSpPr/>
          <p:nvPr/>
        </p:nvSpPr>
        <p:spPr>
          <a:xfrm>
            <a:off x="6231838" y="29194"/>
            <a:ext cx="5824323" cy="2051385"/>
          </a:xfrm>
          <a:custGeom>
            <a:avLst/>
            <a:gdLst/>
            <a:ahLst/>
            <a:cxnLst/>
            <a:rect l="l" t="t" r="r" b="b"/>
            <a:pathLst>
              <a:path w="5824323" h="2051385">
                <a:moveTo>
                  <a:pt x="0" y="0"/>
                </a:moveTo>
                <a:lnTo>
                  <a:pt x="5824324" y="0"/>
                </a:lnTo>
                <a:lnTo>
                  <a:pt x="5824324" y="2051384"/>
                </a:lnTo>
                <a:lnTo>
                  <a:pt x="0" y="2051384"/>
                </a:lnTo>
                <a:lnTo>
                  <a:pt x="0" y="0"/>
                </a:lnTo>
                <a:close/>
              </a:path>
            </a:pathLst>
          </a:custGeom>
          <a:blipFill>
            <a:blip r:embed="rId24"/>
            <a:stretch>
              <a:fillRect/>
            </a:stretch>
          </a:blipFill>
        </p:spPr>
      </p:sp>
      <p:sp>
        <p:nvSpPr>
          <p:cNvPr id="42" name="TextBox 41">
            <a:extLst>
              <a:ext uri="{FF2B5EF4-FFF2-40B4-BE49-F238E27FC236}">
                <a16:creationId xmlns:a16="http://schemas.microsoft.com/office/drawing/2014/main" id="{384619FB-7E35-2036-ED7D-AD5812B07F79}"/>
              </a:ext>
            </a:extLst>
          </p:cNvPr>
          <p:cNvSpPr txBox="1"/>
          <p:nvPr/>
        </p:nvSpPr>
        <p:spPr>
          <a:xfrm>
            <a:off x="898356" y="3261421"/>
            <a:ext cx="16535399" cy="3970318"/>
          </a:xfrm>
          <a:prstGeom prst="rect">
            <a:avLst/>
          </a:prstGeom>
          <a:noFill/>
        </p:spPr>
        <p:txBody>
          <a:bodyPr wrap="square" rtlCol="0">
            <a:spAutoFit/>
          </a:bodyPr>
          <a:lstStyle/>
          <a:p>
            <a:r>
              <a:rPr lang="en-US" sz="3600" dirty="0">
                <a:solidFill>
                  <a:schemeClr val="bg1"/>
                </a:solidFill>
              </a:rPr>
              <a:t>TEAM NAME: 			IIP</a:t>
            </a:r>
            <a:br>
              <a:rPr lang="en-US" sz="3600" dirty="0">
                <a:solidFill>
                  <a:schemeClr val="bg1"/>
                </a:solidFill>
              </a:rPr>
            </a:br>
            <a:br>
              <a:rPr lang="en-US" sz="3600" dirty="0">
                <a:solidFill>
                  <a:schemeClr val="bg1"/>
                </a:solidFill>
              </a:rPr>
            </a:br>
            <a:r>
              <a:rPr lang="en-US" sz="3600" dirty="0">
                <a:solidFill>
                  <a:schemeClr val="bg1"/>
                </a:solidFill>
              </a:rPr>
              <a:t>COLLEGE NAME: 		Panimalar Engineering College</a:t>
            </a:r>
            <a:br>
              <a:rPr lang="en-US" sz="3600" dirty="0">
                <a:solidFill>
                  <a:schemeClr val="bg1"/>
                </a:solidFill>
              </a:rPr>
            </a:br>
            <a:br>
              <a:rPr lang="en-US" sz="3600" dirty="0">
                <a:solidFill>
                  <a:schemeClr val="bg1"/>
                </a:solidFill>
              </a:rPr>
            </a:br>
            <a:r>
              <a:rPr lang="en-US" sz="3600" dirty="0">
                <a:solidFill>
                  <a:schemeClr val="bg1"/>
                </a:solidFill>
              </a:rPr>
              <a:t>PROBLEM STATEMENT:   Students spend hours scrolling short  videos but gain little real 					learning from </a:t>
            </a:r>
            <a:r>
              <a:rPr lang="en-US" sz="3600" dirty="0" err="1">
                <a:solidFill>
                  <a:schemeClr val="bg1"/>
                </a:solidFill>
              </a:rPr>
              <a:t>it.Traditional</a:t>
            </a:r>
            <a:r>
              <a:rPr lang="en-US" sz="3600" dirty="0">
                <a:solidFill>
                  <a:schemeClr val="bg1"/>
                </a:solidFill>
              </a:rPr>
              <a:t> learning platforms are long, passive, 					and fail to build practical skills.</a:t>
            </a:r>
            <a:endParaRPr lang="en-IN" sz="3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txBody>
          <a:bodyPr/>
          <a:lstStyle/>
          <a:p>
            <a:endParaRPr lang="en-IN" dirty="0"/>
          </a:p>
        </p:txBody>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74" dirty="0">
                  <a:solidFill>
                    <a:srgbClr val="FFFFFF"/>
                  </a:solidFill>
                  <a:latin typeface="Atkinson Hyperlegible Bold"/>
                  <a:ea typeface="Atkinson Hyperlegible Bold"/>
                  <a:cs typeface="Atkinson Hyperlegible Bold"/>
                  <a:sym typeface="Atkinson Hyperlegible Bold"/>
                </a:rPr>
                <a:t>PROBLEM STATEMENT</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2" name="TextBox 41">
            <a:extLst>
              <a:ext uri="{FF2B5EF4-FFF2-40B4-BE49-F238E27FC236}">
                <a16:creationId xmlns:a16="http://schemas.microsoft.com/office/drawing/2014/main" id="{782F854C-B7B9-E457-E2C3-77C94E0C4AEE}"/>
              </a:ext>
            </a:extLst>
          </p:cNvPr>
          <p:cNvSpPr txBox="1"/>
          <p:nvPr/>
        </p:nvSpPr>
        <p:spPr>
          <a:xfrm>
            <a:off x="685800" y="2324100"/>
            <a:ext cx="14249400" cy="3785652"/>
          </a:xfrm>
          <a:prstGeom prst="rect">
            <a:avLst/>
          </a:prstGeom>
          <a:noFill/>
        </p:spPr>
        <p:txBody>
          <a:bodyPr wrap="square" rtlCol="0">
            <a:spAutoFit/>
          </a:bodyPr>
          <a:lstStyle/>
          <a:p>
            <a:r>
              <a:rPr lang="en-US" sz="4000" dirty="0">
                <a:solidFill>
                  <a:schemeClr val="bg1"/>
                </a:solidFill>
              </a:rPr>
              <a:t>Students today spend hours scrolling short-form content, yet most learning platforms still rely on long, passive courses that fail to keep them engaged. As a result, learners consume information but struggle to build real skills, practice communication, or prepare for interviews. The gap between how students learn and what the modern world demands continues to grow.</a:t>
            </a:r>
            <a:endParaRPr lang="en-IN" sz="40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305" dirty="0">
                  <a:solidFill>
                    <a:srgbClr val="FFFFFF"/>
                  </a:solidFill>
                  <a:latin typeface="Atkinson Hyperlegible Bold"/>
                  <a:ea typeface="Atkinson Hyperlegible Bold"/>
                  <a:cs typeface="Atkinson Hyperlegible Bold"/>
                  <a:sym typeface="Atkinson Hyperlegible Bold"/>
                </a:rPr>
                <a:t>SOLUTION</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0" name="TextBox 39">
            <a:extLst>
              <a:ext uri="{FF2B5EF4-FFF2-40B4-BE49-F238E27FC236}">
                <a16:creationId xmlns:a16="http://schemas.microsoft.com/office/drawing/2014/main" id="{83BE6813-4200-6BAB-0A06-73E7D5BF7A85}"/>
              </a:ext>
            </a:extLst>
          </p:cNvPr>
          <p:cNvSpPr txBox="1"/>
          <p:nvPr/>
        </p:nvSpPr>
        <p:spPr>
          <a:xfrm>
            <a:off x="609600" y="2019300"/>
            <a:ext cx="15087600" cy="4031873"/>
          </a:xfrm>
          <a:prstGeom prst="rect">
            <a:avLst/>
          </a:prstGeom>
          <a:noFill/>
        </p:spPr>
        <p:txBody>
          <a:bodyPr wrap="square" rtlCol="0">
            <a:spAutoFit/>
          </a:bodyPr>
          <a:lstStyle/>
          <a:p>
            <a:r>
              <a:rPr lang="en-US" sz="3600" dirty="0">
                <a:solidFill>
                  <a:schemeClr val="bg1"/>
                </a:solidFill>
              </a:rPr>
              <a:t>• </a:t>
            </a:r>
            <a:r>
              <a:rPr lang="en-US" sz="3600" b="1" dirty="0">
                <a:solidFill>
                  <a:schemeClr val="bg1"/>
                </a:solidFill>
              </a:rPr>
              <a:t>Reel-style learning:</a:t>
            </a:r>
            <a:r>
              <a:rPr lang="en-US" sz="3600" dirty="0">
                <a:solidFill>
                  <a:schemeClr val="bg1"/>
                </a:solidFill>
              </a:rPr>
              <a:t> Courses delivered through short, engaging videos.</a:t>
            </a:r>
            <a:br>
              <a:rPr lang="en-US" sz="3600" dirty="0">
                <a:solidFill>
                  <a:schemeClr val="bg1"/>
                </a:solidFill>
              </a:rPr>
            </a:br>
            <a:r>
              <a:rPr lang="en-US" sz="3600" dirty="0">
                <a:solidFill>
                  <a:schemeClr val="bg1"/>
                </a:solidFill>
              </a:rPr>
              <a:t>• </a:t>
            </a:r>
            <a:r>
              <a:rPr lang="en-US" sz="3600" b="1" dirty="0">
                <a:solidFill>
                  <a:schemeClr val="bg1"/>
                </a:solidFill>
              </a:rPr>
              <a:t>Quiz-based progression:</a:t>
            </a:r>
            <a:r>
              <a:rPr lang="en-US" sz="3600" dirty="0">
                <a:solidFill>
                  <a:schemeClr val="bg1"/>
                </a:solidFill>
              </a:rPr>
              <a:t> Unlock the next level only after completing quizzes.</a:t>
            </a:r>
            <a:br>
              <a:rPr lang="en-US" sz="3600" dirty="0">
                <a:solidFill>
                  <a:schemeClr val="bg1"/>
                </a:solidFill>
              </a:rPr>
            </a:br>
            <a:r>
              <a:rPr lang="en-US" sz="3600" dirty="0">
                <a:solidFill>
                  <a:schemeClr val="bg1"/>
                </a:solidFill>
              </a:rPr>
              <a:t>• </a:t>
            </a:r>
            <a:r>
              <a:rPr lang="en-US" sz="3600" b="1" dirty="0">
                <a:solidFill>
                  <a:schemeClr val="bg1"/>
                </a:solidFill>
              </a:rPr>
              <a:t>Gamified learning:</a:t>
            </a:r>
            <a:r>
              <a:rPr lang="en-US" sz="3600" dirty="0">
                <a:solidFill>
                  <a:schemeClr val="bg1"/>
                </a:solidFill>
              </a:rPr>
              <a:t> </a:t>
            </a:r>
            <a:r>
              <a:rPr lang="en-US" sz="4000" dirty="0">
                <a:solidFill>
                  <a:schemeClr val="bg1"/>
                </a:solidFill>
              </a:rPr>
              <a:t>Streaks</a:t>
            </a:r>
            <a:r>
              <a:rPr lang="en-US" sz="3600" dirty="0">
                <a:solidFill>
                  <a:schemeClr val="bg1"/>
                </a:solidFill>
              </a:rPr>
              <a:t>, leaderboards, and certificates to motivate users.</a:t>
            </a:r>
            <a:br>
              <a:rPr lang="en-US" sz="3600" dirty="0">
                <a:solidFill>
                  <a:schemeClr val="bg1"/>
                </a:solidFill>
              </a:rPr>
            </a:br>
            <a:r>
              <a:rPr lang="en-US" sz="3600" dirty="0">
                <a:solidFill>
                  <a:schemeClr val="bg1"/>
                </a:solidFill>
              </a:rPr>
              <a:t>• </a:t>
            </a:r>
            <a:r>
              <a:rPr lang="en-US" sz="3600" b="1" dirty="0">
                <a:solidFill>
                  <a:schemeClr val="bg1"/>
                </a:solidFill>
              </a:rPr>
              <a:t>Live Group Discussions:</a:t>
            </a:r>
            <a:r>
              <a:rPr lang="en-US" sz="3600" dirty="0">
                <a:solidFill>
                  <a:schemeClr val="bg1"/>
                </a:solidFill>
              </a:rPr>
              <a:t> Join or spectate GD sessions to improve communication skills.</a:t>
            </a:r>
            <a:br>
              <a:rPr lang="en-US" sz="3600" dirty="0">
                <a:solidFill>
                  <a:schemeClr val="bg1"/>
                </a:solidFill>
              </a:rPr>
            </a:br>
            <a:r>
              <a:rPr lang="en-US" sz="3600" dirty="0">
                <a:solidFill>
                  <a:schemeClr val="bg1"/>
                </a:solidFill>
              </a:rPr>
              <a:t>• </a:t>
            </a:r>
            <a:r>
              <a:rPr lang="en-US" sz="3600" b="1" dirty="0">
                <a:solidFill>
                  <a:schemeClr val="bg1"/>
                </a:solidFill>
              </a:rPr>
              <a:t>AI Mock Interviews:</a:t>
            </a:r>
            <a:r>
              <a:rPr lang="en-US" sz="3600" dirty="0">
                <a:solidFill>
                  <a:schemeClr val="bg1"/>
                </a:solidFill>
              </a:rPr>
              <a:t> Role-based AI interviews with feedback to improve job readiness.</a:t>
            </a:r>
            <a:endParaRPr lang="en-IN" sz="36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69147"/>
            <a:ext cx="11351261" cy="934117"/>
            <a:chOff x="0" y="-9525"/>
            <a:chExt cx="15135014" cy="1245489"/>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340" dirty="0">
                  <a:solidFill>
                    <a:srgbClr val="FFFFFF"/>
                  </a:solidFill>
                  <a:latin typeface="Atkinson Hyperlegible Bold"/>
                  <a:ea typeface="Atkinson Hyperlegible Bold"/>
                  <a:cs typeface="Atkinson Hyperlegible Bold"/>
                  <a:sym typeface="Atkinson Hyperlegible Bold"/>
                </a:rPr>
                <a:t>FLOW DIAGRAM</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pic>
        <p:nvPicPr>
          <p:cNvPr id="43" name="Picture 42">
            <a:extLst>
              <a:ext uri="{FF2B5EF4-FFF2-40B4-BE49-F238E27FC236}">
                <a16:creationId xmlns:a16="http://schemas.microsoft.com/office/drawing/2014/main" id="{000A107D-F4D4-0F3E-E1A9-8B16DB22E82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057364" y="339330"/>
            <a:ext cx="11268236" cy="99476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436294" y="276291"/>
            <a:ext cx="11930967" cy="1094214"/>
            <a:chOff x="-772941" y="0"/>
            <a:chExt cx="15907955" cy="1458952"/>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772941" y="213463"/>
              <a:ext cx="15135013" cy="1245489"/>
            </a:xfrm>
            <a:prstGeom prst="rect">
              <a:avLst/>
            </a:prstGeom>
          </p:spPr>
          <p:txBody>
            <a:bodyPr lIns="0" tIns="0" rIns="0" bIns="0" rtlCol="0" anchor="t"/>
            <a:lstStyle/>
            <a:p>
              <a:pPr algn="l">
                <a:lnSpc>
                  <a:spcPts val="6120"/>
                </a:lnSpc>
              </a:pPr>
              <a:r>
                <a:rPr lang="en-US" sz="5100" b="1" spc="125" dirty="0">
                  <a:solidFill>
                    <a:srgbClr val="FFFFFF"/>
                  </a:solidFill>
                  <a:latin typeface="Atkinson Hyperlegible Bold"/>
                  <a:ea typeface="Atkinson Hyperlegible Bold"/>
                  <a:cs typeface="Atkinson Hyperlegible Bold"/>
                  <a:sym typeface="Atkinson Hyperlegible Bold"/>
                </a:rPr>
                <a:t>TECHNICAL REQUIREMENTS</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0" name="TextBox 39">
            <a:extLst>
              <a:ext uri="{FF2B5EF4-FFF2-40B4-BE49-F238E27FC236}">
                <a16:creationId xmlns:a16="http://schemas.microsoft.com/office/drawing/2014/main" id="{51B70D97-86E8-9E05-FFA7-4520951D40C2}"/>
              </a:ext>
            </a:extLst>
          </p:cNvPr>
          <p:cNvSpPr txBox="1"/>
          <p:nvPr/>
        </p:nvSpPr>
        <p:spPr>
          <a:xfrm>
            <a:off x="300587" y="1786680"/>
            <a:ext cx="17286724" cy="5509200"/>
          </a:xfrm>
          <a:prstGeom prst="rect">
            <a:avLst/>
          </a:prstGeom>
          <a:noFill/>
        </p:spPr>
        <p:txBody>
          <a:bodyPr wrap="square" rtlCol="0">
            <a:spAutoFit/>
          </a:bodyPr>
          <a:lstStyle/>
          <a:p>
            <a:r>
              <a:rPr lang="en-IN" sz="3200" dirty="0">
                <a:solidFill>
                  <a:schemeClr val="bg1"/>
                </a:solidFill>
              </a:rPr>
              <a:t>• </a:t>
            </a:r>
            <a:r>
              <a:rPr lang="en-IN" sz="3200" b="1" dirty="0">
                <a:solidFill>
                  <a:schemeClr val="bg1"/>
                </a:solidFill>
              </a:rPr>
              <a:t>Frontend:</a:t>
            </a:r>
            <a:r>
              <a:rPr lang="en-IN" sz="3200" dirty="0">
                <a:solidFill>
                  <a:schemeClr val="bg1"/>
                </a:solidFill>
              </a:rPr>
              <a:t> Mobile/Web interface for reel-based learning using modern frameworks (React / Flutter).</a:t>
            </a:r>
            <a:br>
              <a:rPr lang="en-IN" sz="3200" dirty="0">
                <a:solidFill>
                  <a:schemeClr val="bg1"/>
                </a:solidFill>
              </a:rPr>
            </a:br>
            <a:r>
              <a:rPr lang="en-IN" sz="3200" dirty="0">
                <a:solidFill>
                  <a:schemeClr val="bg1"/>
                </a:solidFill>
              </a:rPr>
              <a:t>• </a:t>
            </a:r>
            <a:r>
              <a:rPr lang="en-IN" sz="3200" b="1" dirty="0">
                <a:solidFill>
                  <a:schemeClr val="bg1"/>
                </a:solidFill>
              </a:rPr>
              <a:t>Backend:</a:t>
            </a:r>
            <a:r>
              <a:rPr lang="en-IN" sz="3200" dirty="0">
                <a:solidFill>
                  <a:schemeClr val="bg1"/>
                </a:solidFill>
              </a:rPr>
              <a:t> Server-side logic to manage users, courses, quizzes, and discussions using Node.js or similar frameworks.</a:t>
            </a:r>
            <a:br>
              <a:rPr lang="en-IN" sz="3200" dirty="0">
                <a:solidFill>
                  <a:schemeClr val="bg1"/>
                </a:solidFill>
              </a:rPr>
            </a:br>
            <a:r>
              <a:rPr lang="en-IN" sz="3200" dirty="0">
                <a:solidFill>
                  <a:schemeClr val="bg1"/>
                </a:solidFill>
              </a:rPr>
              <a:t>• </a:t>
            </a:r>
            <a:r>
              <a:rPr lang="en-IN" sz="3200" b="1" dirty="0">
                <a:solidFill>
                  <a:schemeClr val="bg1"/>
                </a:solidFill>
              </a:rPr>
              <a:t>Database:</a:t>
            </a:r>
            <a:r>
              <a:rPr lang="en-IN" sz="3200" dirty="0">
                <a:solidFill>
                  <a:schemeClr val="bg1"/>
                </a:solidFill>
              </a:rPr>
              <a:t> Cloud-based database (MongoDB / Firebase) to store user data, course progress, scores, and certificates.</a:t>
            </a:r>
            <a:br>
              <a:rPr lang="en-IN" sz="3200" dirty="0">
                <a:solidFill>
                  <a:schemeClr val="bg1"/>
                </a:solidFill>
              </a:rPr>
            </a:br>
            <a:r>
              <a:rPr lang="en-IN" sz="3200" dirty="0">
                <a:solidFill>
                  <a:schemeClr val="bg1"/>
                </a:solidFill>
              </a:rPr>
              <a:t>• </a:t>
            </a:r>
            <a:r>
              <a:rPr lang="en-IN" sz="3200" b="1" dirty="0">
                <a:solidFill>
                  <a:schemeClr val="bg1"/>
                </a:solidFill>
              </a:rPr>
              <a:t>AI Integration:</a:t>
            </a:r>
            <a:r>
              <a:rPr lang="en-IN" sz="3200" dirty="0">
                <a:solidFill>
                  <a:schemeClr val="bg1"/>
                </a:solidFill>
              </a:rPr>
              <a:t> Speech recognition and NLP models for AI mock interviews and performance evaluation.</a:t>
            </a:r>
            <a:br>
              <a:rPr lang="en-IN" sz="3200" dirty="0">
                <a:solidFill>
                  <a:schemeClr val="bg1"/>
                </a:solidFill>
              </a:rPr>
            </a:br>
            <a:r>
              <a:rPr lang="en-IN" sz="3200" dirty="0">
                <a:solidFill>
                  <a:schemeClr val="bg1"/>
                </a:solidFill>
              </a:rPr>
              <a:t>• </a:t>
            </a:r>
            <a:r>
              <a:rPr lang="en-IN" sz="3200" b="1" dirty="0">
                <a:solidFill>
                  <a:schemeClr val="bg1"/>
                </a:solidFill>
              </a:rPr>
              <a:t>Video Delivery System:</a:t>
            </a:r>
            <a:r>
              <a:rPr lang="en-IN" sz="3200" dirty="0">
                <a:solidFill>
                  <a:schemeClr val="bg1"/>
                </a:solidFill>
              </a:rPr>
              <a:t> Efficient streaming/CDN support for smooth short-video learning content.</a:t>
            </a:r>
            <a:br>
              <a:rPr lang="en-IN" sz="3200" dirty="0">
                <a:solidFill>
                  <a:schemeClr val="bg1"/>
                </a:solidFill>
              </a:rPr>
            </a:br>
            <a:r>
              <a:rPr lang="en-IN" sz="3200" dirty="0">
                <a:solidFill>
                  <a:schemeClr val="bg1"/>
                </a:solidFill>
              </a:rPr>
              <a:t>• </a:t>
            </a:r>
            <a:r>
              <a:rPr lang="en-IN" sz="3200" b="1" dirty="0">
                <a:solidFill>
                  <a:schemeClr val="bg1"/>
                </a:solidFill>
              </a:rPr>
              <a:t>Real-time Communication:</a:t>
            </a:r>
            <a:r>
              <a:rPr lang="en-IN" sz="3200" dirty="0">
                <a:solidFill>
                  <a:schemeClr val="bg1"/>
                </a:solidFill>
              </a:rPr>
              <a:t> WebRTC or similar technology to enable live group discussion sessions.</a:t>
            </a:r>
            <a:br>
              <a:rPr lang="en-IN" sz="3200" dirty="0">
                <a:solidFill>
                  <a:schemeClr val="bg1"/>
                </a:solidFill>
              </a:rPr>
            </a:br>
            <a:r>
              <a:rPr lang="en-IN" sz="3200" dirty="0">
                <a:solidFill>
                  <a:schemeClr val="bg1"/>
                </a:solidFill>
              </a:rPr>
              <a:t>• </a:t>
            </a:r>
            <a:r>
              <a:rPr lang="en-IN" sz="3200" b="1" dirty="0">
                <a:solidFill>
                  <a:schemeClr val="bg1"/>
                </a:solidFill>
              </a:rPr>
              <a:t>Authentication &amp; Security:</a:t>
            </a:r>
            <a:r>
              <a:rPr lang="en-IN" sz="3200" dirty="0">
                <a:solidFill>
                  <a:schemeClr val="bg1"/>
                </a:solidFill>
              </a:rPr>
              <a:t> Secure login, user authentication, and data protection mechanisms.</a:t>
            </a:r>
            <a:br>
              <a:rPr lang="en-IN" sz="3200" dirty="0">
                <a:solidFill>
                  <a:schemeClr val="bg1"/>
                </a:solidFill>
              </a:rPr>
            </a:br>
            <a:r>
              <a:rPr lang="en-IN" sz="3200" dirty="0">
                <a:solidFill>
                  <a:schemeClr val="bg1"/>
                </a:solidFill>
              </a:rPr>
              <a:t>• </a:t>
            </a:r>
            <a:r>
              <a:rPr lang="en-IN" sz="3200" b="1" dirty="0">
                <a:solidFill>
                  <a:schemeClr val="bg1"/>
                </a:solidFill>
              </a:rPr>
              <a:t>Cloud Hosting:</a:t>
            </a:r>
            <a:r>
              <a:rPr lang="en-IN" sz="3200" dirty="0">
                <a:solidFill>
                  <a:schemeClr val="bg1"/>
                </a:solidFill>
              </a:rPr>
              <a:t> Scalable deployment using cloud platforms for reliable performance and accessibility.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165" dirty="0">
                  <a:solidFill>
                    <a:srgbClr val="FFFFFF"/>
                  </a:solidFill>
                  <a:latin typeface="Atkinson Hyperlegible Bold"/>
                  <a:ea typeface="Atkinson Hyperlegible Bold"/>
                  <a:cs typeface="Atkinson Hyperlegible Bold"/>
                  <a:sym typeface="Atkinson Hyperlegible Bold"/>
                </a:rPr>
                <a:t>NOVELTY / USE CASE</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0" name="TextBox 39">
            <a:extLst>
              <a:ext uri="{FF2B5EF4-FFF2-40B4-BE49-F238E27FC236}">
                <a16:creationId xmlns:a16="http://schemas.microsoft.com/office/drawing/2014/main" id="{6BDCD848-FA40-9C37-D551-EF84293A496C}"/>
              </a:ext>
            </a:extLst>
          </p:cNvPr>
          <p:cNvSpPr txBox="1"/>
          <p:nvPr/>
        </p:nvSpPr>
        <p:spPr>
          <a:xfrm>
            <a:off x="347121" y="1959168"/>
            <a:ext cx="16942608" cy="4524315"/>
          </a:xfrm>
          <a:prstGeom prst="rect">
            <a:avLst/>
          </a:prstGeom>
          <a:noFill/>
        </p:spPr>
        <p:txBody>
          <a:bodyPr wrap="square" rtlCol="0">
            <a:spAutoFit/>
          </a:bodyPr>
          <a:lstStyle/>
          <a:p>
            <a:r>
              <a:rPr lang="en-US" sz="3200" dirty="0">
                <a:solidFill>
                  <a:schemeClr val="bg1"/>
                </a:solidFill>
              </a:rPr>
              <a:t>• </a:t>
            </a:r>
            <a:r>
              <a:rPr lang="en-US" sz="3200" b="1" dirty="0">
                <a:solidFill>
                  <a:schemeClr val="bg1"/>
                </a:solidFill>
              </a:rPr>
              <a:t>Transforms social media scrolling into structured skill learning</a:t>
            </a:r>
            <a:r>
              <a:rPr lang="en-US" sz="3200" dirty="0">
                <a:solidFill>
                  <a:schemeClr val="bg1"/>
                </a:solidFill>
              </a:rPr>
              <a:t> through reel-based micro-courses.</a:t>
            </a:r>
            <a:br>
              <a:rPr lang="en-US" sz="3200" dirty="0">
                <a:solidFill>
                  <a:schemeClr val="bg1"/>
                </a:solidFill>
              </a:rPr>
            </a:br>
            <a:r>
              <a:rPr lang="en-US" sz="3200" dirty="0">
                <a:solidFill>
                  <a:schemeClr val="bg1"/>
                </a:solidFill>
              </a:rPr>
              <a:t>• </a:t>
            </a:r>
            <a:r>
              <a:rPr lang="en-US" sz="3200" b="1" dirty="0">
                <a:solidFill>
                  <a:schemeClr val="bg1"/>
                </a:solidFill>
              </a:rPr>
              <a:t>Learning &amp;Practice in one platform</a:t>
            </a:r>
            <a:r>
              <a:rPr lang="en-US" sz="3200" dirty="0">
                <a:solidFill>
                  <a:schemeClr val="bg1"/>
                </a:solidFill>
              </a:rPr>
              <a:t> combines education, communication training, and interview preparation.</a:t>
            </a:r>
            <a:br>
              <a:rPr lang="en-US" sz="3200" dirty="0">
                <a:solidFill>
                  <a:schemeClr val="bg1"/>
                </a:solidFill>
              </a:rPr>
            </a:br>
            <a:r>
              <a:rPr lang="en-US" sz="3200" dirty="0">
                <a:solidFill>
                  <a:schemeClr val="bg1"/>
                </a:solidFill>
              </a:rPr>
              <a:t>• </a:t>
            </a:r>
            <a:r>
              <a:rPr lang="en-US" sz="3200" b="1" dirty="0">
                <a:solidFill>
                  <a:schemeClr val="bg1"/>
                </a:solidFill>
              </a:rPr>
              <a:t>Spectate Mode for GDs</a:t>
            </a:r>
            <a:r>
              <a:rPr lang="en-US" sz="3200" dirty="0">
                <a:solidFill>
                  <a:schemeClr val="bg1"/>
                </a:solidFill>
              </a:rPr>
              <a:t> allowing beginners to observe real discussions and learn before participating.</a:t>
            </a:r>
            <a:br>
              <a:rPr lang="en-US" sz="3200" dirty="0">
                <a:solidFill>
                  <a:schemeClr val="bg1"/>
                </a:solidFill>
              </a:rPr>
            </a:br>
            <a:r>
              <a:rPr lang="en-US" sz="3200" dirty="0">
                <a:solidFill>
                  <a:schemeClr val="bg1"/>
                </a:solidFill>
              </a:rPr>
              <a:t>• </a:t>
            </a:r>
            <a:r>
              <a:rPr lang="en-US" sz="3200" b="1" dirty="0">
                <a:solidFill>
                  <a:schemeClr val="bg1"/>
                </a:solidFill>
              </a:rPr>
              <a:t>AI-powered mock interviews with voice interaction</a:t>
            </a:r>
            <a:r>
              <a:rPr lang="en-US" sz="3200" dirty="0">
                <a:solidFill>
                  <a:schemeClr val="bg1"/>
                </a:solidFill>
              </a:rPr>
              <a:t> that simulate real interview environments and give instant feedback.</a:t>
            </a:r>
            <a:br>
              <a:rPr lang="en-US" sz="3200" dirty="0">
                <a:solidFill>
                  <a:schemeClr val="bg1"/>
                </a:solidFill>
              </a:rPr>
            </a:br>
            <a:r>
              <a:rPr lang="en-US" sz="3200" dirty="0">
                <a:solidFill>
                  <a:schemeClr val="bg1"/>
                </a:solidFill>
              </a:rPr>
              <a:t>• </a:t>
            </a:r>
            <a:r>
              <a:rPr lang="en-US" sz="3200" b="1" dirty="0">
                <a:solidFill>
                  <a:schemeClr val="bg1"/>
                </a:solidFill>
              </a:rPr>
              <a:t>Gamified skill progression</a:t>
            </a:r>
            <a:r>
              <a:rPr lang="en-US" sz="3200" dirty="0">
                <a:solidFill>
                  <a:schemeClr val="bg1"/>
                </a:solidFill>
              </a:rPr>
              <a:t> using quizzes, streaks, leaderboards, and certifications to keep learners consistently engaged.</a:t>
            </a:r>
            <a:endParaRPr lang="en-IN" sz="32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4964909" y="9845112"/>
            <a:ext cx="2734944" cy="231775"/>
            <a:chOff x="0" y="0"/>
            <a:chExt cx="3646592" cy="309033"/>
          </a:xfrm>
        </p:grpSpPr>
        <p:sp>
          <p:nvSpPr>
            <p:cNvPr id="37" name="Freeform 37"/>
            <p:cNvSpPr/>
            <p:nvPr/>
          </p:nvSpPr>
          <p:spPr>
            <a:xfrm>
              <a:off x="0" y="0"/>
              <a:ext cx="3646592" cy="309033"/>
            </a:xfrm>
            <a:custGeom>
              <a:avLst/>
              <a:gdLst/>
              <a:ahLst/>
              <a:cxnLst/>
              <a:rect l="l" t="t" r="r" b="b"/>
              <a:pathLst>
                <a:path w="3646592" h="309033">
                  <a:moveTo>
                    <a:pt x="0" y="0"/>
                  </a:moveTo>
                  <a:lnTo>
                    <a:pt x="3646592" y="0"/>
                  </a:lnTo>
                  <a:lnTo>
                    <a:pt x="3646592" y="309033"/>
                  </a:lnTo>
                  <a:lnTo>
                    <a:pt x="0" y="309033"/>
                  </a:lnTo>
                  <a:close/>
                </a:path>
              </a:pathLst>
            </a:custGeom>
          </p:spPr>
        </p:sp>
        <p:sp>
          <p:nvSpPr>
            <p:cNvPr id="38" name="TextBox 38"/>
            <p:cNvSpPr txBox="1"/>
            <p:nvPr/>
          </p:nvSpPr>
          <p:spPr>
            <a:xfrm>
              <a:off x="0" y="0"/>
              <a:ext cx="3646592" cy="309033"/>
            </a:xfrm>
            <a:prstGeom prst="rect">
              <a:avLst/>
            </a:prstGeom>
          </p:spPr>
          <p:txBody>
            <a:bodyPr lIns="0" tIns="0" rIns="0" bIns="0" rtlCol="0" anchor="t"/>
            <a:lstStyle/>
            <a:p>
              <a:pPr algn="l">
                <a:lnSpc>
                  <a:spcPts val="960"/>
                </a:lnSpc>
              </a:pPr>
              <a:r>
                <a:rPr lang="en-US" sz="800" spc="80">
                  <a:solidFill>
                    <a:srgbClr val="FFFFFF"/>
                  </a:solidFill>
                  <a:latin typeface="Verdana Pro"/>
                  <a:ea typeface="Verdana Pro"/>
                  <a:cs typeface="Verdana Pro"/>
                  <a:sym typeface="Verdana Pro"/>
                </a:rPr>
                <a:t>D E S I G N  .  D E V E L O P  .  D E P L O Y</a:t>
              </a:r>
            </a:p>
          </p:txBody>
        </p:sp>
      </p:grpSp>
      <p:grpSp>
        <p:nvGrpSpPr>
          <p:cNvPr id="39" name="Group 39"/>
          <p:cNvGrpSpPr/>
          <p:nvPr/>
        </p:nvGrpSpPr>
        <p:grpSpPr>
          <a:xfrm>
            <a:off x="1016000" y="276291"/>
            <a:ext cx="13395683" cy="926973"/>
            <a:chOff x="0" y="0"/>
            <a:chExt cx="17860910" cy="1235964"/>
          </a:xfrm>
        </p:grpSpPr>
        <p:sp>
          <p:nvSpPr>
            <p:cNvPr id="40" name="Freeform 40"/>
            <p:cNvSpPr/>
            <p:nvPr/>
          </p:nvSpPr>
          <p:spPr>
            <a:xfrm>
              <a:off x="0" y="0"/>
              <a:ext cx="17860911" cy="1235964"/>
            </a:xfrm>
            <a:custGeom>
              <a:avLst/>
              <a:gdLst/>
              <a:ahLst/>
              <a:cxnLst/>
              <a:rect l="l" t="t" r="r" b="b"/>
              <a:pathLst>
                <a:path w="17860911" h="1235964">
                  <a:moveTo>
                    <a:pt x="0" y="0"/>
                  </a:moveTo>
                  <a:lnTo>
                    <a:pt x="17860911" y="0"/>
                  </a:lnTo>
                  <a:lnTo>
                    <a:pt x="17860911" y="1235964"/>
                  </a:lnTo>
                  <a:lnTo>
                    <a:pt x="0" y="1235964"/>
                  </a:lnTo>
                  <a:close/>
                </a:path>
              </a:pathLst>
            </a:custGeom>
          </p:spPr>
        </p:sp>
        <p:sp>
          <p:nvSpPr>
            <p:cNvPr id="41" name="TextBox 41"/>
            <p:cNvSpPr txBox="1"/>
            <p:nvPr/>
          </p:nvSpPr>
          <p:spPr>
            <a:xfrm>
              <a:off x="0" y="-9525"/>
              <a:ext cx="17860910" cy="1245489"/>
            </a:xfrm>
            <a:prstGeom prst="rect">
              <a:avLst/>
            </a:prstGeom>
          </p:spPr>
          <p:txBody>
            <a:bodyPr lIns="0" tIns="0" rIns="0" bIns="0" rtlCol="0" anchor="t"/>
            <a:lstStyle/>
            <a:p>
              <a:pPr algn="l">
                <a:lnSpc>
                  <a:spcPts val="6120"/>
                </a:lnSpc>
              </a:pPr>
              <a:r>
                <a:rPr lang="en-US" sz="5100" b="1" spc="315" dirty="0">
                  <a:solidFill>
                    <a:srgbClr val="FFFFFF"/>
                  </a:solidFill>
                  <a:latin typeface="Atkinson Hyperlegible Bold"/>
                  <a:ea typeface="Atkinson Hyperlegible Bold"/>
                  <a:cs typeface="Atkinson Hyperlegible Bold"/>
                  <a:sym typeface="Atkinson Hyperlegible Bold"/>
                </a:rPr>
                <a:t>BUSINESS MODEL / TARGET MARKET</a:t>
              </a:r>
            </a:p>
          </p:txBody>
        </p:sp>
      </p:grpSp>
      <p:sp>
        <p:nvSpPr>
          <p:cNvPr id="42" name="Freeform 42"/>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3" name="TextBox 42">
            <a:extLst>
              <a:ext uri="{FF2B5EF4-FFF2-40B4-BE49-F238E27FC236}">
                <a16:creationId xmlns:a16="http://schemas.microsoft.com/office/drawing/2014/main" id="{92DA3C94-3CD9-CF7D-5943-14679DEA55C9}"/>
              </a:ext>
            </a:extLst>
          </p:cNvPr>
          <p:cNvSpPr txBox="1"/>
          <p:nvPr/>
        </p:nvSpPr>
        <p:spPr>
          <a:xfrm>
            <a:off x="854245" y="1407783"/>
            <a:ext cx="15410969" cy="5816977"/>
          </a:xfrm>
          <a:prstGeom prst="rect">
            <a:avLst/>
          </a:prstGeom>
          <a:noFill/>
        </p:spPr>
        <p:txBody>
          <a:bodyPr wrap="square" rtlCol="0">
            <a:spAutoFit/>
          </a:bodyPr>
          <a:lstStyle/>
          <a:p>
            <a:r>
              <a:rPr lang="en-US" sz="3200" b="1" dirty="0">
                <a:solidFill>
                  <a:schemeClr val="bg1"/>
                </a:solidFill>
              </a:rPr>
              <a:t>Business Model:</a:t>
            </a:r>
            <a:br>
              <a:rPr lang="en-US" sz="3200" dirty="0">
                <a:solidFill>
                  <a:schemeClr val="bg1"/>
                </a:solidFill>
              </a:rPr>
            </a:br>
            <a:r>
              <a:rPr lang="en-US" sz="2800" dirty="0" err="1">
                <a:solidFill>
                  <a:schemeClr val="bg1"/>
                </a:solidFill>
              </a:rPr>
              <a:t>EdScroll</a:t>
            </a:r>
            <a:r>
              <a:rPr lang="en-US" sz="2800" dirty="0">
                <a:solidFill>
                  <a:schemeClr val="bg1"/>
                </a:solidFill>
              </a:rPr>
              <a:t> follows a freemium model where users can access basic courses and learning features for free, while advanced features such as premium courses, AI-powered mock interviews, and verified certificates are offered through paid subscriptions. The platform can also generate revenue through partnerships with educational institutions, corporate training programs, and recruitment platforms that use </a:t>
            </a:r>
            <a:r>
              <a:rPr lang="en-US" sz="2800" dirty="0" err="1">
                <a:solidFill>
                  <a:schemeClr val="bg1"/>
                </a:solidFill>
              </a:rPr>
              <a:t>EdScroll</a:t>
            </a:r>
            <a:r>
              <a:rPr lang="en-US" sz="2800" dirty="0">
                <a:solidFill>
                  <a:schemeClr val="bg1"/>
                </a:solidFill>
              </a:rPr>
              <a:t> to identify skilled candidates.</a:t>
            </a:r>
            <a:br>
              <a:rPr lang="en-US" sz="2800" dirty="0">
                <a:solidFill>
                  <a:schemeClr val="bg1"/>
                </a:solidFill>
              </a:rPr>
            </a:br>
            <a:endParaRPr lang="en-US" sz="2800" dirty="0">
              <a:solidFill>
                <a:schemeClr val="bg1"/>
              </a:solidFill>
            </a:endParaRPr>
          </a:p>
          <a:p>
            <a:br>
              <a:rPr lang="en-US" sz="2800" dirty="0">
                <a:solidFill>
                  <a:schemeClr val="bg1"/>
                </a:solidFill>
              </a:rPr>
            </a:br>
            <a:r>
              <a:rPr lang="en-US" sz="3200" b="1" dirty="0">
                <a:solidFill>
                  <a:schemeClr val="bg1"/>
                </a:solidFill>
              </a:rPr>
              <a:t>Target Market:</a:t>
            </a:r>
            <a:br>
              <a:rPr lang="en-US" sz="2800" dirty="0">
                <a:solidFill>
                  <a:schemeClr val="bg1"/>
                </a:solidFill>
              </a:rPr>
            </a:br>
            <a:r>
              <a:rPr lang="en-US" sz="2800" dirty="0" err="1">
                <a:solidFill>
                  <a:schemeClr val="bg1"/>
                </a:solidFill>
              </a:rPr>
              <a:t>EdScroll</a:t>
            </a:r>
            <a:r>
              <a:rPr lang="en-US" sz="2800" dirty="0">
                <a:solidFill>
                  <a:schemeClr val="bg1"/>
                </a:solidFill>
              </a:rPr>
              <a:t> primarily targets college students, job seekers, and young professionals who want to improve their skills in an engaging and modern way. It is also useful for educational institutions that want to provide practical learning tools for their students, as well as organizations looking for better ways to train and evaluate potential candidates.</a:t>
            </a:r>
            <a:endParaRPr lang="en-IN" sz="28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896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2192139" y="2270630"/>
            <a:ext cx="650240" cy="278130"/>
            <a:chOff x="0" y="0"/>
            <a:chExt cx="866987" cy="370840"/>
          </a:xfrm>
        </p:grpSpPr>
        <p:sp>
          <p:nvSpPr>
            <p:cNvPr id="37" name="Freeform 37"/>
            <p:cNvSpPr/>
            <p:nvPr/>
          </p:nvSpPr>
          <p:spPr>
            <a:xfrm>
              <a:off x="0" y="0"/>
              <a:ext cx="866987" cy="370840"/>
            </a:xfrm>
            <a:custGeom>
              <a:avLst/>
              <a:gdLst/>
              <a:ahLst/>
              <a:cxnLst/>
              <a:rect l="l" t="t" r="r" b="b"/>
              <a:pathLst>
                <a:path w="866987" h="370840">
                  <a:moveTo>
                    <a:pt x="0" y="0"/>
                  </a:moveTo>
                  <a:lnTo>
                    <a:pt x="866987" y="0"/>
                  </a:lnTo>
                  <a:lnTo>
                    <a:pt x="866987" y="370840"/>
                  </a:lnTo>
                  <a:lnTo>
                    <a:pt x="0" y="370840"/>
                  </a:lnTo>
                  <a:close/>
                </a:path>
              </a:pathLst>
            </a:custGeom>
          </p:spPr>
        </p:sp>
        <p:sp>
          <p:nvSpPr>
            <p:cNvPr id="38" name="TextBox 38"/>
            <p:cNvSpPr txBox="1"/>
            <p:nvPr/>
          </p:nvSpPr>
          <p:spPr>
            <a:xfrm>
              <a:off x="0" y="9525"/>
              <a:ext cx="866987" cy="361315"/>
            </a:xfrm>
            <a:prstGeom prst="rect">
              <a:avLst/>
            </a:prstGeom>
          </p:spPr>
          <p:txBody>
            <a:bodyPr lIns="0" tIns="0" rIns="0" bIns="0" rtlCol="0" anchor="t"/>
            <a:lstStyle/>
            <a:p>
              <a:pPr algn="l">
                <a:lnSpc>
                  <a:spcPts val="2095"/>
                </a:lnSpc>
              </a:pPr>
              <a:r>
                <a:rPr lang="en-US" sz="1800" b="1" spc="40">
                  <a:solidFill>
                    <a:srgbClr val="000000"/>
                  </a:solidFill>
                  <a:latin typeface="Tahoma Bold"/>
                  <a:ea typeface="Tahoma Bold"/>
                  <a:cs typeface="Tahoma Bold"/>
                  <a:sym typeface="Tahoma Bold"/>
                </a:rPr>
                <a:t>ROLE</a:t>
              </a:r>
            </a:p>
          </p:txBody>
        </p:sp>
      </p:grpSp>
      <p:grpSp>
        <p:nvGrpSpPr>
          <p:cNvPr id="39" name="Group 39"/>
          <p:cNvGrpSpPr/>
          <p:nvPr/>
        </p:nvGrpSpPr>
        <p:grpSpPr>
          <a:xfrm>
            <a:off x="5647030" y="2270630"/>
            <a:ext cx="728980" cy="278130"/>
            <a:chOff x="0" y="0"/>
            <a:chExt cx="971973" cy="370840"/>
          </a:xfrm>
        </p:grpSpPr>
        <p:sp>
          <p:nvSpPr>
            <p:cNvPr id="40" name="Freeform 40"/>
            <p:cNvSpPr/>
            <p:nvPr/>
          </p:nvSpPr>
          <p:spPr>
            <a:xfrm>
              <a:off x="0" y="0"/>
              <a:ext cx="971973" cy="370840"/>
            </a:xfrm>
            <a:custGeom>
              <a:avLst/>
              <a:gdLst/>
              <a:ahLst/>
              <a:cxnLst/>
              <a:rect l="l" t="t" r="r" b="b"/>
              <a:pathLst>
                <a:path w="971973" h="370840">
                  <a:moveTo>
                    <a:pt x="0" y="0"/>
                  </a:moveTo>
                  <a:lnTo>
                    <a:pt x="971973" y="0"/>
                  </a:lnTo>
                  <a:lnTo>
                    <a:pt x="971973" y="370840"/>
                  </a:lnTo>
                  <a:lnTo>
                    <a:pt x="0" y="370840"/>
                  </a:lnTo>
                  <a:close/>
                </a:path>
              </a:pathLst>
            </a:custGeom>
          </p:spPr>
        </p:sp>
        <p:sp>
          <p:nvSpPr>
            <p:cNvPr id="41" name="TextBox 41"/>
            <p:cNvSpPr txBox="1"/>
            <p:nvPr/>
          </p:nvSpPr>
          <p:spPr>
            <a:xfrm>
              <a:off x="0" y="9525"/>
              <a:ext cx="971973" cy="361315"/>
            </a:xfrm>
            <a:prstGeom prst="rect">
              <a:avLst/>
            </a:prstGeom>
          </p:spPr>
          <p:txBody>
            <a:bodyPr lIns="0" tIns="0" rIns="0" bIns="0" rtlCol="0" anchor="t"/>
            <a:lstStyle/>
            <a:p>
              <a:pPr algn="l">
                <a:lnSpc>
                  <a:spcPts val="2095"/>
                </a:lnSpc>
              </a:pPr>
              <a:r>
                <a:rPr lang="en-US" sz="1800" b="1" spc="69">
                  <a:solidFill>
                    <a:srgbClr val="000000"/>
                  </a:solidFill>
                  <a:latin typeface="Tahoma Bold"/>
                  <a:ea typeface="Tahoma Bold"/>
                  <a:cs typeface="Tahoma Bold"/>
                  <a:sym typeface="Tahoma Bold"/>
                </a:rPr>
                <a:t>NAME</a:t>
              </a:r>
            </a:p>
          </p:txBody>
        </p:sp>
      </p:grpSp>
      <p:grpSp>
        <p:nvGrpSpPr>
          <p:cNvPr id="42" name="Group 42"/>
          <p:cNvGrpSpPr/>
          <p:nvPr/>
        </p:nvGrpSpPr>
        <p:grpSpPr>
          <a:xfrm>
            <a:off x="8702472" y="2270630"/>
            <a:ext cx="1736089" cy="278130"/>
            <a:chOff x="0" y="0"/>
            <a:chExt cx="2314785" cy="370840"/>
          </a:xfrm>
        </p:grpSpPr>
        <p:sp>
          <p:nvSpPr>
            <p:cNvPr id="43" name="Freeform 43"/>
            <p:cNvSpPr/>
            <p:nvPr/>
          </p:nvSpPr>
          <p:spPr>
            <a:xfrm>
              <a:off x="0" y="0"/>
              <a:ext cx="2314785" cy="370840"/>
            </a:xfrm>
            <a:custGeom>
              <a:avLst/>
              <a:gdLst/>
              <a:ahLst/>
              <a:cxnLst/>
              <a:rect l="l" t="t" r="r" b="b"/>
              <a:pathLst>
                <a:path w="2314785" h="370840">
                  <a:moveTo>
                    <a:pt x="0" y="0"/>
                  </a:moveTo>
                  <a:lnTo>
                    <a:pt x="2314785" y="0"/>
                  </a:lnTo>
                  <a:lnTo>
                    <a:pt x="2314785" y="370840"/>
                  </a:lnTo>
                  <a:lnTo>
                    <a:pt x="0" y="370840"/>
                  </a:lnTo>
                  <a:close/>
                </a:path>
              </a:pathLst>
            </a:custGeom>
          </p:spPr>
        </p:sp>
        <p:sp>
          <p:nvSpPr>
            <p:cNvPr id="44" name="TextBox 44"/>
            <p:cNvSpPr txBox="1"/>
            <p:nvPr/>
          </p:nvSpPr>
          <p:spPr>
            <a:xfrm>
              <a:off x="0" y="9525"/>
              <a:ext cx="2314785" cy="361315"/>
            </a:xfrm>
            <a:prstGeom prst="rect">
              <a:avLst/>
            </a:prstGeom>
          </p:spPr>
          <p:txBody>
            <a:bodyPr lIns="0" tIns="0" rIns="0" bIns="0" rtlCol="0" anchor="t"/>
            <a:lstStyle/>
            <a:p>
              <a:pPr algn="l">
                <a:lnSpc>
                  <a:spcPts val="2095"/>
                </a:lnSpc>
              </a:pPr>
              <a:r>
                <a:rPr lang="en-US" sz="1800" b="1" spc="-10">
                  <a:solidFill>
                    <a:srgbClr val="000000"/>
                  </a:solidFill>
                  <a:latin typeface="Tahoma Bold"/>
                  <a:ea typeface="Tahoma Bold"/>
                  <a:cs typeface="Tahoma Bold"/>
                  <a:sym typeface="Tahoma Bold"/>
                </a:rPr>
                <a:t>STREAM/DEPT</a:t>
              </a:r>
            </a:p>
          </p:txBody>
        </p:sp>
      </p:grpSp>
      <p:grpSp>
        <p:nvGrpSpPr>
          <p:cNvPr id="45" name="Group 45"/>
          <p:cNvGrpSpPr/>
          <p:nvPr/>
        </p:nvGrpSpPr>
        <p:grpSpPr>
          <a:xfrm>
            <a:off x="12025685" y="2270630"/>
            <a:ext cx="648970" cy="278130"/>
            <a:chOff x="0" y="0"/>
            <a:chExt cx="865293" cy="370840"/>
          </a:xfrm>
        </p:grpSpPr>
        <p:sp>
          <p:nvSpPr>
            <p:cNvPr id="46" name="Freeform 46"/>
            <p:cNvSpPr/>
            <p:nvPr/>
          </p:nvSpPr>
          <p:spPr>
            <a:xfrm>
              <a:off x="0" y="0"/>
              <a:ext cx="865293" cy="370840"/>
            </a:xfrm>
            <a:custGeom>
              <a:avLst/>
              <a:gdLst/>
              <a:ahLst/>
              <a:cxnLst/>
              <a:rect l="l" t="t" r="r" b="b"/>
              <a:pathLst>
                <a:path w="865293" h="370840">
                  <a:moveTo>
                    <a:pt x="0" y="0"/>
                  </a:moveTo>
                  <a:lnTo>
                    <a:pt x="865293" y="0"/>
                  </a:lnTo>
                  <a:lnTo>
                    <a:pt x="865293" y="370840"/>
                  </a:lnTo>
                  <a:lnTo>
                    <a:pt x="0" y="370840"/>
                  </a:lnTo>
                  <a:close/>
                </a:path>
              </a:pathLst>
            </a:custGeom>
          </p:spPr>
        </p:sp>
        <p:sp>
          <p:nvSpPr>
            <p:cNvPr id="47" name="TextBox 47"/>
            <p:cNvSpPr txBox="1"/>
            <p:nvPr/>
          </p:nvSpPr>
          <p:spPr>
            <a:xfrm>
              <a:off x="0" y="9525"/>
              <a:ext cx="865293" cy="361315"/>
            </a:xfrm>
            <a:prstGeom prst="rect">
              <a:avLst/>
            </a:prstGeom>
          </p:spPr>
          <p:txBody>
            <a:bodyPr lIns="0" tIns="0" rIns="0" bIns="0" rtlCol="0" anchor="t"/>
            <a:lstStyle/>
            <a:p>
              <a:pPr algn="l">
                <a:lnSpc>
                  <a:spcPts val="2095"/>
                </a:lnSpc>
              </a:pPr>
              <a:r>
                <a:rPr lang="en-US" sz="1800" b="1" spc="-20">
                  <a:solidFill>
                    <a:srgbClr val="000000"/>
                  </a:solidFill>
                  <a:latin typeface="Tahoma Bold"/>
                  <a:ea typeface="Tahoma Bold"/>
                  <a:cs typeface="Tahoma Bold"/>
                  <a:sym typeface="Tahoma Bold"/>
                </a:rPr>
                <a:t>YEAR</a:t>
              </a:r>
            </a:p>
          </p:txBody>
        </p:sp>
      </p:grpSp>
      <p:grpSp>
        <p:nvGrpSpPr>
          <p:cNvPr id="48" name="Group 48"/>
          <p:cNvGrpSpPr/>
          <p:nvPr/>
        </p:nvGrpSpPr>
        <p:grpSpPr>
          <a:xfrm>
            <a:off x="14860261" y="2270630"/>
            <a:ext cx="1115695" cy="278130"/>
            <a:chOff x="0" y="0"/>
            <a:chExt cx="1487593" cy="370840"/>
          </a:xfrm>
        </p:grpSpPr>
        <p:sp>
          <p:nvSpPr>
            <p:cNvPr id="49" name="Freeform 49"/>
            <p:cNvSpPr/>
            <p:nvPr/>
          </p:nvSpPr>
          <p:spPr>
            <a:xfrm>
              <a:off x="0" y="0"/>
              <a:ext cx="1487593" cy="370840"/>
            </a:xfrm>
            <a:custGeom>
              <a:avLst/>
              <a:gdLst/>
              <a:ahLst/>
              <a:cxnLst/>
              <a:rect l="l" t="t" r="r" b="b"/>
              <a:pathLst>
                <a:path w="1487593" h="370840">
                  <a:moveTo>
                    <a:pt x="0" y="0"/>
                  </a:moveTo>
                  <a:lnTo>
                    <a:pt x="1487593" y="0"/>
                  </a:lnTo>
                  <a:lnTo>
                    <a:pt x="1487593" y="370840"/>
                  </a:lnTo>
                  <a:lnTo>
                    <a:pt x="0" y="370840"/>
                  </a:lnTo>
                  <a:close/>
                </a:path>
              </a:pathLst>
            </a:custGeom>
          </p:spPr>
        </p:sp>
        <p:sp>
          <p:nvSpPr>
            <p:cNvPr id="50" name="TextBox 50"/>
            <p:cNvSpPr txBox="1"/>
            <p:nvPr/>
          </p:nvSpPr>
          <p:spPr>
            <a:xfrm>
              <a:off x="0" y="9525"/>
              <a:ext cx="1487593" cy="361315"/>
            </a:xfrm>
            <a:prstGeom prst="rect">
              <a:avLst/>
            </a:prstGeom>
          </p:spPr>
          <p:txBody>
            <a:bodyPr lIns="0" tIns="0" rIns="0" bIns="0" rtlCol="0" anchor="t"/>
            <a:lstStyle/>
            <a:p>
              <a:pPr algn="l">
                <a:lnSpc>
                  <a:spcPts val="2095"/>
                </a:lnSpc>
              </a:pPr>
              <a:r>
                <a:rPr lang="en-US" sz="1800" b="1" spc="60">
                  <a:solidFill>
                    <a:srgbClr val="000000"/>
                  </a:solidFill>
                  <a:latin typeface="Tahoma Bold"/>
                  <a:ea typeface="Tahoma Bold"/>
                  <a:cs typeface="Tahoma Bold"/>
                  <a:sym typeface="Tahoma Bold"/>
                </a:rPr>
                <a:t>COLLEGE</a:t>
              </a:r>
            </a:p>
          </p:txBody>
        </p:sp>
      </p:grpSp>
      <p:grpSp>
        <p:nvGrpSpPr>
          <p:cNvPr id="52" name="Group 52"/>
          <p:cNvGrpSpPr/>
          <p:nvPr/>
        </p:nvGrpSpPr>
        <p:grpSpPr>
          <a:xfrm>
            <a:off x="1016000" y="276291"/>
            <a:ext cx="11351260" cy="926973"/>
            <a:chOff x="0" y="0"/>
            <a:chExt cx="15135013" cy="1235964"/>
          </a:xfrm>
        </p:grpSpPr>
        <p:sp>
          <p:nvSpPr>
            <p:cNvPr id="53" name="Freeform 53"/>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54" name="TextBox 54"/>
            <p:cNvSpPr txBox="1"/>
            <p:nvPr/>
          </p:nvSpPr>
          <p:spPr>
            <a:xfrm>
              <a:off x="0" y="-9525"/>
              <a:ext cx="15135013" cy="1245489"/>
            </a:xfrm>
            <a:prstGeom prst="rect">
              <a:avLst/>
            </a:prstGeom>
          </p:spPr>
          <p:txBody>
            <a:bodyPr lIns="0" tIns="0" rIns="0" bIns="0" rtlCol="0" anchor="t"/>
            <a:lstStyle/>
            <a:p>
              <a:pPr algn="l">
                <a:lnSpc>
                  <a:spcPts val="6120"/>
                </a:lnSpc>
              </a:pPr>
              <a:r>
                <a:rPr lang="en-US" sz="5100" b="1" spc="305">
                  <a:solidFill>
                    <a:srgbClr val="FFFFFF"/>
                  </a:solidFill>
                  <a:latin typeface="Atkinson Hyperlegible Bold"/>
                  <a:ea typeface="Atkinson Hyperlegible Bold"/>
                  <a:cs typeface="Atkinson Hyperlegible Bold"/>
                  <a:sym typeface="Atkinson Hyperlegible Bold"/>
                </a:rPr>
                <a:t>TEAM DETAILS</a:t>
              </a:r>
            </a:p>
          </p:txBody>
        </p:sp>
      </p:grpSp>
      <p:sp>
        <p:nvSpPr>
          <p:cNvPr id="55" name="Freeform 55"/>
          <p:cNvSpPr/>
          <p:nvPr/>
        </p:nvSpPr>
        <p:spPr>
          <a:xfrm>
            <a:off x="13778250" y="8698621"/>
            <a:ext cx="4509748" cy="1588378"/>
          </a:xfrm>
          <a:custGeom>
            <a:avLst/>
            <a:gdLst/>
            <a:ahLst/>
            <a:cxnLst/>
            <a:rect l="l" t="t" r="r" b="b"/>
            <a:pathLst>
              <a:path w="4509748" h="1588378">
                <a:moveTo>
                  <a:pt x="0" y="0"/>
                </a:moveTo>
                <a:lnTo>
                  <a:pt x="4509748" y="0"/>
                </a:lnTo>
                <a:lnTo>
                  <a:pt x="4509748" y="1588378"/>
                </a:lnTo>
                <a:lnTo>
                  <a:pt x="0" y="1588378"/>
                </a:lnTo>
                <a:lnTo>
                  <a:pt x="0" y="0"/>
                </a:lnTo>
                <a:close/>
              </a:path>
            </a:pathLst>
          </a:custGeom>
          <a:blipFill>
            <a:blip r:embed="rId21"/>
            <a:stretch>
              <a:fillRect/>
            </a:stretch>
          </a:blipFill>
        </p:spPr>
      </p:sp>
      <p:pic>
        <p:nvPicPr>
          <p:cNvPr id="61" name="Picture 60">
            <a:extLst>
              <a:ext uri="{FF2B5EF4-FFF2-40B4-BE49-F238E27FC236}">
                <a16:creationId xmlns:a16="http://schemas.microsoft.com/office/drawing/2014/main" id="{0D985260-7CD4-731F-3A93-102C0D070825}"/>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150811" y="2046484"/>
            <a:ext cx="15103315" cy="64668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648</Words>
  <Application>Microsoft Office PowerPoint</Application>
  <PresentationFormat>Custom</PresentationFormat>
  <Paragraphs>27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Tahoma Bold</vt:lpstr>
      <vt:lpstr>Atkinson Hyperlegible Bold</vt:lpstr>
      <vt:lpstr>Verdana Pro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abstract-format (2).pptx</dc:title>
  <dc:creator>Perrarish Ramesh</dc:creator>
  <cp:lastModifiedBy>Perrarish Ramesh</cp:lastModifiedBy>
  <cp:revision>4</cp:revision>
  <dcterms:created xsi:type="dcterms:W3CDTF">2006-08-16T00:00:00Z</dcterms:created>
  <dcterms:modified xsi:type="dcterms:W3CDTF">2026-03-09T16:10:00Z</dcterms:modified>
  <dc:identifier>DAGlbhOGe8w</dc:identifier>
</cp:coreProperties>
</file>