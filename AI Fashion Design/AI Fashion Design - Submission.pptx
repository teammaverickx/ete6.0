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media/image16.svg" ContentType="image/svg+xml"/>
  <Override PartName="/ppt/media/image2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</p:sldIdLst>
  <p:sldSz cx="18288000" cy="10287000"/>
  <p:notesSz cx="6858000" cy="9144000"/>
  <p:embeddedFontLst>
    <p:embeddedFont>
      <p:font typeface="Atkinson Hyperlegible"/>
      <p:regular r:id="rId15"/>
    </p:embeddedFont>
    <p:embeddedFont>
      <p:font typeface="Tahoma Bold" panose="020B0804030504040204"/>
      <p:bold r:id="rId16"/>
    </p:embeddedFont>
    <p:embeddedFont>
      <p:font typeface="Atkinson Hyperlegible Bold"/>
      <p:bold r:id="rId17"/>
    </p:embeddedFont>
    <p:embeddedFont>
      <p:font typeface="Verdana Pro" panose="020B0604030504040204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26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5.pn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6.pn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7.pn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8.pn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9.jpe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1.jpeg"/><Relationship Id="rId21" Type="http://schemas.openxmlformats.org/officeDocument/2006/relationships/image" Target="../media/image30.jpe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33.svg"/><Relationship Id="rId6" Type="http://schemas.openxmlformats.org/officeDocument/2006/relationships/image" Target="../media/image32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38.png"/><Relationship Id="rId20" Type="http://schemas.openxmlformats.org/officeDocument/2006/relationships/image" Target="../media/image23.png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37.svg"/><Relationship Id="rId16" Type="http://schemas.openxmlformats.org/officeDocument/2006/relationships/image" Target="../media/image36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35.svg"/><Relationship Id="rId10" Type="http://schemas.openxmlformats.org/officeDocument/2006/relationships/image" Target="../media/image3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3.png"/><Relationship Id="rId20" Type="http://schemas.openxmlformats.org/officeDocument/2006/relationships/tags" Target="../tags/tag1.xml"/><Relationship Id="rId2" Type="http://schemas.openxmlformats.org/officeDocument/2006/relationships/image" Target="../media/image24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svg"/><Relationship Id="rId10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2" r="-662"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79" b="-679"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80" b="-78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8" b="-168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8" r="-138"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90" r="-290"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59" b="-359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2220" r="-2220"/>
            </a:stretch>
          </a:blipFill>
        </p:spPr>
      </p:sp>
      <p:grpSp>
        <p:nvGrpSpPr>
          <p:cNvPr id="28" name="Group 28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29" name="Freeform 29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1" name="Freeform 31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594" b="-594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03593" y="410850"/>
            <a:ext cx="3181349" cy="1238249"/>
          </a:xfrm>
          <a:custGeom>
            <a:avLst/>
            <a:gdLst/>
            <a:ahLst/>
            <a:cxnLst/>
            <a:rect l="l" t="t" r="r" b="b"/>
            <a:pathLst>
              <a:path w="3181349" h="1238249">
                <a:moveTo>
                  <a:pt x="0" y="0"/>
                </a:moveTo>
                <a:lnTo>
                  <a:pt x="3181349" y="0"/>
                </a:lnTo>
                <a:lnTo>
                  <a:pt x="3181349" y="1238249"/>
                </a:lnTo>
                <a:lnTo>
                  <a:pt x="0" y="123824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100" b="-100"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942919" y="755877"/>
            <a:ext cx="175260" cy="374015"/>
          </a:xfrm>
          <a:custGeom>
            <a:avLst/>
            <a:gdLst/>
            <a:ahLst/>
            <a:cxnLst/>
            <a:rect l="l" t="t" r="r" b="b"/>
            <a:pathLst>
              <a:path w="175260" h="374015">
                <a:moveTo>
                  <a:pt x="0" y="0"/>
                </a:moveTo>
                <a:lnTo>
                  <a:pt x="175260" y="0"/>
                </a:lnTo>
                <a:lnTo>
                  <a:pt x="175260" y="374015"/>
                </a:lnTo>
                <a:lnTo>
                  <a:pt x="0" y="37401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 rot="0">
            <a:off x="16000425" y="699921"/>
            <a:ext cx="44450" cy="354965"/>
            <a:chOff x="0" y="0"/>
            <a:chExt cx="59267" cy="473287"/>
          </a:xfrm>
        </p:grpSpPr>
        <p:sp>
          <p:nvSpPr>
            <p:cNvPr id="35" name="Freeform 35"/>
            <p:cNvSpPr/>
            <p:nvPr/>
          </p:nvSpPr>
          <p:spPr>
            <a:xfrm>
              <a:off x="0" y="424815"/>
              <a:ext cx="47879" cy="47879"/>
            </a:xfrm>
            <a:custGeom>
              <a:avLst/>
              <a:gdLst/>
              <a:ahLst/>
              <a:cxnLst/>
              <a:rect l="l" t="t" r="r" b="b"/>
              <a:pathLst>
                <a:path w="47879" h="47879">
                  <a:moveTo>
                    <a:pt x="47879" y="0"/>
                  </a:moveTo>
                  <a:lnTo>
                    <a:pt x="0" y="0"/>
                  </a:lnTo>
                  <a:lnTo>
                    <a:pt x="0" y="47879"/>
                  </a:lnTo>
                  <a:lnTo>
                    <a:pt x="47879" y="47879"/>
                  </a:lnTo>
                  <a:lnTo>
                    <a:pt x="4787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0541" y="0"/>
              <a:ext cx="48006" cy="47879"/>
            </a:xfrm>
            <a:custGeom>
              <a:avLst/>
              <a:gdLst/>
              <a:ahLst/>
              <a:cxnLst/>
              <a:rect l="l" t="t" r="r" b="b"/>
              <a:pathLst>
                <a:path w="48006" h="47879">
                  <a:moveTo>
                    <a:pt x="48006" y="0"/>
                  </a:moveTo>
                  <a:lnTo>
                    <a:pt x="0" y="0"/>
                  </a:lnTo>
                  <a:lnTo>
                    <a:pt x="0" y="47879"/>
                  </a:lnTo>
                  <a:lnTo>
                    <a:pt x="48006" y="47879"/>
                  </a:lnTo>
                  <a:lnTo>
                    <a:pt x="4800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16547635" y="1446897"/>
            <a:ext cx="157062" cy="155217"/>
          </a:xfrm>
          <a:custGeom>
            <a:avLst/>
            <a:gdLst/>
            <a:ahLst/>
            <a:cxnLst/>
            <a:rect l="l" t="t" r="r" b="b"/>
            <a:pathLst>
              <a:path w="157062" h="155217">
                <a:moveTo>
                  <a:pt x="0" y="0"/>
                </a:moveTo>
                <a:lnTo>
                  <a:pt x="157062" y="0"/>
                </a:lnTo>
                <a:lnTo>
                  <a:pt x="157062" y="155217"/>
                </a:lnTo>
                <a:lnTo>
                  <a:pt x="0" y="15521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956" r="-956"/>
            </a:stretch>
          </a:blipFill>
        </p:spPr>
      </p:sp>
      <p:grpSp>
        <p:nvGrpSpPr>
          <p:cNvPr id="38" name="Group 38"/>
          <p:cNvGrpSpPr/>
          <p:nvPr/>
        </p:nvGrpSpPr>
        <p:grpSpPr>
          <a:xfrm rot="0">
            <a:off x="376277" y="3222525"/>
            <a:ext cx="17737455" cy="6588125"/>
            <a:chOff x="-1361440" y="-1115060"/>
            <a:chExt cx="23649939" cy="878416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04194" cy="5528733"/>
            </a:xfrm>
            <a:custGeom>
              <a:avLst/>
              <a:gdLst/>
              <a:ahLst/>
              <a:cxnLst/>
              <a:rect l="l" t="t" r="r" b="b"/>
              <a:pathLst>
                <a:path w="7304194" h="5528733">
                  <a:moveTo>
                    <a:pt x="0" y="0"/>
                  </a:moveTo>
                  <a:lnTo>
                    <a:pt x="7304194" y="0"/>
                  </a:lnTo>
                  <a:lnTo>
                    <a:pt x="7304194" y="5528733"/>
                  </a:lnTo>
                  <a:lnTo>
                    <a:pt x="0" y="5528733"/>
                  </a:lnTo>
                  <a:close/>
                </a:path>
              </a:pathLst>
            </a:custGeom>
          </p:spPr>
        </p:sp>
        <p:sp>
          <p:nvSpPr>
            <p:cNvPr id="40" name="TextBox 40"/>
            <p:cNvSpPr txBox="1"/>
            <p:nvPr/>
          </p:nvSpPr>
          <p:spPr>
            <a:xfrm>
              <a:off x="-1361440" y="-1115060"/>
              <a:ext cx="23649939" cy="8784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800"/>
                </a:lnSpc>
              </a:pPr>
              <a:r>
                <a:rPr lang="en-US" sz="4000" spc="-2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TEAM NAME:</a:t>
              </a:r>
              <a:r>
                <a:rPr lang="en-IN" altLang="en-US" sz="4000" spc="-2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MissFit Mannequin</a:t>
              </a:r>
              <a:endParaRPr lang="en-US" sz="4000" spc="-2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  <a:p>
              <a:pPr algn="l">
                <a:lnSpc>
                  <a:spcPts val="10000"/>
                </a:lnSpc>
              </a:pPr>
              <a:r>
                <a:rPr lang="en-US" sz="4000" spc="-1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COLLEGE NAME:</a:t>
              </a:r>
              <a:r>
                <a:rPr lang="en-IN" altLang="en-US" sz="4000" spc="-1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Sri Venkateswara College of Engineering</a:t>
              </a:r>
              <a:endParaRPr lang="en-US" sz="4000" spc="-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  <a:p>
              <a:pPr algn="l">
                <a:lnSpc>
                  <a:spcPts val="10000"/>
                </a:lnSpc>
              </a:pPr>
              <a:r>
                <a:rPr lang="en-US" sz="4000" spc="-1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PROBLEM STATEMENT:</a:t>
              </a:r>
              <a:r>
                <a:rPr lang="en-IN" altLang="en-US" sz="4000" spc="-10">
                  <a:solidFill>
                    <a:srgbClr val="FFFFFF"/>
                  </a:solidFill>
                  <a:latin typeface="Atkinson Hyperlegible"/>
                  <a:ea typeface="Atkinson Hyperlegible"/>
                  <a:cs typeface="Atkinson Hyperlegible"/>
                  <a:sym typeface="Atkinson Hyperlegible"/>
                </a:rPr>
                <a:t> </a:t>
              </a:r>
              <a:r>
                <a:rPr lang="en-IN" altLang="en-US" sz="4000" dirty="0" smtClean="0">
                  <a:solidFill>
                    <a:schemeClr val="lt1"/>
                  </a:solidFill>
                  <a:sym typeface="+mn-ea"/>
                </a:rPr>
                <a:t>Sketch2Style : AI-Powered Fashion Virtual Try-On System</a:t>
              </a:r>
              <a:r>
                <a:rPr lang="en-IN" altLang="en-US" sz="4000" dirty="0" smtClean="0">
                  <a:solidFill>
                    <a:schemeClr val="lt1"/>
                  </a:solidFill>
                  <a:highlight>
                    <a:srgbClr val="FFFF00"/>
                  </a:highlight>
                  <a:sym typeface="+mn-ea"/>
                </a:rPr>
                <a:t> </a:t>
              </a:r>
              <a:endParaRPr lang="en-US" sz="4000" spc="-10">
                <a:solidFill>
                  <a:srgbClr val="FFFFFF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endParaRPr>
            </a:p>
          </p:txBody>
        </p:sp>
      </p:grpSp>
      <p:sp>
        <p:nvSpPr>
          <p:cNvPr id="41" name="Freeform 41"/>
          <p:cNvSpPr/>
          <p:nvPr/>
        </p:nvSpPr>
        <p:spPr>
          <a:xfrm>
            <a:off x="6231838" y="29194"/>
            <a:ext cx="5824323" cy="2051385"/>
          </a:xfrm>
          <a:custGeom>
            <a:avLst/>
            <a:gdLst/>
            <a:ahLst/>
            <a:cxnLst/>
            <a:rect l="l" t="t" r="r" b="b"/>
            <a:pathLst>
              <a:path w="5824323" h="2051385">
                <a:moveTo>
                  <a:pt x="0" y="0"/>
                </a:moveTo>
                <a:lnTo>
                  <a:pt x="5824324" y="0"/>
                </a:lnTo>
                <a:lnTo>
                  <a:pt x="5824324" y="2051384"/>
                </a:lnTo>
                <a:lnTo>
                  <a:pt x="0" y="205138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  <p:txBody>
          <a:bodyPr/>
          <a:p>
            <a:pPr marL="0" indent="0">
              <a:buNone/>
            </a:pPr>
            <a:r>
              <a:rPr lang="en-US" altLang="en-US" dirty="0">
                <a:sym typeface="+mn-ea"/>
              </a:rPr>
              <a:t>Traditional fashion design involves time-consuming manual processes such as sketch interpretation, fabric visualization, pattern making, and physical prototyping. These steps increase cost, delay production, and limit customization. Additionally, customers cannot accurately visualize how a garment will look on their body before purchase, leading to dissatisfaction and high return rates.</a:t>
            </a:r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74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PROBLEM STATEMENT</a:t>
              </a:r>
              <a:endParaRPr lang="en-US" sz="5100" b="1" spc="74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89945" y="1840865"/>
            <a:ext cx="7016115" cy="6863715"/>
          </a:xfrm>
          <a:prstGeom prst="rect">
            <a:avLst/>
          </a:prstGeom>
        </p:spPr>
      </p:pic>
      <p:sp>
        <p:nvSpPr>
          <p:cNvPr id="41" name="Text Box 40"/>
          <p:cNvSpPr txBox="1"/>
          <p:nvPr/>
        </p:nvSpPr>
        <p:spPr>
          <a:xfrm>
            <a:off x="490855" y="1840865"/>
            <a:ext cx="10498455" cy="6987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400" dirty="0">
                <a:solidFill>
                  <a:schemeClr val="bg1"/>
                </a:solidFill>
                <a:sym typeface="+mn-ea"/>
              </a:rPr>
              <a:t>Traditional fashion design involves time-consuming manual processes such as sketch interpretation, fabric visualization, pattern making, and physical prototyping. </a:t>
            </a:r>
            <a:endParaRPr lang="en-US" altLang="en-US" sz="4400" dirty="0">
              <a:solidFill>
                <a:schemeClr val="bg1"/>
              </a:solidFill>
              <a:sym typeface="+mn-ea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400" dirty="0">
                <a:solidFill>
                  <a:schemeClr val="bg1"/>
                </a:solidFill>
                <a:sym typeface="+mn-ea"/>
              </a:rPr>
              <a:t>These steps increase cost, delay production, and limit customization.</a:t>
            </a:r>
            <a:endParaRPr lang="en-US" altLang="en-US" sz="4400" dirty="0">
              <a:solidFill>
                <a:schemeClr val="bg1"/>
              </a:solidFill>
              <a:sym typeface="+mn-ea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altLang="en-US" sz="4400" dirty="0">
                <a:solidFill>
                  <a:schemeClr val="bg1"/>
                </a:solidFill>
                <a:sym typeface="+mn-ea"/>
              </a:rPr>
              <a:t> Additionally, customers cannot accurately visualize how a garment will look on their body before purchase, leading to dissatisfaction and high return rates.</a:t>
            </a:r>
            <a:endParaRPr lang="en-US" altLang="en-US" sz="44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0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SOLUTION</a:t>
              </a:r>
              <a:endParaRPr lang="en-US" sz="5100" b="1" spc="30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Text Box 39"/>
          <p:cNvSpPr txBox="1"/>
          <p:nvPr/>
        </p:nvSpPr>
        <p:spPr>
          <a:xfrm>
            <a:off x="381000" y="1116330"/>
            <a:ext cx="8923020" cy="5869940"/>
          </a:xfrm>
          <a:prstGeom prst="rect">
            <a:avLst/>
          </a:prstGeom>
        </p:spPr>
        <p:txBody>
          <a:bodyPr>
            <a:noAutofit/>
          </a:bodyPr>
          <a:p>
            <a:pPr marL="457200" indent="-45720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sz="3200">
                <a:solidFill>
                  <a:schemeClr val="bg1"/>
                </a:solidFill>
              </a:rPr>
              <a:t>Develop an AI-based fashion design system that converts hand-drawn sketches into realistic garment images using diffusion models and ControlNet.</a:t>
            </a: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sz="3200">
                <a:solidFill>
                  <a:schemeClr val="bg1"/>
                </a:solidFill>
              </a:rPr>
              <a:t>Use edge detection and sketch preprocessing to preserve the original design structure.</a:t>
            </a: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sz="3200">
                <a:solidFill>
                  <a:schemeClr val="bg1"/>
                </a:solidFill>
              </a:rPr>
              <a:t>Integrate pose estimation (MediaPipe/OpenPose) to detect body landmarks.</a:t>
            </a: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sz="3200">
                <a:solidFill>
                  <a:schemeClr val="bg1"/>
                </a:solidFill>
              </a:rPr>
              <a:t>Implement a virtual try-on module to visualize the generated clothing on the user in real time.</a:t>
            </a: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endParaRPr sz="32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/>
              <a:buChar char="•"/>
            </a:pPr>
            <a:r>
              <a:rPr sz="3200">
                <a:solidFill>
                  <a:schemeClr val="bg1"/>
                </a:solidFill>
              </a:rPr>
              <a:t>Enable fast design visualization and reduce the need for physical prototypes.</a:t>
            </a:r>
            <a:endParaRPr sz="3200">
              <a:solidFill>
                <a:schemeClr val="bg1"/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49460" y="1866900"/>
            <a:ext cx="7850505" cy="68694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40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FLOW DIAGRAM</a:t>
              </a:r>
              <a:endParaRPr lang="en-US" sz="5100" b="1" spc="34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pic>
        <p:nvPicPr>
          <p:cNvPr id="424" name="Picture 4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2370" y="1925955"/>
            <a:ext cx="15765145" cy="6810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12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TECHNICAL REQUIREMENTS</a:t>
              </a:r>
              <a:endParaRPr lang="en-US" sz="5100" b="1" spc="12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Text Box 39"/>
          <p:cNvSpPr txBox="1"/>
          <p:nvPr/>
        </p:nvSpPr>
        <p:spPr>
          <a:xfrm>
            <a:off x="1151255" y="1564640"/>
            <a:ext cx="10050145" cy="7302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None/>
            </a:pPr>
            <a:r>
              <a:rPr lang="en-US" altLang="en-US" sz="3200" b="1">
                <a:solidFill>
                  <a:schemeClr val="bg1"/>
                </a:solidFill>
                <a:sym typeface="+mn-ea"/>
              </a:rPr>
              <a:t>Hardware</a:t>
            </a:r>
            <a:endParaRPr lang="en-US" altLang="en-US" sz="3200" b="1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CPU: Intel i5 / Ryzen 5 or higher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GPU: NVIDIA (for training / real-time inference)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8 GB RAM minimum</a:t>
            </a:r>
            <a:endParaRPr lang="en-US" altLang="en-US" sz="3200">
              <a:solidFill>
                <a:schemeClr val="bg1"/>
              </a:solidFill>
            </a:endParaRPr>
          </a:p>
          <a:p>
            <a:endParaRPr lang="en-US" altLang="en-US" sz="32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3200" b="1">
                <a:solidFill>
                  <a:schemeClr val="bg1"/>
                </a:solidFill>
                <a:sym typeface="+mn-ea"/>
              </a:rPr>
              <a:t>Softwar</a:t>
            </a:r>
            <a:r>
              <a:rPr lang="en-IN" altLang="en-US" sz="3200" b="1">
                <a:solidFill>
                  <a:schemeClr val="bg1"/>
                </a:solidFill>
                <a:sym typeface="+mn-ea"/>
              </a:rPr>
              <a:t>e</a:t>
            </a:r>
            <a:endParaRPr lang="en-US" altLang="en-US" sz="3200" b="1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Python (3.8+)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PyTorch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Flask / FastAPI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OpenCV, MediaPipe for pose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Diffusion model libraries (e.g., HuggingFace diffusers)</a:t>
            </a:r>
            <a:endParaRPr lang="en-US" altLang="en-US" sz="3200">
              <a:solidFill>
                <a:schemeClr val="bg1"/>
              </a:solidFill>
            </a:endParaRPr>
          </a:p>
          <a:p>
            <a:endParaRPr lang="en-US" altLang="en-US" sz="32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3200" b="1">
                <a:solidFill>
                  <a:schemeClr val="bg1"/>
                </a:solidFill>
                <a:sym typeface="+mn-ea"/>
              </a:rPr>
              <a:t>Datasets</a:t>
            </a:r>
            <a:endParaRPr lang="en-US" altLang="en-US" sz="3200" b="1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Fashion sketch → image pairs (e.g., curated dataset)</a:t>
            </a:r>
            <a:endParaRPr lang="en-US" altLang="en-US" sz="3200">
              <a:solidFill>
                <a:schemeClr val="bg1"/>
              </a:solidFill>
            </a:endParaRPr>
          </a:p>
          <a:p>
            <a:r>
              <a:rPr lang="en-US" altLang="en-US" sz="3200">
                <a:solidFill>
                  <a:schemeClr val="bg1"/>
                </a:solidFill>
                <a:sym typeface="+mn-ea"/>
              </a:rPr>
              <a:t>Clothing benchmarks (FITMI validation sets)</a:t>
            </a:r>
            <a:endParaRPr lang="en-US" altLang="en-US" sz="32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69525" y="1909445"/>
            <a:ext cx="7755890" cy="6720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16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NOVELTY / USE CASE</a:t>
              </a:r>
              <a:endParaRPr lang="en-US" sz="5100" b="1" spc="16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Text Box 39"/>
          <p:cNvSpPr txBox="1"/>
          <p:nvPr/>
        </p:nvSpPr>
        <p:spPr>
          <a:xfrm>
            <a:off x="457200" y="1550670"/>
            <a:ext cx="8370570" cy="6936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</a:rPr>
              <a:t>Combines sketch-to-image garment generation with virtual try-on in a single system.</a:t>
            </a:r>
            <a:endParaRPr lang="en-US" altLang="en-US" sz="400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</a:rPr>
              <a:t>Uses diffusion-based AI models for high-quality clothing generation.</a:t>
            </a:r>
            <a:endParaRPr lang="en-US" altLang="en-US" sz="400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</a:rPr>
              <a:t>Allows design visualization directly from sketches without manual garment creation.</a:t>
            </a:r>
            <a:endParaRPr lang="en-US" altLang="en-US" sz="400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en-US" sz="4000">
                <a:solidFill>
                  <a:schemeClr val="bg1"/>
                </a:solidFill>
              </a:rPr>
              <a:t>Supports real-time user visualization using pose detection.</a:t>
            </a:r>
            <a:endParaRPr lang="en-US" altLang="en-US" sz="4000">
              <a:solidFill>
                <a:schemeClr val="bg1"/>
              </a:solidFill>
            </a:endParaRPr>
          </a:p>
        </p:txBody>
      </p:sp>
      <p:pic>
        <p:nvPicPr>
          <p:cNvPr id="42" name="Content Placeholder 7" descr="WhatsApp Image 2026-01-19 at 3.02.39 PM"/>
          <p:cNvPicPr>
            <a:picLocks noChangeAspect="1"/>
          </p:cNvPicPr>
          <p:nvPr/>
        </p:nvPicPr>
        <p:blipFill>
          <a:blip r:embed="rId21"/>
          <a:srcRect b="68955"/>
          <a:stretch>
            <a:fillRect/>
          </a:stretch>
        </p:blipFill>
        <p:spPr>
          <a:xfrm>
            <a:off x="9499600" y="1890395"/>
            <a:ext cx="7905750" cy="1468755"/>
          </a:xfrm>
          <a:prstGeom prst="rect">
            <a:avLst/>
          </a:prstGeom>
        </p:spPr>
      </p:pic>
      <p:sp>
        <p:nvSpPr>
          <p:cNvPr id="43" name="Text Box 42"/>
          <p:cNvSpPr txBox="1"/>
          <p:nvPr/>
        </p:nvSpPr>
        <p:spPr>
          <a:xfrm>
            <a:off x="9601200" y="3858895"/>
            <a:ext cx="795845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bg1"/>
                </a:solidFill>
              </a:rPr>
              <a:t>Fashion designers can quickly visualize clothing designs before production.</a:t>
            </a:r>
            <a:endParaRPr lang="en-US" altLang="en-US" sz="36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bg1"/>
                </a:solidFill>
              </a:rPr>
              <a:t>E-commerce platforms can provide virtual try-on for customers.</a:t>
            </a:r>
            <a:endParaRPr lang="en-US" altLang="en-US" sz="36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bg1"/>
                </a:solidFill>
              </a:rPr>
              <a:t>Clothing brands can reduce production cost and prototype time.</a:t>
            </a:r>
            <a:endParaRPr lang="en-US" altLang="en-US" sz="36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bg1"/>
                </a:solidFill>
              </a:rPr>
              <a:t>Customers can see how clothes look on them before buying, reducing return rates.</a:t>
            </a:r>
            <a:endParaRPr lang="en-US" altLang="en-US" sz="36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4964909" y="9845112"/>
            <a:ext cx="2734944" cy="231775"/>
            <a:chOff x="0" y="0"/>
            <a:chExt cx="3646592" cy="30903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46592" cy="309033"/>
            </a:xfrm>
            <a:custGeom>
              <a:avLst/>
              <a:gdLst/>
              <a:ahLst/>
              <a:cxnLst/>
              <a:rect l="l" t="t" r="r" b="b"/>
              <a:pathLst>
                <a:path w="3646592" h="309033">
                  <a:moveTo>
                    <a:pt x="0" y="0"/>
                  </a:moveTo>
                  <a:lnTo>
                    <a:pt x="3646592" y="0"/>
                  </a:lnTo>
                  <a:lnTo>
                    <a:pt x="3646592" y="309033"/>
                  </a:lnTo>
                  <a:lnTo>
                    <a:pt x="0" y="309033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646592" cy="3090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60"/>
                </a:lnSpc>
              </a:pPr>
              <a:r>
                <a:rPr lang="en-US" sz="800" spc="80">
                  <a:solidFill>
                    <a:srgbClr val="FFFFFF"/>
                  </a:solidFill>
                  <a:latin typeface="Verdana Pro" panose="020B0604030504040204"/>
                  <a:ea typeface="Verdana Pro" panose="020B0604030504040204"/>
                  <a:cs typeface="Verdana Pro" panose="020B0604030504040204"/>
                  <a:sym typeface="Verdana Pro" panose="020B0604030504040204"/>
                </a:rPr>
                <a:t>D E S I G N  .  D E V E L O P  .  D E P L O Y</a:t>
              </a:r>
              <a:endParaRPr lang="en-US" sz="800" spc="80">
                <a:solidFill>
                  <a:srgbClr val="FFFFFF"/>
                </a:solidFill>
                <a:latin typeface="Verdana Pro" panose="020B0604030504040204"/>
                <a:ea typeface="Verdana Pro" panose="020B0604030504040204"/>
                <a:cs typeface="Verdana Pro" panose="020B0604030504040204"/>
                <a:sym typeface="Verdana Pro" panose="020B060403050404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1016000" y="276291"/>
            <a:ext cx="13395683" cy="926973"/>
            <a:chOff x="0" y="0"/>
            <a:chExt cx="17860910" cy="12359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860911" cy="1235964"/>
            </a:xfrm>
            <a:custGeom>
              <a:avLst/>
              <a:gdLst/>
              <a:ahLst/>
              <a:cxnLst/>
              <a:rect l="l" t="t" r="r" b="b"/>
              <a:pathLst>
                <a:path w="17860911" h="1235964">
                  <a:moveTo>
                    <a:pt x="0" y="0"/>
                  </a:moveTo>
                  <a:lnTo>
                    <a:pt x="17860911" y="0"/>
                  </a:lnTo>
                  <a:lnTo>
                    <a:pt x="17860911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7860910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IN" altLang="en-US" sz="5100" b="1" spc="31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Implementation</a:t>
              </a:r>
              <a:endParaRPr lang="en-IN" altLang="en-US" sz="5100" b="1" spc="31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42" name="Freeform 42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pic>
        <p:nvPicPr>
          <p:cNvPr id="43" name="Picture 42" descr="WhatsApp Image 2026-01-19 at 12.38.40 PM"/>
          <p:cNvPicPr>
            <a:picLocks noChangeAspect="1"/>
          </p:cNvPicPr>
          <p:nvPr/>
        </p:nvPicPr>
        <p:blipFill>
          <a:blip r:embed="rId21"/>
          <a:srcRect r="52094"/>
          <a:stretch>
            <a:fillRect/>
          </a:stretch>
        </p:blipFill>
        <p:spPr>
          <a:xfrm>
            <a:off x="560070" y="1714500"/>
            <a:ext cx="9227185" cy="7090410"/>
          </a:xfrm>
          <a:prstGeom prst="rect">
            <a:avLst/>
          </a:prstGeom>
        </p:spPr>
      </p:pic>
      <p:pic>
        <p:nvPicPr>
          <p:cNvPr id="44" name="Picture 43" descr="WhatsApp Image 2026-01-19 at 12.38.40 PM (1)"/>
          <p:cNvPicPr>
            <a:picLocks noChangeAspect="1"/>
          </p:cNvPicPr>
          <p:nvPr/>
        </p:nvPicPr>
        <p:blipFill>
          <a:blip r:embed="rId22"/>
          <a:srcRect r="41441"/>
          <a:stretch>
            <a:fillRect/>
          </a:stretch>
        </p:blipFill>
        <p:spPr>
          <a:xfrm>
            <a:off x="10076180" y="1748155"/>
            <a:ext cx="7726680" cy="7056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134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4964909" y="9845112"/>
            <a:ext cx="2734944" cy="231775"/>
            <a:chOff x="0" y="0"/>
            <a:chExt cx="3646592" cy="30903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46592" cy="309033"/>
            </a:xfrm>
            <a:custGeom>
              <a:avLst/>
              <a:gdLst/>
              <a:ahLst/>
              <a:cxnLst/>
              <a:rect l="l" t="t" r="r" b="b"/>
              <a:pathLst>
                <a:path w="3646592" h="309033">
                  <a:moveTo>
                    <a:pt x="0" y="0"/>
                  </a:moveTo>
                  <a:lnTo>
                    <a:pt x="3646592" y="0"/>
                  </a:lnTo>
                  <a:lnTo>
                    <a:pt x="3646592" y="309033"/>
                  </a:lnTo>
                  <a:lnTo>
                    <a:pt x="0" y="309033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3646592" cy="3090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960"/>
                </a:lnSpc>
              </a:pPr>
              <a:r>
                <a:rPr lang="en-US" sz="800" spc="80">
                  <a:solidFill>
                    <a:srgbClr val="FFFFFF"/>
                  </a:solidFill>
                  <a:latin typeface="Verdana Pro" panose="020B0604030504040204"/>
                  <a:ea typeface="Verdana Pro" panose="020B0604030504040204"/>
                  <a:cs typeface="Verdana Pro" panose="020B0604030504040204"/>
                  <a:sym typeface="Verdana Pro" panose="020B0604030504040204"/>
                </a:rPr>
                <a:t>D E S I G N  .  D E V E L O P  .  D E P L O Y</a:t>
              </a:r>
              <a:endParaRPr lang="en-US" sz="800" spc="80">
                <a:solidFill>
                  <a:srgbClr val="FFFFFF"/>
                </a:solidFill>
                <a:latin typeface="Verdana Pro" panose="020B0604030504040204"/>
                <a:ea typeface="Verdana Pro" panose="020B0604030504040204"/>
                <a:cs typeface="Verdana Pro" panose="020B0604030504040204"/>
                <a:sym typeface="Verdana Pro" panose="020B060403050404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1016000" y="276291"/>
            <a:ext cx="13395683" cy="926973"/>
            <a:chOff x="0" y="0"/>
            <a:chExt cx="17860910" cy="12359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7860911" cy="1235964"/>
            </a:xfrm>
            <a:custGeom>
              <a:avLst/>
              <a:gdLst/>
              <a:ahLst/>
              <a:cxnLst/>
              <a:rect l="l" t="t" r="r" b="b"/>
              <a:pathLst>
                <a:path w="17860911" h="1235964">
                  <a:moveTo>
                    <a:pt x="0" y="0"/>
                  </a:moveTo>
                  <a:lnTo>
                    <a:pt x="17860911" y="0"/>
                  </a:lnTo>
                  <a:lnTo>
                    <a:pt x="17860911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7860910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1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BUSINESS MODEL / TARGET MARKET</a:t>
              </a:r>
              <a:endParaRPr lang="en-US" sz="5100" b="1" spc="31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42" name="Freeform 42"/>
          <p:cNvSpPr/>
          <p:nvPr/>
        </p:nvSpPr>
        <p:spPr>
          <a:xfrm>
            <a:off x="13399418" y="8565193"/>
            <a:ext cx="4888580" cy="1721806"/>
          </a:xfrm>
          <a:custGeom>
            <a:avLst/>
            <a:gdLst/>
            <a:ahLst/>
            <a:cxnLst/>
            <a:rect l="l" t="t" r="r" b="b"/>
            <a:pathLst>
              <a:path w="4888580" h="1721806">
                <a:moveTo>
                  <a:pt x="0" y="0"/>
                </a:moveTo>
                <a:lnTo>
                  <a:pt x="4888580" y="0"/>
                </a:lnTo>
                <a:lnTo>
                  <a:pt x="4888580" y="1721806"/>
                </a:lnTo>
                <a:lnTo>
                  <a:pt x="0" y="17218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3200" y="1907540"/>
            <a:ext cx="12847320" cy="66065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28765" r="-8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9089661"/>
            <a:ext cx="1847849" cy="962024"/>
          </a:xfrm>
          <a:custGeom>
            <a:avLst/>
            <a:gdLst/>
            <a:ahLst/>
            <a:cxnLst/>
            <a:rect l="l" t="t" r="r" b="b"/>
            <a:pathLst>
              <a:path w="1847849" h="962024">
                <a:moveTo>
                  <a:pt x="0" y="0"/>
                </a:moveTo>
                <a:lnTo>
                  <a:pt x="1847849" y="0"/>
                </a:lnTo>
                <a:lnTo>
                  <a:pt x="1847849" y="962024"/>
                </a:lnTo>
                <a:lnTo>
                  <a:pt x="0" y="962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7" b="-107"/>
            </a:stretch>
          </a:blipFill>
        </p:spPr>
      </p:sp>
      <p:grpSp>
        <p:nvGrpSpPr>
          <p:cNvPr id="4" name="Group 4"/>
          <p:cNvGrpSpPr/>
          <p:nvPr/>
        </p:nvGrpSpPr>
        <p:grpSpPr>
          <a:xfrm rot="0">
            <a:off x="16423285" y="1390609"/>
            <a:ext cx="275590" cy="78740"/>
            <a:chOff x="0" y="0"/>
            <a:chExt cx="367453" cy="104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6776" cy="104394"/>
            </a:xfrm>
            <a:custGeom>
              <a:avLst/>
              <a:gdLst/>
              <a:ahLst/>
              <a:cxnLst/>
              <a:rect l="l" t="t" r="r" b="b"/>
              <a:pathLst>
                <a:path w="366776" h="104394">
                  <a:moveTo>
                    <a:pt x="112522" y="104267"/>
                  </a:moveTo>
                  <a:lnTo>
                    <a:pt x="48895" y="101346"/>
                  </a:lnTo>
                  <a:lnTo>
                    <a:pt x="11938" y="94234"/>
                  </a:lnTo>
                  <a:lnTo>
                    <a:pt x="0" y="90297"/>
                  </a:lnTo>
                  <a:lnTo>
                    <a:pt x="15748" y="77851"/>
                  </a:lnTo>
                  <a:lnTo>
                    <a:pt x="57277" y="49911"/>
                  </a:lnTo>
                  <a:lnTo>
                    <a:pt x="115824" y="20447"/>
                  </a:lnTo>
                  <a:lnTo>
                    <a:pt x="182880" y="3556"/>
                  </a:lnTo>
                  <a:lnTo>
                    <a:pt x="250063" y="0"/>
                  </a:lnTo>
                  <a:lnTo>
                    <a:pt x="308991" y="0"/>
                  </a:lnTo>
                  <a:lnTo>
                    <a:pt x="350774" y="1524"/>
                  </a:lnTo>
                  <a:lnTo>
                    <a:pt x="366776" y="2540"/>
                  </a:lnTo>
                  <a:lnTo>
                    <a:pt x="361315" y="14097"/>
                  </a:lnTo>
                  <a:lnTo>
                    <a:pt x="338836" y="41148"/>
                  </a:lnTo>
                  <a:lnTo>
                    <a:pt x="289560" y="72136"/>
                  </a:lnTo>
                  <a:lnTo>
                    <a:pt x="204343" y="96012"/>
                  </a:lnTo>
                  <a:lnTo>
                    <a:pt x="112522" y="10439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6469713" y="1223585"/>
            <a:ext cx="228624" cy="168915"/>
          </a:xfrm>
          <a:custGeom>
            <a:avLst/>
            <a:gdLst/>
            <a:ahLst/>
            <a:cxnLst/>
            <a:rect l="l" t="t" r="r" b="b"/>
            <a:pathLst>
              <a:path w="228624" h="168915">
                <a:moveTo>
                  <a:pt x="0" y="0"/>
                </a:moveTo>
                <a:lnTo>
                  <a:pt x="228624" y="0"/>
                </a:lnTo>
                <a:lnTo>
                  <a:pt x="228624" y="168915"/>
                </a:lnTo>
                <a:lnTo>
                  <a:pt x="0" y="16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2" r="-662"/>
            </a:stretch>
          </a:blipFill>
        </p:spPr>
      </p:sp>
      <p:grpSp>
        <p:nvGrpSpPr>
          <p:cNvPr id="7" name="Group 7"/>
          <p:cNvGrpSpPr/>
          <p:nvPr/>
        </p:nvGrpSpPr>
        <p:grpSpPr>
          <a:xfrm rot="0">
            <a:off x="16288898" y="1340965"/>
            <a:ext cx="281305" cy="67310"/>
            <a:chOff x="0" y="0"/>
            <a:chExt cx="375073" cy="897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4269" cy="89662"/>
            </a:xfrm>
            <a:custGeom>
              <a:avLst/>
              <a:gdLst/>
              <a:ahLst/>
              <a:cxnLst/>
              <a:rect l="l" t="t" r="r" b="b"/>
              <a:pathLst>
                <a:path w="374269" h="89662">
                  <a:moveTo>
                    <a:pt x="199898" y="89662"/>
                  </a:moveTo>
                  <a:lnTo>
                    <a:pt x="119253" y="88265"/>
                  </a:lnTo>
                  <a:lnTo>
                    <a:pt x="56007" y="79883"/>
                  </a:lnTo>
                  <a:lnTo>
                    <a:pt x="14732" y="70485"/>
                  </a:lnTo>
                  <a:lnTo>
                    <a:pt x="0" y="66040"/>
                  </a:lnTo>
                  <a:lnTo>
                    <a:pt x="14224" y="56388"/>
                  </a:lnTo>
                  <a:lnTo>
                    <a:pt x="53848" y="34925"/>
                  </a:lnTo>
                  <a:lnTo>
                    <a:pt x="113919" y="12446"/>
                  </a:lnTo>
                  <a:lnTo>
                    <a:pt x="189992" y="0"/>
                  </a:lnTo>
                  <a:lnTo>
                    <a:pt x="265176" y="1651"/>
                  </a:lnTo>
                  <a:lnTo>
                    <a:pt x="323342" y="10287"/>
                  </a:lnTo>
                  <a:lnTo>
                    <a:pt x="360934" y="19812"/>
                  </a:lnTo>
                  <a:lnTo>
                    <a:pt x="374269" y="24384"/>
                  </a:lnTo>
                  <a:lnTo>
                    <a:pt x="363474" y="33782"/>
                  </a:lnTo>
                  <a:lnTo>
                    <a:pt x="330962" y="54991"/>
                  </a:lnTo>
                  <a:lnTo>
                    <a:pt x="276479" y="77216"/>
                  </a:lnTo>
                  <a:lnTo>
                    <a:pt x="199898" y="8966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6304772" y="1079767"/>
            <a:ext cx="161462" cy="231707"/>
          </a:xfrm>
          <a:custGeom>
            <a:avLst/>
            <a:gdLst/>
            <a:ahLst/>
            <a:cxnLst/>
            <a:rect l="l" t="t" r="r" b="b"/>
            <a:pathLst>
              <a:path w="161462" h="231707">
                <a:moveTo>
                  <a:pt x="0" y="0"/>
                </a:moveTo>
                <a:lnTo>
                  <a:pt x="161462" y="0"/>
                </a:lnTo>
                <a:lnTo>
                  <a:pt x="161462" y="231707"/>
                </a:lnTo>
                <a:lnTo>
                  <a:pt x="0" y="2317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" b="-679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6144541" y="1251566"/>
            <a:ext cx="280670" cy="76200"/>
            <a:chOff x="0" y="0"/>
            <a:chExt cx="374227" cy="10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507" cy="100965"/>
            </a:xfrm>
            <a:custGeom>
              <a:avLst/>
              <a:gdLst/>
              <a:ahLst/>
              <a:cxnLst/>
              <a:rect l="l" t="t" r="r" b="b"/>
              <a:pathLst>
                <a:path w="373507" h="100965">
                  <a:moveTo>
                    <a:pt x="266192" y="100965"/>
                  </a:moveTo>
                  <a:lnTo>
                    <a:pt x="188849" y="95123"/>
                  </a:lnTo>
                  <a:lnTo>
                    <a:pt x="110744" y="74930"/>
                  </a:lnTo>
                  <a:lnTo>
                    <a:pt x="51308" y="51943"/>
                  </a:lnTo>
                  <a:lnTo>
                    <a:pt x="0" y="25400"/>
                  </a:lnTo>
                  <a:lnTo>
                    <a:pt x="16129" y="19431"/>
                  </a:lnTo>
                  <a:lnTo>
                    <a:pt x="59563" y="7747"/>
                  </a:lnTo>
                  <a:lnTo>
                    <a:pt x="123317" y="0"/>
                  </a:lnTo>
                  <a:lnTo>
                    <a:pt x="200152" y="5715"/>
                  </a:lnTo>
                  <a:lnTo>
                    <a:pt x="272796" y="24892"/>
                  </a:lnTo>
                  <a:lnTo>
                    <a:pt x="327279" y="46863"/>
                  </a:lnTo>
                  <a:lnTo>
                    <a:pt x="361569" y="65024"/>
                  </a:lnTo>
                  <a:lnTo>
                    <a:pt x="373507" y="72517"/>
                  </a:lnTo>
                  <a:lnTo>
                    <a:pt x="360807" y="79121"/>
                  </a:lnTo>
                  <a:lnTo>
                    <a:pt x="324231" y="92075"/>
                  </a:lnTo>
                  <a:lnTo>
                    <a:pt x="266065" y="10096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Freeform 12"/>
          <p:cNvSpPr/>
          <p:nvPr/>
        </p:nvSpPr>
        <p:spPr>
          <a:xfrm>
            <a:off x="16106052" y="1104701"/>
            <a:ext cx="244782" cy="141776"/>
          </a:xfrm>
          <a:custGeom>
            <a:avLst/>
            <a:gdLst/>
            <a:ahLst/>
            <a:cxnLst/>
            <a:rect l="l" t="t" r="r" b="b"/>
            <a:pathLst>
              <a:path w="244782" h="141776">
                <a:moveTo>
                  <a:pt x="0" y="0"/>
                </a:moveTo>
                <a:lnTo>
                  <a:pt x="244782" y="0"/>
                </a:lnTo>
                <a:lnTo>
                  <a:pt x="244782" y="141776"/>
                </a:lnTo>
                <a:lnTo>
                  <a:pt x="0" y="141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80" b="-7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019856" y="339559"/>
            <a:ext cx="393700" cy="802640"/>
          </a:xfrm>
          <a:custGeom>
            <a:avLst/>
            <a:gdLst/>
            <a:ahLst/>
            <a:cxnLst/>
            <a:rect l="l" t="t" r="r" b="b"/>
            <a:pathLst>
              <a:path w="393700" h="802640">
                <a:moveTo>
                  <a:pt x="0" y="0"/>
                </a:moveTo>
                <a:lnTo>
                  <a:pt x="393700" y="0"/>
                </a:lnTo>
                <a:lnTo>
                  <a:pt x="393700" y="802640"/>
                </a:lnTo>
                <a:lnTo>
                  <a:pt x="0" y="802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94649" y="1425631"/>
            <a:ext cx="112653" cy="126308"/>
          </a:xfrm>
          <a:custGeom>
            <a:avLst/>
            <a:gdLst/>
            <a:ahLst/>
            <a:cxnLst/>
            <a:rect l="l" t="t" r="r" b="b"/>
            <a:pathLst>
              <a:path w="112653" h="126308">
                <a:moveTo>
                  <a:pt x="0" y="0"/>
                </a:moveTo>
                <a:lnTo>
                  <a:pt x="112653" y="0"/>
                </a:lnTo>
                <a:lnTo>
                  <a:pt x="112653" y="126308"/>
                </a:lnTo>
                <a:lnTo>
                  <a:pt x="0" y="1263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68" b="-16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480534" y="758952"/>
            <a:ext cx="259079" cy="414527"/>
          </a:xfrm>
          <a:custGeom>
            <a:avLst/>
            <a:gdLst/>
            <a:ahLst/>
            <a:cxnLst/>
            <a:rect l="l" t="t" r="r" b="b"/>
            <a:pathLst>
              <a:path w="259079" h="414527">
                <a:moveTo>
                  <a:pt x="0" y="0"/>
                </a:moveTo>
                <a:lnTo>
                  <a:pt x="259079" y="0"/>
                </a:lnTo>
                <a:lnTo>
                  <a:pt x="259079" y="414527"/>
                </a:lnTo>
                <a:lnTo>
                  <a:pt x="0" y="4145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424389" y="792619"/>
            <a:ext cx="151765" cy="323850"/>
          </a:xfrm>
          <a:custGeom>
            <a:avLst/>
            <a:gdLst/>
            <a:ahLst/>
            <a:cxnLst/>
            <a:rect l="l" t="t" r="r" b="b"/>
            <a:pathLst>
              <a:path w="151765" h="323850">
                <a:moveTo>
                  <a:pt x="0" y="0"/>
                </a:moveTo>
                <a:lnTo>
                  <a:pt x="151765" y="0"/>
                </a:lnTo>
                <a:lnTo>
                  <a:pt x="151765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69510" y="755904"/>
            <a:ext cx="999743" cy="384047"/>
          </a:xfrm>
          <a:custGeom>
            <a:avLst/>
            <a:gdLst/>
            <a:ahLst/>
            <a:cxnLst/>
            <a:rect l="l" t="t" r="r" b="b"/>
            <a:pathLst>
              <a:path w="999743" h="384047">
                <a:moveTo>
                  <a:pt x="0" y="0"/>
                </a:moveTo>
                <a:lnTo>
                  <a:pt x="999743" y="0"/>
                </a:lnTo>
                <a:lnTo>
                  <a:pt x="999743" y="384047"/>
                </a:lnTo>
                <a:lnTo>
                  <a:pt x="0" y="3840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0">
            <a:off x="17330812" y="1389182"/>
            <a:ext cx="274955" cy="79375"/>
            <a:chOff x="0" y="0"/>
            <a:chExt cx="366607" cy="1058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6268" cy="105283"/>
            </a:xfrm>
            <a:custGeom>
              <a:avLst/>
              <a:gdLst/>
              <a:ahLst/>
              <a:cxnLst/>
              <a:rect l="l" t="t" r="r" b="b"/>
              <a:pathLst>
                <a:path w="366268" h="105283">
                  <a:moveTo>
                    <a:pt x="253746" y="105283"/>
                  </a:moveTo>
                  <a:lnTo>
                    <a:pt x="317373" y="102616"/>
                  </a:lnTo>
                  <a:lnTo>
                    <a:pt x="354330" y="95758"/>
                  </a:lnTo>
                  <a:lnTo>
                    <a:pt x="366268" y="91821"/>
                  </a:lnTo>
                  <a:lnTo>
                    <a:pt x="350520" y="79375"/>
                  </a:lnTo>
                  <a:lnTo>
                    <a:pt x="250698" y="21590"/>
                  </a:lnTo>
                  <a:lnTo>
                    <a:pt x="183896" y="4191"/>
                  </a:lnTo>
                  <a:lnTo>
                    <a:pt x="116713" y="254"/>
                  </a:lnTo>
                  <a:lnTo>
                    <a:pt x="57785" y="0"/>
                  </a:lnTo>
                  <a:lnTo>
                    <a:pt x="15875" y="1270"/>
                  </a:lnTo>
                  <a:lnTo>
                    <a:pt x="0" y="2159"/>
                  </a:lnTo>
                  <a:lnTo>
                    <a:pt x="5334" y="13716"/>
                  </a:lnTo>
                  <a:lnTo>
                    <a:pt x="27813" y="40894"/>
                  </a:lnTo>
                  <a:lnTo>
                    <a:pt x="76708" y="72263"/>
                  </a:lnTo>
                  <a:lnTo>
                    <a:pt x="161925" y="96520"/>
                  </a:lnTo>
                  <a:lnTo>
                    <a:pt x="253746" y="1052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7330812" y="1223064"/>
            <a:ext cx="229460" cy="167778"/>
          </a:xfrm>
          <a:custGeom>
            <a:avLst/>
            <a:gdLst/>
            <a:ahLst/>
            <a:cxnLst/>
            <a:rect l="l" t="t" r="r" b="b"/>
            <a:pathLst>
              <a:path w="229460" h="167778">
                <a:moveTo>
                  <a:pt x="0" y="0"/>
                </a:moveTo>
                <a:lnTo>
                  <a:pt x="229460" y="0"/>
                </a:lnTo>
                <a:lnTo>
                  <a:pt x="229460" y="167778"/>
                </a:lnTo>
                <a:lnTo>
                  <a:pt x="0" y="1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8" r="-138"/>
            </a:stretch>
          </a:blipFill>
        </p:spPr>
      </p:sp>
      <p:grpSp>
        <p:nvGrpSpPr>
          <p:cNvPr id="21" name="Group 21"/>
          <p:cNvGrpSpPr/>
          <p:nvPr/>
        </p:nvGrpSpPr>
        <p:grpSpPr>
          <a:xfrm rot="0">
            <a:off x="17459738" y="1340632"/>
            <a:ext cx="280670" cy="67310"/>
            <a:chOff x="0" y="0"/>
            <a:chExt cx="374227" cy="8974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4015" cy="89535"/>
            </a:xfrm>
            <a:custGeom>
              <a:avLst/>
              <a:gdLst/>
              <a:ahLst/>
              <a:cxnLst/>
              <a:rect l="l" t="t" r="r" b="b"/>
              <a:pathLst>
                <a:path w="374015" h="89535">
                  <a:moveTo>
                    <a:pt x="173990" y="89535"/>
                  </a:moveTo>
                  <a:lnTo>
                    <a:pt x="254635" y="88519"/>
                  </a:lnTo>
                  <a:lnTo>
                    <a:pt x="317881" y="80518"/>
                  </a:lnTo>
                  <a:lnTo>
                    <a:pt x="359156" y="71374"/>
                  </a:lnTo>
                  <a:lnTo>
                    <a:pt x="374015" y="67056"/>
                  </a:lnTo>
                  <a:lnTo>
                    <a:pt x="359791" y="57404"/>
                  </a:lnTo>
                  <a:lnTo>
                    <a:pt x="320421" y="35560"/>
                  </a:lnTo>
                  <a:lnTo>
                    <a:pt x="260350" y="12827"/>
                  </a:lnTo>
                  <a:lnTo>
                    <a:pt x="184277" y="0"/>
                  </a:lnTo>
                  <a:lnTo>
                    <a:pt x="109220" y="1270"/>
                  </a:lnTo>
                  <a:lnTo>
                    <a:pt x="50927" y="9652"/>
                  </a:lnTo>
                  <a:lnTo>
                    <a:pt x="13335" y="19050"/>
                  </a:lnTo>
                  <a:lnTo>
                    <a:pt x="0" y="23495"/>
                  </a:lnTo>
                  <a:lnTo>
                    <a:pt x="10795" y="33020"/>
                  </a:lnTo>
                  <a:lnTo>
                    <a:pt x="43180" y="54229"/>
                  </a:lnTo>
                  <a:lnTo>
                    <a:pt x="97409" y="76708"/>
                  </a:lnTo>
                  <a:lnTo>
                    <a:pt x="173990" y="8953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7563315" y="1080067"/>
            <a:ext cx="162610" cy="230903"/>
          </a:xfrm>
          <a:custGeom>
            <a:avLst/>
            <a:gdLst/>
            <a:ahLst/>
            <a:cxnLst/>
            <a:rect l="l" t="t" r="r" b="b"/>
            <a:pathLst>
              <a:path w="162610" h="230903">
                <a:moveTo>
                  <a:pt x="0" y="0"/>
                </a:moveTo>
                <a:lnTo>
                  <a:pt x="162610" y="0"/>
                </a:lnTo>
                <a:lnTo>
                  <a:pt x="162610" y="230903"/>
                </a:lnTo>
                <a:lnTo>
                  <a:pt x="0" y="23090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r="-290"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7604850" y="1252199"/>
            <a:ext cx="280670" cy="75565"/>
            <a:chOff x="0" y="0"/>
            <a:chExt cx="374227" cy="1007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3888" cy="100330"/>
            </a:xfrm>
            <a:custGeom>
              <a:avLst/>
              <a:gdLst/>
              <a:ahLst/>
              <a:cxnLst/>
              <a:rect l="l" t="t" r="r" b="b"/>
              <a:pathLst>
                <a:path w="373888" h="100330">
                  <a:moveTo>
                    <a:pt x="107188" y="100203"/>
                  </a:moveTo>
                  <a:lnTo>
                    <a:pt x="184658" y="94869"/>
                  </a:lnTo>
                  <a:lnTo>
                    <a:pt x="262763" y="75057"/>
                  </a:lnTo>
                  <a:lnTo>
                    <a:pt x="322453" y="52451"/>
                  </a:lnTo>
                  <a:lnTo>
                    <a:pt x="373888" y="26162"/>
                  </a:lnTo>
                  <a:lnTo>
                    <a:pt x="357886" y="20066"/>
                  </a:lnTo>
                  <a:lnTo>
                    <a:pt x="314325" y="8001"/>
                  </a:lnTo>
                  <a:lnTo>
                    <a:pt x="250571" y="0"/>
                  </a:lnTo>
                  <a:lnTo>
                    <a:pt x="173736" y="5334"/>
                  </a:lnTo>
                  <a:lnTo>
                    <a:pt x="100965" y="24130"/>
                  </a:lnTo>
                  <a:lnTo>
                    <a:pt x="46355" y="45847"/>
                  </a:lnTo>
                  <a:lnTo>
                    <a:pt x="11938" y="63754"/>
                  </a:lnTo>
                  <a:lnTo>
                    <a:pt x="0" y="71247"/>
                  </a:lnTo>
                  <a:lnTo>
                    <a:pt x="12700" y="77978"/>
                  </a:lnTo>
                  <a:lnTo>
                    <a:pt x="49149" y="91186"/>
                  </a:lnTo>
                  <a:lnTo>
                    <a:pt x="107188" y="1003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17679041" y="1105987"/>
            <a:ext cx="245478" cy="140612"/>
          </a:xfrm>
          <a:custGeom>
            <a:avLst/>
            <a:gdLst/>
            <a:ahLst/>
            <a:cxnLst/>
            <a:rect l="l" t="t" r="r" b="b"/>
            <a:pathLst>
              <a:path w="245478" h="140612">
                <a:moveTo>
                  <a:pt x="0" y="0"/>
                </a:moveTo>
                <a:lnTo>
                  <a:pt x="245478" y="0"/>
                </a:lnTo>
                <a:lnTo>
                  <a:pt x="245478" y="140612"/>
                </a:lnTo>
                <a:lnTo>
                  <a:pt x="0" y="14061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59" b="-3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7621199" y="339330"/>
            <a:ext cx="390525" cy="803275"/>
          </a:xfrm>
          <a:custGeom>
            <a:avLst/>
            <a:gdLst/>
            <a:ahLst/>
            <a:cxnLst/>
            <a:rect l="l" t="t" r="r" b="b"/>
            <a:pathLst>
              <a:path w="390525" h="803275">
                <a:moveTo>
                  <a:pt x="0" y="0"/>
                </a:moveTo>
                <a:lnTo>
                  <a:pt x="390525" y="0"/>
                </a:lnTo>
                <a:lnTo>
                  <a:pt x="390525" y="803275"/>
                </a:lnTo>
                <a:lnTo>
                  <a:pt x="0" y="80327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7321684" y="1423928"/>
            <a:ext cx="112071" cy="126802"/>
          </a:xfrm>
          <a:custGeom>
            <a:avLst/>
            <a:gdLst/>
            <a:ahLst/>
            <a:cxnLst/>
            <a:rect l="l" t="t" r="r" b="b"/>
            <a:pathLst>
              <a:path w="112071" h="126802">
                <a:moveTo>
                  <a:pt x="0" y="0"/>
                </a:moveTo>
                <a:lnTo>
                  <a:pt x="112071" y="0"/>
                </a:lnTo>
                <a:lnTo>
                  <a:pt x="112071" y="126802"/>
                </a:lnTo>
                <a:lnTo>
                  <a:pt x="0" y="12680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220" r="-2220"/>
            </a:stretch>
          </a:blipFill>
        </p:spPr>
      </p:sp>
      <p:grpSp>
        <p:nvGrpSpPr>
          <p:cNvPr id="29" name="Group 29"/>
          <p:cNvGrpSpPr/>
          <p:nvPr/>
        </p:nvGrpSpPr>
        <p:grpSpPr>
          <a:xfrm rot="0">
            <a:off x="16474160" y="744181"/>
            <a:ext cx="38100" cy="307340"/>
            <a:chOff x="0" y="0"/>
            <a:chExt cx="50800" cy="409787"/>
          </a:xfrm>
        </p:grpSpPr>
        <p:sp>
          <p:nvSpPr>
            <p:cNvPr id="30" name="Freeform 30"/>
            <p:cNvSpPr/>
            <p:nvPr/>
          </p:nvSpPr>
          <p:spPr>
            <a:xfrm>
              <a:off x="0" y="367665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9144" y="0"/>
              <a:ext cx="41529" cy="41529"/>
            </a:xfrm>
            <a:custGeom>
              <a:avLst/>
              <a:gdLst/>
              <a:ahLst/>
              <a:cxnLst/>
              <a:rect l="l" t="t" r="r" b="b"/>
              <a:pathLst>
                <a:path w="41529" h="41529">
                  <a:moveTo>
                    <a:pt x="41529" y="0"/>
                  </a:moveTo>
                  <a:lnTo>
                    <a:pt x="0" y="0"/>
                  </a:lnTo>
                  <a:lnTo>
                    <a:pt x="0" y="41529"/>
                  </a:lnTo>
                  <a:lnTo>
                    <a:pt x="41529" y="41529"/>
                  </a:lnTo>
                  <a:lnTo>
                    <a:pt x="4152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6947701" y="1390593"/>
            <a:ext cx="135917" cy="134319"/>
          </a:xfrm>
          <a:custGeom>
            <a:avLst/>
            <a:gdLst/>
            <a:ahLst/>
            <a:cxnLst/>
            <a:rect l="l" t="t" r="r" b="b"/>
            <a:pathLst>
              <a:path w="135917" h="134319">
                <a:moveTo>
                  <a:pt x="0" y="0"/>
                </a:moveTo>
                <a:lnTo>
                  <a:pt x="135917" y="0"/>
                </a:lnTo>
                <a:lnTo>
                  <a:pt x="135917" y="134319"/>
                </a:lnTo>
                <a:lnTo>
                  <a:pt x="0" y="1343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t="-594" b="-594"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209922" y="1570445"/>
            <a:ext cx="1592580" cy="157480"/>
            <a:chOff x="0" y="0"/>
            <a:chExt cx="2123440" cy="20997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23440" cy="209973"/>
            </a:xfrm>
            <a:custGeom>
              <a:avLst/>
              <a:gdLst/>
              <a:ahLst/>
              <a:cxnLst/>
              <a:rect l="l" t="t" r="r" b="b"/>
              <a:pathLst>
                <a:path w="2123440" h="209973">
                  <a:moveTo>
                    <a:pt x="0" y="0"/>
                  </a:moveTo>
                  <a:lnTo>
                    <a:pt x="2123440" y="0"/>
                  </a:lnTo>
                  <a:lnTo>
                    <a:pt x="2123440" y="209973"/>
                  </a:lnTo>
                  <a:lnTo>
                    <a:pt x="0" y="209973"/>
                  </a:lnTo>
                  <a:close/>
                </a:path>
              </a:pathLst>
            </a:custGeom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2123440" cy="21949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1020"/>
                </a:lnSpc>
              </a:pPr>
              <a:r>
                <a:rPr lang="en-US" sz="850" b="1" spc="-55">
                  <a:solidFill>
                    <a:srgbClr val="FFFFFF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Forum Of Data Science Engineers</a:t>
              </a:r>
              <a:endParaRPr lang="en-US" sz="850" b="1" spc="-55">
                <a:solidFill>
                  <a:srgbClr val="FFFFFF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2192139" y="2270630"/>
            <a:ext cx="650240" cy="278130"/>
            <a:chOff x="0" y="0"/>
            <a:chExt cx="866987" cy="370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66987" cy="370840"/>
            </a:xfrm>
            <a:custGeom>
              <a:avLst/>
              <a:gdLst/>
              <a:ahLst/>
              <a:cxnLst/>
              <a:rect l="l" t="t" r="r" b="b"/>
              <a:pathLst>
                <a:path w="866987" h="370840">
                  <a:moveTo>
                    <a:pt x="0" y="0"/>
                  </a:moveTo>
                  <a:lnTo>
                    <a:pt x="866987" y="0"/>
                  </a:lnTo>
                  <a:lnTo>
                    <a:pt x="866987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866987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4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ROLE</a:t>
              </a:r>
              <a:endParaRPr lang="en-US" sz="1800" b="1" spc="40">
                <a:solidFill>
                  <a:srgbClr val="000000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5647030" y="2270630"/>
            <a:ext cx="728980" cy="278130"/>
            <a:chOff x="0" y="0"/>
            <a:chExt cx="971973" cy="370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71973" cy="370840"/>
            </a:xfrm>
            <a:custGeom>
              <a:avLst/>
              <a:gdLst/>
              <a:ahLst/>
              <a:cxnLst/>
              <a:rect l="l" t="t" r="r" b="b"/>
              <a:pathLst>
                <a:path w="971973" h="370840">
                  <a:moveTo>
                    <a:pt x="0" y="0"/>
                  </a:moveTo>
                  <a:lnTo>
                    <a:pt x="971973" y="0"/>
                  </a:lnTo>
                  <a:lnTo>
                    <a:pt x="97197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97197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69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NAME</a:t>
              </a:r>
              <a:endParaRPr lang="en-US" sz="1800" b="1" spc="69">
                <a:solidFill>
                  <a:srgbClr val="000000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0">
            <a:off x="8702472" y="2270630"/>
            <a:ext cx="1736089" cy="278130"/>
            <a:chOff x="0" y="0"/>
            <a:chExt cx="2314785" cy="3708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314785" cy="370840"/>
            </a:xfrm>
            <a:custGeom>
              <a:avLst/>
              <a:gdLst/>
              <a:ahLst/>
              <a:cxnLst/>
              <a:rect l="l" t="t" r="r" b="b"/>
              <a:pathLst>
                <a:path w="2314785" h="370840">
                  <a:moveTo>
                    <a:pt x="0" y="0"/>
                  </a:moveTo>
                  <a:lnTo>
                    <a:pt x="2314785" y="0"/>
                  </a:lnTo>
                  <a:lnTo>
                    <a:pt x="2314785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4" name="TextBox 44"/>
            <p:cNvSpPr txBox="1"/>
            <p:nvPr/>
          </p:nvSpPr>
          <p:spPr>
            <a:xfrm>
              <a:off x="0" y="9525"/>
              <a:ext cx="2314785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-1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STREAM/DEPT</a:t>
              </a:r>
              <a:endParaRPr lang="en-US" sz="1800" b="1" spc="-10">
                <a:solidFill>
                  <a:srgbClr val="000000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 rot="0">
            <a:off x="12025685" y="2270630"/>
            <a:ext cx="648970" cy="278130"/>
            <a:chOff x="0" y="0"/>
            <a:chExt cx="865293" cy="3708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65293" cy="370840"/>
            </a:xfrm>
            <a:custGeom>
              <a:avLst/>
              <a:gdLst/>
              <a:ahLst/>
              <a:cxnLst/>
              <a:rect l="l" t="t" r="r" b="b"/>
              <a:pathLst>
                <a:path w="865293" h="370840">
                  <a:moveTo>
                    <a:pt x="0" y="0"/>
                  </a:moveTo>
                  <a:lnTo>
                    <a:pt x="865293" y="0"/>
                  </a:lnTo>
                  <a:lnTo>
                    <a:pt x="86529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47" name="TextBox 47"/>
            <p:cNvSpPr txBox="1"/>
            <p:nvPr/>
          </p:nvSpPr>
          <p:spPr>
            <a:xfrm>
              <a:off x="0" y="9525"/>
              <a:ext cx="86529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-2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YEAR</a:t>
              </a:r>
              <a:endParaRPr lang="en-US" sz="1800" b="1" spc="-20">
                <a:solidFill>
                  <a:srgbClr val="000000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0">
            <a:off x="14860261" y="2270630"/>
            <a:ext cx="1115695" cy="278130"/>
            <a:chOff x="0" y="0"/>
            <a:chExt cx="1487593" cy="3708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87593" cy="370840"/>
            </a:xfrm>
            <a:custGeom>
              <a:avLst/>
              <a:gdLst/>
              <a:ahLst/>
              <a:cxnLst/>
              <a:rect l="l" t="t" r="r" b="b"/>
              <a:pathLst>
                <a:path w="1487593" h="370840">
                  <a:moveTo>
                    <a:pt x="0" y="0"/>
                  </a:moveTo>
                  <a:lnTo>
                    <a:pt x="1487593" y="0"/>
                  </a:lnTo>
                  <a:lnTo>
                    <a:pt x="1487593" y="370840"/>
                  </a:lnTo>
                  <a:lnTo>
                    <a:pt x="0" y="370840"/>
                  </a:lnTo>
                  <a:close/>
                </a:path>
              </a:pathLst>
            </a:custGeom>
          </p:spPr>
        </p:sp>
        <p:sp>
          <p:nvSpPr>
            <p:cNvPr id="50" name="TextBox 50"/>
            <p:cNvSpPr txBox="1"/>
            <p:nvPr/>
          </p:nvSpPr>
          <p:spPr>
            <a:xfrm>
              <a:off x="0" y="9525"/>
              <a:ext cx="1487593" cy="361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095"/>
                </a:lnSpc>
              </a:pPr>
              <a:r>
                <a:rPr lang="en-US" sz="1800" b="1" spc="60">
                  <a:solidFill>
                    <a:srgbClr val="000000"/>
                  </a:solidFill>
                  <a:latin typeface="Tahoma Bold" panose="020B0804030504040204"/>
                  <a:ea typeface="Tahoma Bold" panose="020B0804030504040204"/>
                  <a:cs typeface="Tahoma Bold" panose="020B0804030504040204"/>
                  <a:sym typeface="Tahoma Bold" panose="020B0804030504040204"/>
                </a:rPr>
                <a:t>COLLEGE</a:t>
              </a:r>
              <a:endParaRPr lang="en-US" sz="1800" b="1" spc="60">
                <a:solidFill>
                  <a:srgbClr val="000000"/>
                </a:solidFill>
                <a:latin typeface="Tahoma Bold" panose="020B0804030504040204"/>
                <a:ea typeface="Tahoma Bold" panose="020B0804030504040204"/>
                <a:cs typeface="Tahoma Bold" panose="020B0804030504040204"/>
                <a:sym typeface="Tahoma Bold" panose="020B0804030504040204"/>
              </a:endParaRPr>
            </a:p>
          </p:txBody>
        </p:sp>
      </p:grpSp>
      <p:graphicFrame>
        <p:nvGraphicFramePr>
          <p:cNvPr id="51" name="Table 51"/>
          <p:cNvGraphicFramePr>
            <a:graphicFrameLocks noGrp="1"/>
          </p:cNvGraphicFramePr>
          <p:nvPr>
            <p:custDataLst>
              <p:tags r:id="rId20"/>
            </p:custDataLst>
          </p:nvPr>
        </p:nvGraphicFramePr>
        <p:xfrm>
          <a:off x="908050" y="1838325"/>
          <a:ext cx="16238220" cy="6996430"/>
        </p:xfrm>
        <a:graphic>
          <a:graphicData uri="http://schemas.openxmlformats.org/drawingml/2006/table">
            <a:tbl>
              <a:tblPr/>
              <a:tblGrid>
                <a:gridCol w="2869565"/>
                <a:gridCol w="4170680"/>
                <a:gridCol w="2997200"/>
                <a:gridCol w="2634615"/>
                <a:gridCol w="3566160"/>
              </a:tblGrid>
              <a:tr h="999490"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 Serial No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</a:t>
                      </a:r>
                      <a:r>
                        <a:rPr lang="en-IN" altLang="en-US" sz="3200"/>
                        <a:t>     Team Members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 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 </a:t>
                      </a:r>
                      <a:r>
                        <a:rPr lang="en-IN" altLang="en-US" sz="3600"/>
                        <a:t> Department</a:t>
                      </a:r>
                      <a:endParaRPr lang="en-IN" altLang="en-US" sz="36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</a:t>
                      </a:r>
                      <a:r>
                        <a:rPr lang="en-IN" altLang="en-US" sz="3200"/>
                        <a:t>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Register No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     Mobile No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    01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</a:t>
                      </a:r>
                      <a:r>
                        <a:rPr lang="en-IN" altLang="en-US" sz="3200"/>
                        <a:t>       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  Panimalar P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  </a:t>
                      </a:r>
                      <a:endParaRPr lang="en-IN" alt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3200"/>
                        <a:t>        AIDS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</a:t>
                      </a: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IN" alt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</a:t>
                      </a:r>
                      <a:r>
                        <a:rPr lang="en-IN" altLang="en-US" sz="2800"/>
                        <a:t>2127220502061</a:t>
                      </a:r>
                      <a:endParaRPr lang="en-IN" altLang="en-US" sz="28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just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</a:t>
                      </a:r>
                      <a:r>
                        <a:rPr lang="en-IN" altLang="en-US" sz="3200"/>
                        <a:t>   9445331197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02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Priyanka S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 AIDS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2800"/>
                        <a:t>    </a:t>
                      </a:r>
                      <a:r>
                        <a:rPr lang="en-IN" altLang="en-US" sz="2800">
                          <a:sym typeface="+mn-ea"/>
                        </a:rPr>
                        <a:t>              2127220502070   </a:t>
                      </a:r>
                      <a:endParaRPr lang="en-IN" altLang="en-US" sz="28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28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9940168359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03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Roshinee BVN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 </a:t>
                      </a:r>
                      <a:r>
                        <a:rPr lang="en-IN" altLang="en-US" sz="3200">
                          <a:sym typeface="+mn-ea"/>
                        </a:rPr>
                        <a:t>AIDS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</a:t>
                      </a:r>
                      <a:r>
                        <a:rPr lang="en-IN" altLang="en-US" sz="2800"/>
                        <a:t>     </a:t>
                      </a:r>
                      <a:r>
                        <a:rPr lang="en-IN" altLang="en-US" sz="2800">
                          <a:sym typeface="+mn-ea"/>
                        </a:rPr>
                        <a:t>   2127220502075</a:t>
                      </a:r>
                      <a:endParaRPr lang="en-IN" altLang="en-US" sz="28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28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9003619690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04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Varnamalika N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  </a:t>
                      </a:r>
                      <a:r>
                        <a:rPr lang="en-IN" altLang="en-US" sz="3200">
                          <a:sym typeface="+mn-ea"/>
                        </a:rPr>
                        <a:t>AIDS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2800">
                          <a:sym typeface="+mn-ea"/>
                        </a:rPr>
                        <a:t>      </a:t>
                      </a:r>
                      <a:r>
                        <a:rPr lang="en-IN" altLang="en-US" sz="2800">
                          <a:sym typeface="+mn-ea"/>
                        </a:rPr>
                        <a:t>   2127220502106</a:t>
                      </a:r>
                      <a:endParaRPr lang="en-IN" altLang="en-US" sz="28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28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28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9840895841</a:t>
                      </a:r>
                      <a:endParaRPr lang="en-IN" altLang="en-US" sz="3200"/>
                    </a:p>
                    <a:p>
                      <a:pPr algn="just">
                        <a:lnSpc>
                          <a:spcPts val="1680"/>
                        </a:lnSpc>
                        <a:buClrTx/>
                        <a:buSzTx/>
                        <a:buNone/>
                        <a:defRPr/>
                      </a:pPr>
                      <a:r>
                        <a:rPr lang="en-IN" altLang="en-US" sz="3200"/>
                        <a:t>      </a:t>
                      </a:r>
                      <a:endParaRPr lang="en-IN" altLang="en-US" sz="32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1680"/>
                        </a:lnSpc>
                        <a:defRPr/>
                      </a:pPr>
                      <a:r>
                        <a:rPr lang="en-IN" altLang="en-US" sz="1100"/>
                        <a:t>   </a:t>
                      </a:r>
                      <a:endParaRPr lang="en-IN" alt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99490"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t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2" name="Group 52"/>
          <p:cNvGrpSpPr/>
          <p:nvPr/>
        </p:nvGrpSpPr>
        <p:grpSpPr>
          <a:xfrm rot="0">
            <a:off x="1016000" y="276291"/>
            <a:ext cx="11351260" cy="926973"/>
            <a:chOff x="0" y="0"/>
            <a:chExt cx="15135013" cy="12359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135014" cy="1235964"/>
            </a:xfrm>
            <a:custGeom>
              <a:avLst/>
              <a:gdLst/>
              <a:ahLst/>
              <a:cxnLst/>
              <a:rect l="l" t="t" r="r" b="b"/>
              <a:pathLst>
                <a:path w="15135014" h="1235964">
                  <a:moveTo>
                    <a:pt x="0" y="0"/>
                  </a:moveTo>
                  <a:lnTo>
                    <a:pt x="15135014" y="0"/>
                  </a:lnTo>
                  <a:lnTo>
                    <a:pt x="15135014" y="1235964"/>
                  </a:lnTo>
                  <a:lnTo>
                    <a:pt x="0" y="1235964"/>
                  </a:lnTo>
                  <a:close/>
                </a:path>
              </a:pathLst>
            </a:custGeom>
          </p:spPr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5135013" cy="124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120"/>
                </a:lnSpc>
              </a:pPr>
              <a:r>
                <a:rPr lang="en-US" sz="5100" b="1" spc="305">
                  <a:solidFill>
                    <a:srgbClr val="FFFFFF"/>
                  </a:solidFill>
                  <a:latin typeface="Atkinson Hyperlegible Bold"/>
                  <a:ea typeface="Atkinson Hyperlegible Bold"/>
                  <a:cs typeface="Atkinson Hyperlegible Bold"/>
                  <a:sym typeface="Atkinson Hyperlegible Bold"/>
                </a:rPr>
                <a:t>TEAM DETAILS</a:t>
              </a:r>
              <a:endParaRPr lang="en-US" sz="5100" b="1" spc="305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endParaRPr>
            </a:p>
          </p:txBody>
        </p:sp>
      </p:grpSp>
      <p:sp>
        <p:nvSpPr>
          <p:cNvPr id="55" name="Freeform 55"/>
          <p:cNvSpPr/>
          <p:nvPr/>
        </p:nvSpPr>
        <p:spPr>
          <a:xfrm>
            <a:off x="13778250" y="8698621"/>
            <a:ext cx="4509748" cy="1588378"/>
          </a:xfrm>
          <a:custGeom>
            <a:avLst/>
            <a:gdLst/>
            <a:ahLst/>
            <a:cxnLst/>
            <a:rect l="l" t="t" r="r" b="b"/>
            <a:pathLst>
              <a:path w="4509748" h="1588378">
                <a:moveTo>
                  <a:pt x="0" y="0"/>
                </a:moveTo>
                <a:lnTo>
                  <a:pt x="4509748" y="0"/>
                </a:lnTo>
                <a:lnTo>
                  <a:pt x="4509748" y="1588378"/>
                </a:lnTo>
                <a:lnTo>
                  <a:pt x="0" y="158837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278*550"/>
  <p:tag name="TABLE_ENDDRAG_RECT" val="71*144*1278*55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3299</Words>
  <Application>WPS Presentation</Application>
  <PresentationFormat>On-screen Show (4:3)</PresentationFormat>
  <Paragraphs>185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Atkinson Hyperlegible</vt:lpstr>
      <vt:lpstr>Tahoma Bold</vt:lpstr>
      <vt:lpstr>Atkinson Hyperlegible Bold</vt:lpstr>
      <vt:lpstr>Verdana Pro</vt:lpstr>
      <vt:lpstr>Microsoft YaHei</vt:lpstr>
      <vt:lpstr>Arial Unicode MS</vt:lpstr>
      <vt:lpstr>Calibri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abstract-format (2).pptx</dc:title>
  <dc:creator/>
  <cp:lastModifiedBy>Panimalar</cp:lastModifiedBy>
  <cp:revision>3</cp:revision>
  <dcterms:created xsi:type="dcterms:W3CDTF">2006-08-16T00:00:00Z</dcterms:created>
  <dcterms:modified xsi:type="dcterms:W3CDTF">2026-03-11T11:33:42Z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ECB7789733BA4C9B8CCF3DAB2E21404F_13</vt:lpwstr>
  </property>
  <property fmtid="{D5CDD505-2E9C-101B-9397-08002B2CF9AE}" pid="3" name="KSOProductBuildVer">
    <vt:lpwstr>1033-12.2.0.23196</vt:lpwstr>
  </property>
</Properties>
</file>