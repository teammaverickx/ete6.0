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tkinson Hyperlegible" panose="020B0604020202020204" charset="0"/>
      <p:regular r:id="rId10"/>
    </p:embeddedFont>
    <p:embeddedFont>
      <p:font typeface="Atkinson Hyperlegible Bold" panose="020B0604020202020204" charset="0"/>
      <p:regular r:id="rId11"/>
    </p:embeddedFont>
    <p:embeddedFont>
      <p:font typeface="Tahoma Bold" panose="020B0804030504040204" pitchFamily="34" charset="0"/>
      <p:bold r:id="rId12"/>
    </p:embeddedFont>
    <p:embeddedFont>
      <p:font typeface="Verdana Pro" panose="020B0604030504040204" pitchFamily="34"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22" autoAdjust="0"/>
  </p:normalViewPr>
  <p:slideViewPr>
    <p:cSldViewPr>
      <p:cViewPr varScale="1">
        <p:scale>
          <a:sx n="59" d="100"/>
          <a:sy n="59" d="100"/>
        </p:scale>
        <p:origin x="49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svg"/></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5.jpe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7.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24.png"/><Relationship Id="rId21" Type="http://schemas.openxmlformats.org/officeDocument/2006/relationships/image" Target="../media/image23.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3.png"/><Relationship Id="rId3" Type="http://schemas.openxmlformats.org/officeDocument/2006/relationships/image" Target="../media/image24.png"/><Relationship Id="rId21" Type="http://schemas.openxmlformats.org/officeDocument/2006/relationships/hyperlink" Target="mailto:2025CS0846@SVCE.AC.IN" TargetMode="External"/><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hyperlink" Target="mailto:2025ad0936@svce.ac.in" TargetMode="External"/><Relationship Id="rId2" Type="http://schemas.openxmlformats.org/officeDocument/2006/relationships/image" Target="../media/image1.png"/><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hyperlink" Target="mailto:2025CS0234@SVCE.AC.IN" TargetMode="External"/><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hyperlink" Target="mailto:2025CS0869@SVCE.AC.IN" TargetMode="External"/><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hyperlink" Target="mailto:2025CS0851@SVCE.AC.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grpSp>
        <p:nvGrpSpPr>
          <p:cNvPr id="3" name="Group 3"/>
          <p:cNvGrpSpPr/>
          <p:nvPr/>
        </p:nvGrpSpPr>
        <p:grpSpPr>
          <a:xfrm>
            <a:off x="16423285" y="1390609"/>
            <a:ext cx="275590" cy="78740"/>
            <a:chOff x="0" y="0"/>
            <a:chExt cx="367453" cy="104987"/>
          </a:xfrm>
        </p:grpSpPr>
        <p:sp>
          <p:nvSpPr>
            <p:cNvPr id="4" name="Freeform 4"/>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5" name="Freeform 5"/>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3"/>
            <a:stretch>
              <a:fillRect l="-662" r="-662"/>
            </a:stretch>
          </a:blipFill>
        </p:spPr>
      </p:sp>
      <p:grpSp>
        <p:nvGrpSpPr>
          <p:cNvPr id="6" name="Group 6"/>
          <p:cNvGrpSpPr/>
          <p:nvPr/>
        </p:nvGrpSpPr>
        <p:grpSpPr>
          <a:xfrm>
            <a:off x="16288898" y="1340965"/>
            <a:ext cx="281305" cy="67310"/>
            <a:chOff x="0" y="0"/>
            <a:chExt cx="375073" cy="89747"/>
          </a:xfrm>
        </p:grpSpPr>
        <p:sp>
          <p:nvSpPr>
            <p:cNvPr id="7" name="Freeform 7"/>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8" name="Freeform 8"/>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4"/>
            <a:stretch>
              <a:fillRect t="-679" b="-679"/>
            </a:stretch>
          </a:blipFill>
        </p:spPr>
      </p:sp>
      <p:grpSp>
        <p:nvGrpSpPr>
          <p:cNvPr id="9" name="Group 9"/>
          <p:cNvGrpSpPr/>
          <p:nvPr/>
        </p:nvGrpSpPr>
        <p:grpSpPr>
          <a:xfrm>
            <a:off x="16144541" y="1251566"/>
            <a:ext cx="280670" cy="76200"/>
            <a:chOff x="0" y="0"/>
            <a:chExt cx="374227" cy="101600"/>
          </a:xfrm>
        </p:grpSpPr>
        <p:sp>
          <p:nvSpPr>
            <p:cNvPr id="10" name="Freeform 10"/>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1" name="Freeform 11"/>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5"/>
            <a:stretch>
              <a:fillRect t="-780" b="-780"/>
            </a:stretch>
          </a:blipFill>
        </p:spPr>
      </p:sp>
      <p:sp>
        <p:nvSpPr>
          <p:cNvPr id="12" name="Freeform 12"/>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8"/>
            <a:stretch>
              <a:fillRect t="-168" b="-168"/>
            </a:stretch>
          </a:blipFill>
        </p:spPr>
      </p:sp>
      <p:sp>
        <p:nvSpPr>
          <p:cNvPr id="14" name="Freeform 14"/>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9"/>
            <a:stretch>
              <a:fillRect/>
            </a:stretch>
          </a:blipFill>
        </p:spPr>
      </p:sp>
      <p:sp>
        <p:nvSpPr>
          <p:cNvPr id="15" name="Freeform 15"/>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Freeform 16"/>
          <p:cNvSpPr/>
          <p:nvPr/>
        </p:nvSpPr>
        <p:spPr>
          <a:xfrm>
            <a:off x="16711779" y="756411"/>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2"/>
            <a:stretch>
              <a:fillRect/>
            </a:stretch>
          </a:blipFill>
        </p:spPr>
      </p:sp>
      <p:grpSp>
        <p:nvGrpSpPr>
          <p:cNvPr id="17" name="Group 17"/>
          <p:cNvGrpSpPr/>
          <p:nvPr/>
        </p:nvGrpSpPr>
        <p:grpSpPr>
          <a:xfrm>
            <a:off x="17330812" y="1389182"/>
            <a:ext cx="274955" cy="79375"/>
            <a:chOff x="0" y="0"/>
            <a:chExt cx="366607" cy="105833"/>
          </a:xfrm>
        </p:grpSpPr>
        <p:sp>
          <p:nvSpPr>
            <p:cNvPr id="18" name="Freeform 18"/>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19" name="Freeform 19"/>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3"/>
            <a:stretch>
              <a:fillRect l="-138" r="-138"/>
            </a:stretch>
          </a:blipFill>
        </p:spPr>
      </p:sp>
      <p:grpSp>
        <p:nvGrpSpPr>
          <p:cNvPr id="20" name="Group 20"/>
          <p:cNvGrpSpPr/>
          <p:nvPr/>
        </p:nvGrpSpPr>
        <p:grpSpPr>
          <a:xfrm>
            <a:off x="17459738" y="1340632"/>
            <a:ext cx="280670" cy="67310"/>
            <a:chOff x="0" y="0"/>
            <a:chExt cx="374227" cy="89747"/>
          </a:xfrm>
        </p:grpSpPr>
        <p:sp>
          <p:nvSpPr>
            <p:cNvPr id="21" name="Freeform 21"/>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2" name="Freeform 22"/>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4"/>
            <a:stretch>
              <a:fillRect l="-290" r="-290"/>
            </a:stretch>
          </a:blipFill>
        </p:spPr>
      </p:sp>
      <p:grpSp>
        <p:nvGrpSpPr>
          <p:cNvPr id="23" name="Group 23"/>
          <p:cNvGrpSpPr/>
          <p:nvPr/>
        </p:nvGrpSpPr>
        <p:grpSpPr>
          <a:xfrm>
            <a:off x="17604850" y="1252199"/>
            <a:ext cx="280670" cy="75565"/>
            <a:chOff x="0" y="0"/>
            <a:chExt cx="374227" cy="100753"/>
          </a:xfrm>
        </p:grpSpPr>
        <p:sp>
          <p:nvSpPr>
            <p:cNvPr id="24" name="Freeform 24"/>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5" name="Freeform 25"/>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5"/>
            <a:stretch>
              <a:fillRect t="-359" b="-359"/>
            </a:stretch>
          </a:blipFill>
        </p:spPr>
      </p:sp>
      <p:sp>
        <p:nvSpPr>
          <p:cNvPr id="26" name="Freeform 26"/>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7" name="Freeform 27"/>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8"/>
            <a:stretch>
              <a:fillRect l="-2220" r="-2220"/>
            </a:stretch>
          </a:blipFill>
        </p:spPr>
      </p:sp>
      <p:grpSp>
        <p:nvGrpSpPr>
          <p:cNvPr id="28" name="Group 28"/>
          <p:cNvGrpSpPr/>
          <p:nvPr/>
        </p:nvGrpSpPr>
        <p:grpSpPr>
          <a:xfrm>
            <a:off x="16474160" y="744181"/>
            <a:ext cx="38100" cy="307340"/>
            <a:chOff x="0" y="0"/>
            <a:chExt cx="50800" cy="409787"/>
          </a:xfrm>
        </p:grpSpPr>
        <p:sp>
          <p:nvSpPr>
            <p:cNvPr id="29" name="Freeform 29"/>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0" name="Freeform 30"/>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1" name="Freeform 31"/>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19"/>
            <a:stretch>
              <a:fillRect t="-594" b="-594"/>
            </a:stretch>
          </a:blipFill>
        </p:spPr>
      </p:sp>
      <p:sp>
        <p:nvSpPr>
          <p:cNvPr id="32" name="Freeform 32"/>
          <p:cNvSpPr/>
          <p:nvPr/>
        </p:nvSpPr>
        <p:spPr>
          <a:xfrm>
            <a:off x="503593" y="410850"/>
            <a:ext cx="3181349" cy="1238249"/>
          </a:xfrm>
          <a:custGeom>
            <a:avLst/>
            <a:gdLst/>
            <a:ahLst/>
            <a:cxnLst/>
            <a:rect l="l" t="t" r="r" b="b"/>
            <a:pathLst>
              <a:path w="3181349" h="1238249">
                <a:moveTo>
                  <a:pt x="0" y="0"/>
                </a:moveTo>
                <a:lnTo>
                  <a:pt x="3181349" y="0"/>
                </a:lnTo>
                <a:lnTo>
                  <a:pt x="3181349" y="1238249"/>
                </a:lnTo>
                <a:lnTo>
                  <a:pt x="0" y="1238249"/>
                </a:lnTo>
                <a:lnTo>
                  <a:pt x="0" y="0"/>
                </a:lnTo>
                <a:close/>
              </a:path>
            </a:pathLst>
          </a:custGeom>
          <a:blipFill>
            <a:blip r:embed="rId20"/>
            <a:stretch>
              <a:fillRect t="-100" b="-100"/>
            </a:stretch>
          </a:blipFill>
        </p:spPr>
      </p:sp>
      <p:sp>
        <p:nvSpPr>
          <p:cNvPr id="33" name="Freeform 33"/>
          <p:cNvSpPr/>
          <p:nvPr/>
        </p:nvSpPr>
        <p:spPr>
          <a:xfrm>
            <a:off x="15942919" y="755877"/>
            <a:ext cx="175260" cy="374015"/>
          </a:xfrm>
          <a:custGeom>
            <a:avLst/>
            <a:gdLst/>
            <a:ahLst/>
            <a:cxnLst/>
            <a:rect l="l" t="t" r="r" b="b"/>
            <a:pathLst>
              <a:path w="175260" h="374015">
                <a:moveTo>
                  <a:pt x="0" y="0"/>
                </a:moveTo>
                <a:lnTo>
                  <a:pt x="175260" y="0"/>
                </a:lnTo>
                <a:lnTo>
                  <a:pt x="175260" y="374015"/>
                </a:lnTo>
                <a:lnTo>
                  <a:pt x="0" y="37401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34" name="Group 34"/>
          <p:cNvGrpSpPr/>
          <p:nvPr/>
        </p:nvGrpSpPr>
        <p:grpSpPr>
          <a:xfrm>
            <a:off x="16000425" y="699921"/>
            <a:ext cx="44450" cy="354965"/>
            <a:chOff x="0" y="0"/>
            <a:chExt cx="59267" cy="473287"/>
          </a:xfrm>
        </p:grpSpPr>
        <p:sp>
          <p:nvSpPr>
            <p:cNvPr id="35" name="Freeform 35"/>
            <p:cNvSpPr/>
            <p:nvPr/>
          </p:nvSpPr>
          <p:spPr>
            <a:xfrm>
              <a:off x="0" y="424815"/>
              <a:ext cx="47879" cy="47879"/>
            </a:xfrm>
            <a:custGeom>
              <a:avLst/>
              <a:gdLst/>
              <a:ahLst/>
              <a:cxnLst/>
              <a:rect l="l" t="t" r="r" b="b"/>
              <a:pathLst>
                <a:path w="47879" h="47879">
                  <a:moveTo>
                    <a:pt x="47879" y="0"/>
                  </a:moveTo>
                  <a:lnTo>
                    <a:pt x="0" y="0"/>
                  </a:lnTo>
                  <a:lnTo>
                    <a:pt x="0" y="47879"/>
                  </a:lnTo>
                  <a:lnTo>
                    <a:pt x="47879" y="47879"/>
                  </a:lnTo>
                  <a:lnTo>
                    <a:pt x="47879" y="0"/>
                  </a:lnTo>
                  <a:close/>
                </a:path>
              </a:pathLst>
            </a:custGeom>
            <a:solidFill>
              <a:srgbClr val="FFFFFF"/>
            </a:solidFill>
          </p:spPr>
        </p:sp>
        <p:sp>
          <p:nvSpPr>
            <p:cNvPr id="36" name="Freeform 36"/>
            <p:cNvSpPr/>
            <p:nvPr/>
          </p:nvSpPr>
          <p:spPr>
            <a:xfrm>
              <a:off x="10541" y="0"/>
              <a:ext cx="48006" cy="47879"/>
            </a:xfrm>
            <a:custGeom>
              <a:avLst/>
              <a:gdLst/>
              <a:ahLst/>
              <a:cxnLst/>
              <a:rect l="l" t="t" r="r" b="b"/>
              <a:pathLst>
                <a:path w="48006" h="47879">
                  <a:moveTo>
                    <a:pt x="48006" y="0"/>
                  </a:moveTo>
                  <a:lnTo>
                    <a:pt x="0" y="0"/>
                  </a:lnTo>
                  <a:lnTo>
                    <a:pt x="0" y="47879"/>
                  </a:lnTo>
                  <a:lnTo>
                    <a:pt x="48006" y="47879"/>
                  </a:lnTo>
                  <a:lnTo>
                    <a:pt x="48006" y="0"/>
                  </a:lnTo>
                  <a:close/>
                </a:path>
              </a:pathLst>
            </a:custGeom>
            <a:solidFill>
              <a:srgbClr val="FFFFFF"/>
            </a:solidFill>
          </p:spPr>
        </p:sp>
      </p:grpSp>
      <p:sp>
        <p:nvSpPr>
          <p:cNvPr id="37" name="Freeform 37"/>
          <p:cNvSpPr/>
          <p:nvPr/>
        </p:nvSpPr>
        <p:spPr>
          <a:xfrm>
            <a:off x="16547635" y="1446897"/>
            <a:ext cx="157062" cy="155217"/>
          </a:xfrm>
          <a:custGeom>
            <a:avLst/>
            <a:gdLst/>
            <a:ahLst/>
            <a:cxnLst/>
            <a:rect l="l" t="t" r="r" b="b"/>
            <a:pathLst>
              <a:path w="157062" h="155217">
                <a:moveTo>
                  <a:pt x="0" y="0"/>
                </a:moveTo>
                <a:lnTo>
                  <a:pt x="157062" y="0"/>
                </a:lnTo>
                <a:lnTo>
                  <a:pt x="157062" y="155217"/>
                </a:lnTo>
                <a:lnTo>
                  <a:pt x="0" y="155217"/>
                </a:lnTo>
                <a:lnTo>
                  <a:pt x="0" y="0"/>
                </a:lnTo>
                <a:close/>
              </a:path>
            </a:pathLst>
          </a:custGeom>
          <a:blipFill>
            <a:blip r:embed="rId23"/>
            <a:stretch>
              <a:fillRect l="-956" r="-956"/>
            </a:stretch>
          </a:blipFill>
        </p:spPr>
      </p:sp>
      <p:grpSp>
        <p:nvGrpSpPr>
          <p:cNvPr id="38" name="Group 38"/>
          <p:cNvGrpSpPr/>
          <p:nvPr/>
        </p:nvGrpSpPr>
        <p:grpSpPr>
          <a:xfrm>
            <a:off x="775160" y="2305075"/>
            <a:ext cx="16172541" cy="6686466"/>
            <a:chOff x="-643641" y="-2338327"/>
            <a:chExt cx="16729923" cy="8915288"/>
          </a:xfrm>
        </p:grpSpPr>
        <p:sp>
          <p:nvSpPr>
            <p:cNvPr id="39" name="Freeform 39"/>
            <p:cNvSpPr/>
            <p:nvPr/>
          </p:nvSpPr>
          <p:spPr>
            <a:xfrm>
              <a:off x="0" y="0"/>
              <a:ext cx="7304194" cy="5528733"/>
            </a:xfrm>
            <a:custGeom>
              <a:avLst/>
              <a:gdLst/>
              <a:ahLst/>
              <a:cxnLst/>
              <a:rect l="l" t="t" r="r" b="b"/>
              <a:pathLst>
                <a:path w="7304194" h="5528733">
                  <a:moveTo>
                    <a:pt x="0" y="0"/>
                  </a:moveTo>
                  <a:lnTo>
                    <a:pt x="7304194" y="0"/>
                  </a:lnTo>
                  <a:lnTo>
                    <a:pt x="7304194" y="5528733"/>
                  </a:lnTo>
                  <a:lnTo>
                    <a:pt x="0" y="5528733"/>
                  </a:lnTo>
                  <a:close/>
                </a:path>
              </a:pathLst>
            </a:custGeom>
          </p:spPr>
        </p:sp>
        <p:sp>
          <p:nvSpPr>
            <p:cNvPr id="40" name="TextBox 40"/>
            <p:cNvSpPr txBox="1"/>
            <p:nvPr/>
          </p:nvSpPr>
          <p:spPr>
            <a:xfrm>
              <a:off x="-643641" y="-2338327"/>
              <a:ext cx="16729923" cy="8915288"/>
            </a:xfrm>
            <a:prstGeom prst="rect">
              <a:avLst/>
            </a:prstGeom>
          </p:spPr>
          <p:txBody>
            <a:bodyPr lIns="0" tIns="0" rIns="0" bIns="0" rtlCol="0" anchor="t"/>
            <a:lstStyle/>
            <a:p>
              <a:pPr algn="l">
                <a:lnSpc>
                  <a:spcPts val="4800"/>
                </a:lnSpc>
              </a:pPr>
              <a:r>
                <a:rPr lang="en-US" sz="4000" spc="-20" dirty="0">
                  <a:solidFill>
                    <a:srgbClr val="FFFFFF"/>
                  </a:solidFill>
                  <a:latin typeface="Atkinson Hyperlegible"/>
                  <a:ea typeface="Atkinson Hyperlegible"/>
                  <a:cs typeface="Atkinson Hyperlegible"/>
                  <a:sym typeface="Atkinson Hyperlegible"/>
                </a:rPr>
                <a:t>TEAM NAME: NEXUS AURA</a:t>
              </a:r>
            </a:p>
            <a:p>
              <a:pPr algn="l">
                <a:lnSpc>
                  <a:spcPts val="10000"/>
                </a:lnSpc>
              </a:pPr>
              <a:r>
                <a:rPr lang="en-US" sz="4000" spc="-10" dirty="0">
                  <a:solidFill>
                    <a:srgbClr val="FFFFFF"/>
                  </a:solidFill>
                  <a:latin typeface="Atkinson Hyperlegible"/>
                  <a:ea typeface="Atkinson Hyperlegible"/>
                  <a:cs typeface="Atkinson Hyperlegible"/>
                  <a:sym typeface="Atkinson Hyperlegible"/>
                </a:rPr>
                <a:t>COLLEGE NAME: SRI VENKATESWARA COLLEGE OF ENGINEERING </a:t>
              </a:r>
            </a:p>
            <a:p>
              <a:pPr>
                <a:lnSpc>
                  <a:spcPct val="150000"/>
                </a:lnSpc>
              </a:pPr>
              <a:r>
                <a:rPr lang="en-US" sz="4000" spc="-10" dirty="0">
                  <a:solidFill>
                    <a:srgbClr val="FFFFFF"/>
                  </a:solidFill>
                  <a:latin typeface="Atkinson Hyperlegible"/>
                  <a:ea typeface="Atkinson Hyperlegible"/>
                  <a:cs typeface="Atkinson Hyperlegible"/>
                  <a:sym typeface="Atkinson Hyperlegible"/>
                </a:rPr>
                <a:t>PROBLEM STATEMENT: </a:t>
              </a:r>
              <a:endParaRPr lang="en-US" sz="2800" spc="-10" dirty="0">
                <a:solidFill>
                  <a:srgbClr val="FFFFFF"/>
                </a:solidFill>
                <a:latin typeface="Atkinson Hyperlegible"/>
                <a:ea typeface="Atkinson Hyperlegible"/>
                <a:cs typeface="Atkinson Hyperlegible"/>
                <a:sym typeface="Atkinson Hyperlegible"/>
              </a:endParaRPr>
            </a:p>
            <a:p>
              <a:pPr>
                <a:lnSpc>
                  <a:spcPct val="150000"/>
                </a:lnSpc>
              </a:pPr>
              <a:r>
                <a:rPr lang="en-US" sz="3200" spc="-10" dirty="0">
                  <a:solidFill>
                    <a:srgbClr val="FFFFFF"/>
                  </a:solidFill>
                  <a:latin typeface="Atkinson Hyperlegible" panose="020B0604020202020204" charset="0"/>
                  <a:ea typeface="Atkinson Hyperlegible"/>
                  <a:cs typeface="Atkinson Hyperlegible"/>
                  <a:sym typeface="Atkinson Hyperlegible"/>
                </a:rPr>
                <a:t>PEOPLE STORE IMPORTANT PERSONAL DOCUMENTS ACROSS DIFFERENT PLATFORMS LIKE EMAILS AND CLOUD DRIVES, MAKING THEM HARD TO MANAGE, AND DIFFICULT TO VERIFY. THERE IS A NEED FOR A SECURE AND INTELLIGENT DIGITAL VAULT THAT CAN ORGANIZE, PROTECT, AND VERIFY PERSONAL DOCUMENTS WHILE GIVING USERS FULL CONTROL OVER THEIR DATA.  </a:t>
              </a:r>
            </a:p>
          </p:txBody>
        </p:sp>
      </p:grpSp>
      <p:sp>
        <p:nvSpPr>
          <p:cNvPr id="41" name="Freeform 41"/>
          <p:cNvSpPr/>
          <p:nvPr/>
        </p:nvSpPr>
        <p:spPr>
          <a:xfrm>
            <a:off x="6231838" y="29194"/>
            <a:ext cx="5824323" cy="2051385"/>
          </a:xfrm>
          <a:custGeom>
            <a:avLst/>
            <a:gdLst/>
            <a:ahLst/>
            <a:cxnLst/>
            <a:rect l="l" t="t" r="r" b="b"/>
            <a:pathLst>
              <a:path w="5824323" h="2051385">
                <a:moveTo>
                  <a:pt x="0" y="0"/>
                </a:moveTo>
                <a:lnTo>
                  <a:pt x="5824324" y="0"/>
                </a:lnTo>
                <a:lnTo>
                  <a:pt x="5824324" y="2051384"/>
                </a:lnTo>
                <a:lnTo>
                  <a:pt x="0" y="2051384"/>
                </a:lnTo>
                <a:lnTo>
                  <a:pt x="0" y="0"/>
                </a:lnTo>
                <a:close/>
              </a:path>
            </a:pathLst>
          </a:custGeom>
          <a:blipFill>
            <a:blip r:embed="rId24"/>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Freeform 2"/>
          <p:cNvSpPr/>
          <p:nvPr/>
        </p:nvSpPr>
        <p:spPr>
          <a:xfrm>
            <a:off x="2756" y="327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12685" y="9048083"/>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016000" y="269147"/>
            <a:ext cx="11414630" cy="934117"/>
            <a:chOff x="0" y="-9525"/>
            <a:chExt cx="15219506" cy="1245489"/>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84493" y="-9525"/>
              <a:ext cx="15135013" cy="1245489"/>
            </a:xfrm>
            <a:prstGeom prst="rect">
              <a:avLst/>
            </a:prstGeom>
          </p:spPr>
          <p:txBody>
            <a:bodyPr lIns="0" tIns="0" rIns="0" bIns="0" rtlCol="0" anchor="t"/>
            <a:lstStyle/>
            <a:p>
              <a:pPr algn="l">
                <a:lnSpc>
                  <a:spcPts val="6120"/>
                </a:lnSpc>
              </a:pPr>
              <a:r>
                <a:rPr lang="en-US" sz="5100" b="1" spc="74" dirty="0">
                  <a:solidFill>
                    <a:srgbClr val="FFFFFF"/>
                  </a:solidFill>
                  <a:latin typeface="Atkinson Hyperlegible Bold"/>
                  <a:ea typeface="Atkinson Hyperlegible Bold"/>
                  <a:cs typeface="Atkinson Hyperlegible Bold"/>
                  <a:sym typeface="Atkinson Hyperlegible Bold"/>
                </a:rPr>
                <a:t>PROBLEM STATEMENT</a:t>
              </a:r>
            </a:p>
          </p:txBody>
        </p:sp>
      </p:grpSp>
      <p:sp>
        <p:nvSpPr>
          <p:cNvPr id="39" name="Freeform 39"/>
          <p:cNvSpPr/>
          <p:nvPr/>
        </p:nvSpPr>
        <p:spPr>
          <a:xfrm>
            <a:off x="14173200" y="8742589"/>
            <a:ext cx="4114798" cy="1544409"/>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3"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40" name="Content Placeholder 39"/>
          <p:cNvSpPr>
            <a:spLocks noGrp="1"/>
          </p:cNvSpPr>
          <p:nvPr>
            <p:ph idx="1"/>
          </p:nvPr>
        </p:nvSpPr>
        <p:spPr>
          <a:xfrm>
            <a:off x="457199" y="1593087"/>
            <a:ext cx="16730069" cy="7190148"/>
          </a:xfrm>
        </p:spPr>
        <p:txBody>
          <a:bodyPr>
            <a:normAutofit/>
          </a:bodyPr>
          <a:lstStyle/>
          <a:p>
            <a:pPr marL="0" indent="0">
              <a:buNone/>
            </a:pPr>
            <a:endParaRPr lang="en-US" sz="2800" dirty="0">
              <a:solidFill>
                <a:schemeClr val="bg1"/>
              </a:solidFill>
              <a:latin typeface="Atkinson Hyperlegible" panose="020B0604020202020204" charset="0"/>
            </a:endParaRPr>
          </a:p>
          <a:p>
            <a:r>
              <a:rPr lang="en-US" sz="2800" dirty="0">
                <a:solidFill>
                  <a:schemeClr val="bg1"/>
                </a:solidFill>
                <a:latin typeface="Atkinson Hyperlegible" panose="020B0604020202020204" charset="0"/>
              </a:rPr>
              <a:t>In today’s digital world, individuals store important personal documents such as certificates, identification documents, academic records, resumes, and contracts across multiple platforms like email, cloud drives, and messaging apps. This scattered storage leads to several challenges including poor organization, security risks, difficulty in document verification, and lack of control over personal data sharing.</a:t>
            </a:r>
          </a:p>
          <a:p>
            <a:endParaRPr lang="en-US" sz="2800" dirty="0">
              <a:solidFill>
                <a:schemeClr val="bg1"/>
              </a:solidFill>
              <a:latin typeface="Atkinson Hyperlegible" panose="020B0604020202020204" charset="0"/>
            </a:endParaRPr>
          </a:p>
          <a:p>
            <a:r>
              <a:rPr lang="en-US" sz="2800" dirty="0">
                <a:solidFill>
                  <a:schemeClr val="bg1"/>
                </a:solidFill>
                <a:latin typeface="Atkinson Hyperlegible" panose="020B0604020202020204" charset="0"/>
              </a:rPr>
              <a:t>Many existing storage systems focus only on file storage, but they do not provide intelligent features such as automated document understanding, secure verification, controlled sharing, and data ownership protection.</a:t>
            </a:r>
          </a:p>
          <a:p>
            <a:endParaRPr lang="en-US" sz="2800" dirty="0">
              <a:solidFill>
                <a:schemeClr val="bg1"/>
              </a:solidFill>
              <a:latin typeface="Atkinson Hyperlegible" panose="020B0604020202020204" charset="0"/>
            </a:endParaRPr>
          </a:p>
          <a:p>
            <a:r>
              <a:rPr lang="en-US" sz="2800" dirty="0">
                <a:solidFill>
                  <a:schemeClr val="bg1"/>
                </a:solidFill>
                <a:latin typeface="Atkinson Hyperlegible" panose="020B0604020202020204" charset="0"/>
              </a:rPr>
              <a:t>Therefore, there is a need for a secure, intelligent, and user-centric digital vault that allows individuals to store, organize, verify, and manage their digital identity and important documents in one place while ensuring privacy and authenticity.</a:t>
            </a:r>
            <a:endParaRPr lang="en-IN" sz="2800" dirty="0">
              <a:solidFill>
                <a:schemeClr val="bg1"/>
              </a:solidFill>
              <a:latin typeface="Atkinson Hyperlegible"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07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273050" y="9380979"/>
            <a:ext cx="1485900" cy="72287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411875" y="182715"/>
            <a:ext cx="11955386" cy="1020549"/>
            <a:chOff x="-805500" y="-124768"/>
            <a:chExt cx="15940514" cy="1360732"/>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805500" y="-124768"/>
              <a:ext cx="15135013" cy="1245489"/>
            </a:xfrm>
            <a:prstGeom prst="rect">
              <a:avLst/>
            </a:prstGeom>
          </p:spPr>
          <p:txBody>
            <a:bodyPr lIns="0" tIns="0" rIns="0" bIns="0" rtlCol="0" anchor="t"/>
            <a:lstStyle/>
            <a:p>
              <a:pPr algn="l">
                <a:lnSpc>
                  <a:spcPts val="6120"/>
                </a:lnSpc>
              </a:pPr>
              <a:r>
                <a:rPr lang="en-US" sz="5100" b="1" spc="305" dirty="0">
                  <a:solidFill>
                    <a:srgbClr val="FFFFFF"/>
                  </a:solidFill>
                  <a:latin typeface="Atkinson Hyperlegible Bold"/>
                  <a:ea typeface="Atkinson Hyperlegible Bold"/>
                  <a:cs typeface="Atkinson Hyperlegible Bold"/>
                  <a:sym typeface="Atkinson Hyperlegible Bold"/>
                </a:rPr>
                <a:t>SOLUTION</a:t>
              </a:r>
            </a:p>
            <a:p>
              <a:pPr algn="l">
                <a:lnSpc>
                  <a:spcPts val="6120"/>
                </a:lnSpc>
              </a:pPr>
              <a:endParaRPr lang="en-US" sz="5100" b="1" spc="305" dirty="0">
                <a:solidFill>
                  <a:srgbClr val="FFFFFF"/>
                </a:solidFill>
                <a:latin typeface="Atkinson Hyperlegible Bold"/>
                <a:ea typeface="Atkinson Hyperlegible Bold"/>
                <a:cs typeface="Atkinson Hyperlegible Bold"/>
                <a:sym typeface="Atkinson Hyperlegible Bold"/>
              </a:endParaRPr>
            </a:p>
            <a:p>
              <a:pPr algn="l">
                <a:lnSpc>
                  <a:spcPts val="6120"/>
                </a:lnSpc>
              </a:pPr>
              <a:endParaRPr lang="en-US" sz="2000" b="1" spc="305" dirty="0">
                <a:solidFill>
                  <a:srgbClr val="FFFFFF"/>
                </a:solidFill>
                <a:latin typeface="Atkinson Hyperlegible Bold"/>
                <a:ea typeface="Atkinson Hyperlegible Bold"/>
                <a:cs typeface="Atkinson Hyperlegible Bold"/>
                <a:sym typeface="Atkinson Hyperlegible Bold"/>
              </a:endParaRPr>
            </a:p>
          </p:txBody>
        </p:sp>
      </p:grpSp>
      <p:sp>
        <p:nvSpPr>
          <p:cNvPr id="39" name="Freeform 39"/>
          <p:cNvSpPr/>
          <p:nvPr/>
        </p:nvSpPr>
        <p:spPr>
          <a:xfrm>
            <a:off x="14239242" y="9091315"/>
            <a:ext cx="4038598" cy="1257299"/>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sp>
        <p:nvSpPr>
          <p:cNvPr id="42" name="Content Placeholder 41"/>
          <p:cNvSpPr>
            <a:spLocks noGrp="1"/>
          </p:cNvSpPr>
          <p:nvPr>
            <p:ph idx="1"/>
          </p:nvPr>
        </p:nvSpPr>
        <p:spPr>
          <a:xfrm>
            <a:off x="353173" y="1350445"/>
            <a:ext cx="16136560" cy="8370431"/>
          </a:xfrm>
        </p:spPr>
        <p:txBody>
          <a:bodyPr>
            <a:noAutofit/>
          </a:bodyPr>
          <a:lstStyle/>
          <a:p>
            <a:pPr marL="0" indent="0">
              <a:buNone/>
            </a:pPr>
            <a:r>
              <a:rPr lang="en-IN" sz="2800" b="1" dirty="0" err="1">
                <a:solidFill>
                  <a:schemeClr val="bg1"/>
                </a:solidFill>
                <a:latin typeface="Atkinson Hyperlegible" panose="020B0604020202020204" charset="0"/>
              </a:rPr>
              <a:t>Obscura</a:t>
            </a:r>
            <a:r>
              <a:rPr lang="en-IN" sz="2800" b="1" dirty="0">
                <a:solidFill>
                  <a:schemeClr val="bg1"/>
                </a:solidFill>
                <a:latin typeface="Atkinson Hyperlegible" panose="020B0604020202020204" charset="0"/>
              </a:rPr>
              <a:t> is an AI-powered secure digital identity vault that allows users to store, manage, and verify important personal documents in a centralized and secure platform.</a:t>
            </a:r>
          </a:p>
          <a:p>
            <a:endParaRPr lang="en-IN" sz="2800" b="1" dirty="0">
              <a:solidFill>
                <a:schemeClr val="bg1"/>
              </a:solidFill>
              <a:latin typeface="Atkinson Hyperlegible" panose="020B0604020202020204" charset="0"/>
            </a:endParaRPr>
          </a:p>
          <a:p>
            <a:pPr marL="0" indent="0">
              <a:buNone/>
            </a:pPr>
            <a:r>
              <a:rPr lang="en-IN" sz="2800" b="1" dirty="0">
                <a:solidFill>
                  <a:schemeClr val="bg1"/>
                </a:solidFill>
                <a:latin typeface="Atkinson Hyperlegible" panose="020B0604020202020204" charset="0"/>
              </a:rPr>
              <a:t>The system will  :</a:t>
            </a:r>
          </a:p>
          <a:p>
            <a:pPr marL="0" indent="0">
              <a:buNone/>
            </a:pPr>
            <a:r>
              <a:rPr lang="en-IN" sz="2800" b="1" dirty="0">
                <a:solidFill>
                  <a:schemeClr val="bg1"/>
                </a:solidFill>
                <a:latin typeface="Atkinson Hyperlegible" panose="020B0604020202020204" charset="0"/>
              </a:rPr>
              <a:t>• securely store sensitive documents using encryption </a:t>
            </a:r>
          </a:p>
          <a:p>
            <a:pPr marL="0" indent="0">
              <a:buNone/>
            </a:pPr>
            <a:r>
              <a:rPr lang="en-IN" sz="2800" b="1" dirty="0">
                <a:solidFill>
                  <a:schemeClr val="bg1"/>
                </a:solidFill>
                <a:latin typeface="Atkinson Hyperlegible" panose="020B0604020202020204" charset="0"/>
              </a:rPr>
              <a:t>• automatically </a:t>
            </a:r>
            <a:r>
              <a:rPr lang="en-IN" sz="2800" b="1" dirty="0" err="1">
                <a:solidFill>
                  <a:schemeClr val="bg1"/>
                </a:solidFill>
                <a:latin typeface="Atkinson Hyperlegible" panose="020B0604020202020204" charset="0"/>
              </a:rPr>
              <a:t>analyze</a:t>
            </a:r>
            <a:r>
              <a:rPr lang="en-IN" sz="2800" b="1" dirty="0">
                <a:solidFill>
                  <a:schemeClr val="bg1"/>
                </a:solidFill>
                <a:latin typeface="Atkinson Hyperlegible" panose="020B0604020202020204" charset="0"/>
              </a:rPr>
              <a:t> and categorize documents using AI </a:t>
            </a:r>
          </a:p>
          <a:p>
            <a:pPr marL="0" indent="0">
              <a:buNone/>
            </a:pPr>
            <a:r>
              <a:rPr lang="en-IN" sz="2800" b="1" dirty="0">
                <a:solidFill>
                  <a:schemeClr val="bg1"/>
                </a:solidFill>
                <a:latin typeface="Atkinson Hyperlegible" panose="020B0604020202020204" charset="0"/>
              </a:rPr>
              <a:t>• detect potential document tampering using cryptographic hashing</a:t>
            </a:r>
          </a:p>
          <a:p>
            <a:pPr marL="0" indent="0">
              <a:buNone/>
            </a:pPr>
            <a:r>
              <a:rPr lang="en-IN" sz="2800" b="1" dirty="0">
                <a:solidFill>
                  <a:schemeClr val="bg1"/>
                </a:solidFill>
                <a:latin typeface="Atkinson Hyperlegible" panose="020B0604020202020204" charset="0"/>
              </a:rPr>
              <a:t>• allow secure document sharing with controlled access</a:t>
            </a:r>
          </a:p>
          <a:p>
            <a:pPr marL="0" indent="0">
              <a:buNone/>
            </a:pPr>
            <a:r>
              <a:rPr lang="en-IN" sz="2800" b="1" dirty="0">
                <a:solidFill>
                  <a:schemeClr val="bg1"/>
                </a:solidFill>
                <a:latin typeface="Atkinson Hyperlegible" panose="020B0604020202020204" charset="0"/>
              </a:rPr>
              <a:t>• provide intelligent search to quickly find stored documents</a:t>
            </a:r>
          </a:p>
          <a:p>
            <a:pPr marL="0" indent="0">
              <a:buNone/>
            </a:pPr>
            <a:r>
              <a:rPr lang="en-IN" sz="2800" b="1" dirty="0">
                <a:solidFill>
                  <a:schemeClr val="bg1"/>
                </a:solidFill>
                <a:latin typeface="Atkinson Hyperlegible" panose="020B0604020202020204" charset="0"/>
              </a:rPr>
              <a:t>• automatically generate a professional resume, portfolio website (e.g., </a:t>
            </a:r>
            <a:r>
              <a:rPr lang="en-IN" sz="2800" b="1" dirty="0" err="1">
                <a:solidFill>
                  <a:schemeClr val="bg1"/>
                </a:solidFill>
                <a:latin typeface="Atkinson Hyperlegible" panose="020B0604020202020204" charset="0"/>
              </a:rPr>
              <a:t>portfolio.yourname.app</a:t>
            </a:r>
            <a:r>
              <a:rPr lang="en-IN" sz="2800" b="1" dirty="0">
                <a:solidFill>
                  <a:schemeClr val="bg1"/>
                </a:solidFill>
                <a:latin typeface="Atkinson Hyperlegible" panose="020B0604020202020204" charset="0"/>
              </a:rPr>
              <a:t>), and a LinkedIn-style profile summary from uploaded certificates, projects, and achievements</a:t>
            </a:r>
          </a:p>
          <a:p>
            <a:pPr marL="0" indent="0">
              <a:buNone/>
            </a:pPr>
            <a:endParaRPr lang="en-IN" sz="2800" b="1" dirty="0">
              <a:solidFill>
                <a:schemeClr val="bg1"/>
              </a:solidFill>
              <a:latin typeface="Atkinson Hyperlegible" panose="020B0604020202020204" charset="0"/>
            </a:endParaRPr>
          </a:p>
          <a:p>
            <a:pPr marL="0" indent="0">
              <a:buNone/>
            </a:pPr>
            <a:r>
              <a:rPr lang="en-IN" sz="2800" b="1" dirty="0">
                <a:solidFill>
                  <a:schemeClr val="bg1"/>
                </a:solidFill>
                <a:latin typeface="Atkinson Hyperlegible" panose="020B0604020202020204" charset="0"/>
              </a:rPr>
              <a:t>By combining AI, secure storage, and intelligent document processing, </a:t>
            </a:r>
            <a:r>
              <a:rPr lang="en-IN" sz="2800" b="1" dirty="0" err="1">
                <a:solidFill>
                  <a:schemeClr val="bg1"/>
                </a:solidFill>
                <a:latin typeface="Atkinson Hyperlegible" panose="020B0604020202020204" charset="0"/>
              </a:rPr>
              <a:t>Obscura</a:t>
            </a:r>
            <a:r>
              <a:rPr lang="en-IN" sz="2800" b="1" dirty="0">
                <a:solidFill>
                  <a:schemeClr val="bg1"/>
                </a:solidFill>
                <a:latin typeface="Atkinson Hyperlegible" panose="020B0604020202020204" charset="0"/>
              </a:rPr>
              <a:t> transforms simple document storage into a smart digital identity management platform that helps users both protect and showcase their achievements.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92075" y="8867889"/>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016000" y="276291"/>
            <a:ext cx="11351260" cy="926973"/>
            <a:chOff x="0" y="0"/>
            <a:chExt cx="15135013" cy="1235964"/>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0" y="-9525"/>
              <a:ext cx="15135013" cy="1245489"/>
            </a:xfrm>
            <a:prstGeom prst="rect">
              <a:avLst/>
            </a:prstGeom>
          </p:spPr>
          <p:txBody>
            <a:bodyPr lIns="0" tIns="0" rIns="0" bIns="0" rtlCol="0" anchor="t"/>
            <a:lstStyle/>
            <a:p>
              <a:pPr algn="l">
                <a:lnSpc>
                  <a:spcPts val="6120"/>
                </a:lnSpc>
              </a:pPr>
              <a:r>
                <a:rPr lang="en-US" sz="5100" b="1" spc="340">
                  <a:solidFill>
                    <a:srgbClr val="FFFFFF"/>
                  </a:solidFill>
                  <a:latin typeface="Atkinson Hyperlegible Bold"/>
                  <a:ea typeface="Atkinson Hyperlegible Bold"/>
                  <a:cs typeface="Atkinson Hyperlegible Bold"/>
                  <a:sym typeface="Atkinson Hyperlegible Bold"/>
                </a:rPr>
                <a:t>FLOW DIAGRAM</a:t>
              </a:r>
            </a:p>
          </p:txBody>
        </p:sp>
      </p:grpSp>
      <p:sp>
        <p:nvSpPr>
          <p:cNvPr id="39" name="Freeform 39"/>
          <p:cNvSpPr/>
          <p:nvPr/>
        </p:nvSpPr>
        <p:spPr>
          <a:xfrm>
            <a:off x="13575566" y="8293338"/>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pic>
        <p:nvPicPr>
          <p:cNvPr id="41" name="Picture 40"/>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716160" y="2173723"/>
            <a:ext cx="16023453" cy="5847759"/>
          </a:xfrm>
          <a:prstGeom prst="rect">
            <a:avLst/>
          </a:prstGeom>
          <a:ln>
            <a:noFill/>
          </a:ln>
          <a:effectLst>
            <a:softEdge rad="11250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480" y="-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3"/>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4"/>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5"/>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8"/>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9"/>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2"/>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3"/>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4"/>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5"/>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8"/>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19"/>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251611" y="128745"/>
            <a:ext cx="12115650" cy="1074519"/>
            <a:chOff x="-1019185" y="-196728"/>
            <a:chExt cx="16154199" cy="1432692"/>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1019185" y="-196728"/>
              <a:ext cx="13583718" cy="885165"/>
            </a:xfrm>
            <a:prstGeom prst="rect">
              <a:avLst/>
            </a:prstGeom>
          </p:spPr>
          <p:txBody>
            <a:bodyPr lIns="0" tIns="0" rIns="0" bIns="0" rtlCol="0" anchor="t"/>
            <a:lstStyle/>
            <a:p>
              <a:pPr algn="l">
                <a:lnSpc>
                  <a:spcPts val="6120"/>
                </a:lnSpc>
              </a:pPr>
              <a:r>
                <a:rPr lang="en-US" sz="5100" b="1" spc="125" dirty="0">
                  <a:solidFill>
                    <a:srgbClr val="FFFFFF"/>
                  </a:solidFill>
                  <a:latin typeface="Atkinson Hyperlegible Bold"/>
                  <a:ea typeface="Atkinson Hyperlegible Bold"/>
                  <a:cs typeface="Atkinson Hyperlegible Bold"/>
                  <a:sym typeface="Atkinson Hyperlegible Bold"/>
                </a:rPr>
                <a:t>TECHNICAL REQUIREMENTS</a:t>
              </a:r>
            </a:p>
          </p:txBody>
        </p:sp>
      </p:grpSp>
      <p:sp>
        <p:nvSpPr>
          <p:cNvPr id="39" name="Freeform 39"/>
          <p:cNvSpPr/>
          <p:nvPr/>
        </p:nvSpPr>
        <p:spPr>
          <a:xfrm>
            <a:off x="15163800" y="9391030"/>
            <a:ext cx="3124198" cy="895968"/>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0"/>
            <a:stretch>
              <a:fillRect/>
            </a:stretch>
          </a:blipFill>
        </p:spPr>
      </p:sp>
      <p:sp>
        <p:nvSpPr>
          <p:cNvPr id="42" name="Title 39"/>
          <p:cNvSpPr>
            <a:spLocks noGrp="1"/>
          </p:cNvSpPr>
          <p:nvPr>
            <p:ph idx="1"/>
          </p:nvPr>
        </p:nvSpPr>
        <p:spPr>
          <a:xfrm>
            <a:off x="330504" y="723564"/>
            <a:ext cx="18567096" cy="8352512"/>
          </a:xfrm>
        </p:spPr>
        <p:txBody>
          <a:bodyPr>
            <a:noAutofit/>
          </a:bodyPr>
          <a:lstStyle/>
          <a:p>
            <a:pPr marL="0" indent="0">
              <a:buNone/>
            </a:pPr>
            <a:endParaRPr lang="en-IN" sz="1100" dirty="0">
              <a:solidFill>
                <a:schemeClr val="bg1"/>
              </a:solidFill>
              <a:latin typeface="Atkinson Hyperlegible Bold" panose="020B0604020202020204" charset="0"/>
            </a:endParaRPr>
          </a:p>
          <a:p>
            <a:pPr marL="0" indent="0">
              <a:buNone/>
            </a:pPr>
            <a:r>
              <a:rPr lang="en-IN" sz="2400" dirty="0">
                <a:solidFill>
                  <a:schemeClr val="bg1"/>
                </a:solidFill>
                <a:latin typeface="Atkinson Hyperlegible Bold" panose="020B0604020202020204" charset="0"/>
              </a:rPr>
              <a:t>1. Frontend Technologies</a:t>
            </a:r>
          </a:p>
          <a:p>
            <a:pPr marL="0" indent="0">
              <a:buNone/>
            </a:pPr>
            <a:r>
              <a:rPr lang="en-IN" sz="2400" dirty="0">
                <a:solidFill>
                  <a:schemeClr val="bg1"/>
                </a:solidFill>
                <a:latin typeface="Atkinson Hyperlegible Bold" panose="020B0604020202020204" charset="0"/>
              </a:rPr>
              <a:t>HTML, CSS, and JavaScript for building the basic structure and styling of the web application.</a:t>
            </a:r>
          </a:p>
          <a:p>
            <a:pPr marL="0" indent="0">
              <a:buNone/>
            </a:pPr>
            <a:r>
              <a:rPr lang="en-IN" sz="2400" dirty="0">
                <a:solidFill>
                  <a:schemeClr val="bg1"/>
                </a:solidFill>
                <a:latin typeface="Atkinson Hyperlegible Bold" panose="020B0604020202020204" charset="0"/>
              </a:rPr>
              <a:t>React.js to create a responsive and interactive user interface for document management and user interaction.</a:t>
            </a:r>
          </a:p>
          <a:p>
            <a:pPr marL="0" indent="0">
              <a:buNone/>
            </a:pPr>
            <a:endParaRPr lang="en-IN" sz="2400" dirty="0">
              <a:solidFill>
                <a:schemeClr val="bg1"/>
              </a:solidFill>
              <a:latin typeface="Atkinson Hyperlegible Bold" panose="020B0604020202020204" charset="0"/>
            </a:endParaRPr>
          </a:p>
          <a:p>
            <a:pPr marL="0" indent="0">
              <a:buNone/>
            </a:pPr>
            <a:r>
              <a:rPr lang="en-IN" sz="2400" dirty="0">
                <a:solidFill>
                  <a:schemeClr val="bg1"/>
                </a:solidFill>
                <a:latin typeface="Atkinson Hyperlegible Bold" panose="020B0604020202020204" charset="0"/>
              </a:rPr>
              <a:t>2. Backend Technologies</a:t>
            </a:r>
          </a:p>
          <a:p>
            <a:pPr marL="0" indent="0">
              <a:buNone/>
            </a:pPr>
            <a:r>
              <a:rPr lang="en-IN" sz="2400" dirty="0">
                <a:solidFill>
                  <a:schemeClr val="bg1"/>
                </a:solidFill>
                <a:latin typeface="Atkinson Hyperlegible Bold" panose="020B0604020202020204" charset="0"/>
              </a:rPr>
              <a:t>Node.js  to develop the server-side logic.</a:t>
            </a:r>
          </a:p>
          <a:p>
            <a:pPr marL="0" indent="0">
              <a:buNone/>
            </a:pPr>
            <a:r>
              <a:rPr lang="en-IN" sz="2400" dirty="0">
                <a:solidFill>
                  <a:schemeClr val="bg1"/>
                </a:solidFill>
                <a:latin typeface="Atkinson Hyperlegible Bold" panose="020B0604020202020204" charset="0"/>
              </a:rPr>
              <a:t>Handles user authentication, document processing, API integration, and communication with the database and </a:t>
            </a:r>
            <a:r>
              <a:rPr lang="en-IN" sz="2400" dirty="0" err="1">
                <a:solidFill>
                  <a:schemeClr val="bg1"/>
                </a:solidFill>
                <a:latin typeface="Atkinson Hyperlegible Bold" panose="020B0604020202020204" charset="0"/>
              </a:rPr>
              <a:t>blockchain</a:t>
            </a:r>
            <a:r>
              <a:rPr lang="en-IN" sz="2400" dirty="0">
                <a:solidFill>
                  <a:schemeClr val="bg1"/>
                </a:solidFill>
                <a:latin typeface="Atkinson Hyperlegible Bold" panose="020B0604020202020204" charset="0"/>
              </a:rPr>
              <a:t> network.</a:t>
            </a:r>
          </a:p>
          <a:p>
            <a:pPr marL="0" indent="0">
              <a:buNone/>
            </a:pPr>
            <a:endParaRPr lang="en-IN" sz="2400" dirty="0">
              <a:solidFill>
                <a:schemeClr val="bg1"/>
              </a:solidFill>
              <a:latin typeface="Atkinson Hyperlegible Bold" panose="020B0604020202020204" charset="0"/>
            </a:endParaRPr>
          </a:p>
          <a:p>
            <a:pPr marL="0" indent="0">
              <a:buNone/>
            </a:pPr>
            <a:r>
              <a:rPr lang="en-IN" sz="2400" dirty="0">
                <a:solidFill>
                  <a:schemeClr val="bg1"/>
                </a:solidFill>
                <a:latin typeface="Atkinson Hyperlegible Bold" panose="020B0604020202020204" charset="0"/>
              </a:rPr>
              <a:t>3. Database &amp; Cloud Storage</a:t>
            </a:r>
          </a:p>
          <a:p>
            <a:pPr marL="0" indent="0">
              <a:buNone/>
            </a:pPr>
            <a:r>
              <a:rPr lang="en-IN" sz="2400" dirty="0" err="1">
                <a:solidFill>
                  <a:schemeClr val="bg1"/>
                </a:solidFill>
                <a:latin typeface="Atkinson Hyperlegible Bold" panose="020B0604020202020204" charset="0"/>
              </a:rPr>
              <a:t>MongoDB</a:t>
            </a:r>
            <a:r>
              <a:rPr lang="en-IN" sz="2400" dirty="0">
                <a:solidFill>
                  <a:schemeClr val="bg1"/>
                </a:solidFill>
                <a:latin typeface="Atkinson Hyperlegible Bold" panose="020B0604020202020204" charset="0"/>
              </a:rPr>
              <a:t> / Firebase for storing user information and document metadata.</a:t>
            </a:r>
          </a:p>
          <a:p>
            <a:pPr marL="0" indent="0">
              <a:buNone/>
            </a:pPr>
            <a:r>
              <a:rPr lang="en-IN" sz="2400" dirty="0">
                <a:solidFill>
                  <a:schemeClr val="bg1"/>
                </a:solidFill>
                <a:latin typeface="Atkinson Hyperlegible Bold" panose="020B0604020202020204" charset="0"/>
              </a:rPr>
              <a:t>Cloud storage services for securely storing uploaded documents and enabling scalable data management.</a:t>
            </a:r>
          </a:p>
          <a:p>
            <a:pPr marL="0" indent="0">
              <a:buNone/>
            </a:pPr>
            <a:endParaRPr lang="en-IN" sz="2400" dirty="0">
              <a:solidFill>
                <a:schemeClr val="bg1"/>
              </a:solidFill>
              <a:latin typeface="Atkinson Hyperlegible Bold" panose="020B0604020202020204" charset="0"/>
            </a:endParaRPr>
          </a:p>
          <a:p>
            <a:pPr marL="0" indent="0">
              <a:buNone/>
            </a:pPr>
            <a:r>
              <a:rPr lang="en-IN" sz="2400" dirty="0">
                <a:solidFill>
                  <a:schemeClr val="bg1"/>
                </a:solidFill>
                <a:latin typeface="Atkinson Hyperlegible Bold" panose="020B0604020202020204" charset="0"/>
              </a:rPr>
              <a:t>4. Artificial Intelligence Integration</a:t>
            </a:r>
          </a:p>
          <a:p>
            <a:pPr marL="0" indent="0">
              <a:buNone/>
            </a:pPr>
            <a:r>
              <a:rPr lang="en-IN" sz="2400" dirty="0">
                <a:solidFill>
                  <a:schemeClr val="bg1"/>
                </a:solidFill>
                <a:latin typeface="Atkinson Hyperlegible Bold" panose="020B0604020202020204" charset="0"/>
              </a:rPr>
              <a:t>Machine Learning algorithms for automatic document categorization and organization.</a:t>
            </a:r>
          </a:p>
          <a:p>
            <a:pPr marL="0" indent="0">
              <a:buNone/>
            </a:pPr>
            <a:r>
              <a:rPr lang="en-IN" sz="2400" dirty="0">
                <a:solidFill>
                  <a:schemeClr val="bg1"/>
                </a:solidFill>
                <a:latin typeface="Atkinson Hyperlegible Bold" panose="020B0604020202020204" charset="0"/>
              </a:rPr>
              <a:t>OCR (Optical Character Recognition) technology to extract text from uploaded documents for indexing and search functionality.</a:t>
            </a:r>
          </a:p>
          <a:p>
            <a:pPr marL="0" indent="0">
              <a:buNone/>
            </a:pPr>
            <a:endParaRPr lang="en-IN" sz="2400" dirty="0">
              <a:solidFill>
                <a:schemeClr val="bg1"/>
              </a:solidFill>
              <a:latin typeface="Atkinson Hyperlegible Bold" panose="020B0604020202020204" charset="0"/>
            </a:endParaRPr>
          </a:p>
          <a:p>
            <a:pPr marL="0" indent="0">
              <a:buNone/>
            </a:pPr>
            <a:r>
              <a:rPr lang="en-IN" sz="2400" dirty="0">
                <a:solidFill>
                  <a:schemeClr val="bg1"/>
                </a:solidFill>
                <a:latin typeface="Atkinson Hyperlegible Bold" panose="020B0604020202020204" charset="0"/>
              </a:rPr>
              <a:t>5. </a:t>
            </a:r>
            <a:r>
              <a:rPr lang="en-IN" sz="2400" dirty="0" err="1">
                <a:solidFill>
                  <a:schemeClr val="bg1"/>
                </a:solidFill>
                <a:latin typeface="Atkinson Hyperlegible Bold" panose="020B0604020202020204" charset="0"/>
              </a:rPr>
              <a:t>Blockchain</a:t>
            </a:r>
            <a:r>
              <a:rPr lang="en-IN" sz="2400" dirty="0">
                <a:solidFill>
                  <a:schemeClr val="bg1"/>
                </a:solidFill>
                <a:latin typeface="Atkinson Hyperlegible Bold" panose="020B0604020202020204" charset="0"/>
              </a:rPr>
              <a:t> Security</a:t>
            </a:r>
          </a:p>
          <a:p>
            <a:pPr marL="0" indent="0">
              <a:buNone/>
            </a:pPr>
            <a:r>
              <a:rPr lang="en-IN" sz="2400" dirty="0" err="1">
                <a:solidFill>
                  <a:schemeClr val="bg1"/>
                </a:solidFill>
                <a:latin typeface="Atkinson Hyperlegible Bold" panose="020B0604020202020204" charset="0"/>
              </a:rPr>
              <a:t>Blockchain</a:t>
            </a:r>
            <a:r>
              <a:rPr lang="en-IN" sz="2400" dirty="0">
                <a:solidFill>
                  <a:schemeClr val="bg1"/>
                </a:solidFill>
                <a:latin typeface="Atkinson Hyperlegible Bold" panose="020B0604020202020204" charset="0"/>
              </a:rPr>
              <a:t> network to store document hashes, ensuring tamper-proof verification of documents.</a:t>
            </a:r>
          </a:p>
          <a:p>
            <a:pPr marL="0" indent="0">
              <a:buNone/>
            </a:pPr>
            <a:r>
              <a:rPr lang="en-IN" sz="2400" dirty="0">
                <a:solidFill>
                  <a:schemeClr val="bg1"/>
                </a:solidFill>
                <a:latin typeface="Atkinson Hyperlegible Bold" panose="020B0604020202020204" charset="0"/>
              </a:rPr>
              <a:t>Smart contracts to enable secure and transparent document validation.</a:t>
            </a:r>
          </a:p>
          <a:p>
            <a:pPr marL="0" indent="0">
              <a:buNone/>
            </a:pPr>
            <a:endParaRPr lang="en-IN" sz="2000" dirty="0">
              <a:solidFill>
                <a:schemeClr val="bg1"/>
              </a:solidFill>
              <a:latin typeface="Atkinson Hyperlegible Bold" panose="020B06040202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237524" y="9101136"/>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016000" y="276291"/>
            <a:ext cx="11351260" cy="926973"/>
            <a:chOff x="0" y="0"/>
            <a:chExt cx="15135013" cy="1235964"/>
          </a:xfrm>
        </p:grpSpPr>
        <p:sp>
          <p:nvSpPr>
            <p:cNvPr id="37" name="Freeform 37"/>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38" name="TextBox 38"/>
            <p:cNvSpPr txBox="1"/>
            <p:nvPr/>
          </p:nvSpPr>
          <p:spPr>
            <a:xfrm>
              <a:off x="0" y="-9525"/>
              <a:ext cx="15135013" cy="1245489"/>
            </a:xfrm>
            <a:prstGeom prst="rect">
              <a:avLst/>
            </a:prstGeom>
          </p:spPr>
          <p:txBody>
            <a:bodyPr lIns="0" tIns="0" rIns="0" bIns="0" rtlCol="0" anchor="t"/>
            <a:lstStyle/>
            <a:p>
              <a:pPr algn="l">
                <a:lnSpc>
                  <a:spcPts val="6120"/>
                </a:lnSpc>
              </a:pPr>
              <a:r>
                <a:rPr lang="en-US" sz="5100" b="1" spc="165" dirty="0">
                  <a:solidFill>
                    <a:srgbClr val="FFFFFF"/>
                  </a:solidFill>
                  <a:latin typeface="Atkinson Hyperlegible Bold"/>
                  <a:ea typeface="Atkinson Hyperlegible Bold"/>
                  <a:cs typeface="Atkinson Hyperlegible Bold"/>
                  <a:sym typeface="Atkinson Hyperlegible Bold"/>
                </a:rPr>
                <a:t>NOVELTY / USE CASE</a:t>
              </a:r>
            </a:p>
          </p:txBody>
        </p:sp>
      </p:grpSp>
      <p:sp>
        <p:nvSpPr>
          <p:cNvPr id="39" name="Freeform 39"/>
          <p:cNvSpPr/>
          <p:nvPr/>
        </p:nvSpPr>
        <p:spPr>
          <a:xfrm>
            <a:off x="14463644" y="9034801"/>
            <a:ext cx="3843717" cy="1409699"/>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txBody>
          <a:bodyPr/>
          <a:lstStyle/>
          <a:p>
            <a:endParaRPr lang="en-IN" dirty="0"/>
          </a:p>
        </p:txBody>
      </p:sp>
      <p:pic>
        <p:nvPicPr>
          <p:cNvPr id="40" name="Picture 39"/>
          <p:cNvPicPr>
            <a:picLocks noChangeAspect="1"/>
          </p:cNvPicPr>
          <p:nvPr/>
        </p:nvPicPr>
        <p:blipFill rotWithShape="1">
          <a:blip r:embed="rId22">
            <a:extLst>
              <a:ext uri="{28A0092B-C50C-407E-A947-70E740481C1C}">
                <a14:useLocalDpi xmlns:a14="http://schemas.microsoft.com/office/drawing/2010/main" val="0"/>
              </a:ext>
            </a:extLst>
          </a:blip>
          <a:srcRect l="3409" r="712" b="7246"/>
          <a:stretch/>
        </p:blipFill>
        <p:spPr>
          <a:xfrm>
            <a:off x="9242674" y="2117747"/>
            <a:ext cx="8345901" cy="7075493"/>
          </a:xfrm>
          <a:prstGeom prst="rect">
            <a:avLst/>
          </a:prstGeom>
        </p:spPr>
      </p:pic>
      <p:pic>
        <p:nvPicPr>
          <p:cNvPr id="41" name="Picture 40"/>
          <p:cNvPicPr>
            <a:picLocks noChangeAspect="1"/>
          </p:cNvPicPr>
          <p:nvPr/>
        </p:nvPicPr>
        <p:blipFill rotWithShape="1">
          <a:blip r:embed="rId23">
            <a:extLst>
              <a:ext uri="{28A0092B-C50C-407E-A947-70E740481C1C}">
                <a14:useLocalDpi xmlns:a14="http://schemas.microsoft.com/office/drawing/2010/main" val="0"/>
              </a:ext>
            </a:extLst>
          </a:blip>
          <a:srcRect r="1599" b="6588"/>
          <a:stretch/>
        </p:blipFill>
        <p:spPr>
          <a:xfrm>
            <a:off x="410694" y="2136112"/>
            <a:ext cx="8305135" cy="69650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134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14964909" y="9845112"/>
            <a:ext cx="2734944" cy="231775"/>
            <a:chOff x="0" y="0"/>
            <a:chExt cx="3646592" cy="309033"/>
          </a:xfrm>
        </p:grpSpPr>
        <p:sp>
          <p:nvSpPr>
            <p:cNvPr id="37" name="Freeform 37"/>
            <p:cNvSpPr/>
            <p:nvPr/>
          </p:nvSpPr>
          <p:spPr>
            <a:xfrm>
              <a:off x="0" y="0"/>
              <a:ext cx="3646592" cy="309033"/>
            </a:xfrm>
            <a:custGeom>
              <a:avLst/>
              <a:gdLst/>
              <a:ahLst/>
              <a:cxnLst/>
              <a:rect l="l" t="t" r="r" b="b"/>
              <a:pathLst>
                <a:path w="3646592" h="309033">
                  <a:moveTo>
                    <a:pt x="0" y="0"/>
                  </a:moveTo>
                  <a:lnTo>
                    <a:pt x="3646592" y="0"/>
                  </a:lnTo>
                  <a:lnTo>
                    <a:pt x="3646592" y="309033"/>
                  </a:lnTo>
                  <a:lnTo>
                    <a:pt x="0" y="309033"/>
                  </a:lnTo>
                  <a:close/>
                </a:path>
              </a:pathLst>
            </a:custGeom>
          </p:spPr>
        </p:sp>
        <p:sp>
          <p:nvSpPr>
            <p:cNvPr id="38" name="TextBox 38"/>
            <p:cNvSpPr txBox="1"/>
            <p:nvPr/>
          </p:nvSpPr>
          <p:spPr>
            <a:xfrm>
              <a:off x="0" y="0"/>
              <a:ext cx="3646592" cy="309033"/>
            </a:xfrm>
            <a:prstGeom prst="rect">
              <a:avLst/>
            </a:prstGeom>
          </p:spPr>
          <p:txBody>
            <a:bodyPr lIns="0" tIns="0" rIns="0" bIns="0" rtlCol="0" anchor="t"/>
            <a:lstStyle/>
            <a:p>
              <a:pPr algn="l">
                <a:lnSpc>
                  <a:spcPts val="960"/>
                </a:lnSpc>
              </a:pPr>
              <a:r>
                <a:rPr lang="en-US" sz="800" spc="80">
                  <a:solidFill>
                    <a:srgbClr val="FFFFFF"/>
                  </a:solidFill>
                  <a:latin typeface="Verdana Pro"/>
                  <a:ea typeface="Verdana Pro"/>
                  <a:cs typeface="Verdana Pro"/>
                  <a:sym typeface="Verdana Pro"/>
                </a:rPr>
                <a:t>D E S I G N  .  D E V E L O P  .  D E P L O Y</a:t>
              </a:r>
            </a:p>
          </p:txBody>
        </p:sp>
      </p:grpSp>
      <p:grpSp>
        <p:nvGrpSpPr>
          <p:cNvPr id="39" name="Group 39"/>
          <p:cNvGrpSpPr/>
          <p:nvPr/>
        </p:nvGrpSpPr>
        <p:grpSpPr>
          <a:xfrm>
            <a:off x="1016000" y="276291"/>
            <a:ext cx="13395683" cy="926973"/>
            <a:chOff x="0" y="0"/>
            <a:chExt cx="17860910" cy="1235964"/>
          </a:xfrm>
        </p:grpSpPr>
        <p:sp>
          <p:nvSpPr>
            <p:cNvPr id="40" name="Freeform 40"/>
            <p:cNvSpPr/>
            <p:nvPr/>
          </p:nvSpPr>
          <p:spPr>
            <a:xfrm>
              <a:off x="0" y="0"/>
              <a:ext cx="17860911" cy="1235964"/>
            </a:xfrm>
            <a:custGeom>
              <a:avLst/>
              <a:gdLst/>
              <a:ahLst/>
              <a:cxnLst/>
              <a:rect l="l" t="t" r="r" b="b"/>
              <a:pathLst>
                <a:path w="17860911" h="1235964">
                  <a:moveTo>
                    <a:pt x="0" y="0"/>
                  </a:moveTo>
                  <a:lnTo>
                    <a:pt x="17860911" y="0"/>
                  </a:lnTo>
                  <a:lnTo>
                    <a:pt x="17860911" y="1235964"/>
                  </a:lnTo>
                  <a:lnTo>
                    <a:pt x="0" y="1235964"/>
                  </a:lnTo>
                  <a:close/>
                </a:path>
              </a:pathLst>
            </a:custGeom>
          </p:spPr>
        </p:sp>
        <p:sp>
          <p:nvSpPr>
            <p:cNvPr id="41" name="TextBox 41"/>
            <p:cNvSpPr txBox="1"/>
            <p:nvPr/>
          </p:nvSpPr>
          <p:spPr>
            <a:xfrm>
              <a:off x="0" y="-9525"/>
              <a:ext cx="17860910" cy="1245489"/>
            </a:xfrm>
            <a:prstGeom prst="rect">
              <a:avLst/>
            </a:prstGeom>
          </p:spPr>
          <p:txBody>
            <a:bodyPr lIns="0" tIns="0" rIns="0" bIns="0" rtlCol="0" anchor="t"/>
            <a:lstStyle/>
            <a:p>
              <a:pPr algn="l">
                <a:lnSpc>
                  <a:spcPts val="6120"/>
                </a:lnSpc>
              </a:pPr>
              <a:r>
                <a:rPr lang="en-US" sz="5100" b="1" spc="315">
                  <a:solidFill>
                    <a:srgbClr val="FFFFFF"/>
                  </a:solidFill>
                  <a:latin typeface="Atkinson Hyperlegible Bold"/>
                  <a:ea typeface="Atkinson Hyperlegible Bold"/>
                  <a:cs typeface="Atkinson Hyperlegible Bold"/>
                  <a:sym typeface="Atkinson Hyperlegible Bold"/>
                </a:rPr>
                <a:t>BUSINESS MODEL / TARGET MARKET</a:t>
              </a:r>
            </a:p>
          </p:txBody>
        </p:sp>
      </p:grpSp>
      <p:sp>
        <p:nvSpPr>
          <p:cNvPr id="42" name="Freeform 42"/>
          <p:cNvSpPr/>
          <p:nvPr/>
        </p:nvSpPr>
        <p:spPr>
          <a:xfrm>
            <a:off x="13399418" y="8565193"/>
            <a:ext cx="4888580" cy="1721806"/>
          </a:xfrm>
          <a:custGeom>
            <a:avLst/>
            <a:gdLst/>
            <a:ahLst/>
            <a:cxnLst/>
            <a:rect l="l" t="t" r="r" b="b"/>
            <a:pathLst>
              <a:path w="4888580" h="1721806">
                <a:moveTo>
                  <a:pt x="0" y="0"/>
                </a:moveTo>
                <a:lnTo>
                  <a:pt x="4888580" y="0"/>
                </a:lnTo>
                <a:lnTo>
                  <a:pt x="4888580" y="1721806"/>
                </a:lnTo>
                <a:lnTo>
                  <a:pt x="0" y="1721806"/>
                </a:lnTo>
                <a:lnTo>
                  <a:pt x="0" y="0"/>
                </a:lnTo>
                <a:close/>
              </a:path>
            </a:pathLst>
          </a:custGeom>
          <a:blipFill>
            <a:blip r:embed="rId21"/>
            <a:stretch>
              <a:fillRect/>
            </a:stretch>
          </a:blipFill>
        </p:spPr>
      </p:sp>
      <p:pic>
        <p:nvPicPr>
          <p:cNvPr id="43" name="Picture 42"/>
          <p:cNvPicPr>
            <a:picLocks noChangeAspect="1"/>
          </p:cNvPicPr>
          <p:nvPr/>
        </p:nvPicPr>
        <p:blipFill rotWithShape="1">
          <a:blip r:embed="rId22">
            <a:extLst>
              <a:ext uri="{28A0092B-C50C-407E-A947-70E740481C1C}">
                <a14:useLocalDpi xmlns:a14="http://schemas.microsoft.com/office/drawing/2010/main" val="0"/>
              </a:ext>
            </a:extLst>
          </a:blip>
          <a:srcRect r="538" b="8170"/>
          <a:stretch/>
        </p:blipFill>
        <p:spPr>
          <a:xfrm>
            <a:off x="2443203" y="1736436"/>
            <a:ext cx="11963400" cy="68287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28765" r="-84"/>
            </a:stretch>
          </a:blipFill>
        </p:spPr>
      </p:sp>
      <p:sp>
        <p:nvSpPr>
          <p:cNvPr id="3" name="Freeform 3"/>
          <p:cNvSpPr/>
          <p:nvPr/>
        </p:nvSpPr>
        <p:spPr>
          <a:xfrm>
            <a:off x="1028700" y="9089661"/>
            <a:ext cx="1847849" cy="962024"/>
          </a:xfrm>
          <a:custGeom>
            <a:avLst/>
            <a:gdLst/>
            <a:ahLst/>
            <a:cxnLst/>
            <a:rect l="l" t="t" r="r" b="b"/>
            <a:pathLst>
              <a:path w="1847849" h="962024">
                <a:moveTo>
                  <a:pt x="0" y="0"/>
                </a:moveTo>
                <a:lnTo>
                  <a:pt x="1847849" y="0"/>
                </a:lnTo>
                <a:lnTo>
                  <a:pt x="1847849" y="962024"/>
                </a:lnTo>
                <a:lnTo>
                  <a:pt x="0" y="962024"/>
                </a:lnTo>
                <a:lnTo>
                  <a:pt x="0" y="0"/>
                </a:lnTo>
                <a:close/>
              </a:path>
            </a:pathLst>
          </a:custGeom>
          <a:blipFill>
            <a:blip r:embed="rId3"/>
            <a:stretch>
              <a:fillRect t="-107" b="-107"/>
            </a:stretch>
          </a:blipFill>
        </p:spPr>
      </p:sp>
      <p:grpSp>
        <p:nvGrpSpPr>
          <p:cNvPr id="4" name="Group 4"/>
          <p:cNvGrpSpPr/>
          <p:nvPr/>
        </p:nvGrpSpPr>
        <p:grpSpPr>
          <a:xfrm>
            <a:off x="16423285" y="1390609"/>
            <a:ext cx="275590" cy="78740"/>
            <a:chOff x="0" y="0"/>
            <a:chExt cx="367453" cy="104987"/>
          </a:xfrm>
        </p:grpSpPr>
        <p:sp>
          <p:nvSpPr>
            <p:cNvPr id="5" name="Freeform 5"/>
            <p:cNvSpPr/>
            <p:nvPr/>
          </p:nvSpPr>
          <p:spPr>
            <a:xfrm>
              <a:off x="0" y="0"/>
              <a:ext cx="366776" cy="104394"/>
            </a:xfrm>
            <a:custGeom>
              <a:avLst/>
              <a:gdLst/>
              <a:ahLst/>
              <a:cxnLst/>
              <a:rect l="l" t="t" r="r" b="b"/>
              <a:pathLst>
                <a:path w="366776" h="104394">
                  <a:moveTo>
                    <a:pt x="112522" y="104267"/>
                  </a:moveTo>
                  <a:lnTo>
                    <a:pt x="48895" y="101346"/>
                  </a:lnTo>
                  <a:lnTo>
                    <a:pt x="11938" y="94234"/>
                  </a:lnTo>
                  <a:lnTo>
                    <a:pt x="0" y="90297"/>
                  </a:lnTo>
                  <a:lnTo>
                    <a:pt x="15748" y="77851"/>
                  </a:lnTo>
                  <a:lnTo>
                    <a:pt x="57277" y="49911"/>
                  </a:lnTo>
                  <a:lnTo>
                    <a:pt x="115824" y="20447"/>
                  </a:lnTo>
                  <a:lnTo>
                    <a:pt x="182880" y="3556"/>
                  </a:lnTo>
                  <a:lnTo>
                    <a:pt x="250063" y="0"/>
                  </a:lnTo>
                  <a:lnTo>
                    <a:pt x="308991" y="0"/>
                  </a:lnTo>
                  <a:lnTo>
                    <a:pt x="350774" y="1524"/>
                  </a:lnTo>
                  <a:lnTo>
                    <a:pt x="366776" y="2540"/>
                  </a:lnTo>
                  <a:lnTo>
                    <a:pt x="361315" y="14097"/>
                  </a:lnTo>
                  <a:lnTo>
                    <a:pt x="338836" y="41148"/>
                  </a:lnTo>
                  <a:lnTo>
                    <a:pt x="289560" y="72136"/>
                  </a:lnTo>
                  <a:lnTo>
                    <a:pt x="204343" y="96012"/>
                  </a:lnTo>
                  <a:lnTo>
                    <a:pt x="112522" y="104394"/>
                  </a:lnTo>
                  <a:close/>
                </a:path>
              </a:pathLst>
            </a:custGeom>
            <a:solidFill>
              <a:srgbClr val="FFFFFF"/>
            </a:solidFill>
          </p:spPr>
        </p:sp>
      </p:grpSp>
      <p:sp>
        <p:nvSpPr>
          <p:cNvPr id="6" name="Freeform 6"/>
          <p:cNvSpPr/>
          <p:nvPr/>
        </p:nvSpPr>
        <p:spPr>
          <a:xfrm>
            <a:off x="16469713" y="1223585"/>
            <a:ext cx="228624" cy="168915"/>
          </a:xfrm>
          <a:custGeom>
            <a:avLst/>
            <a:gdLst/>
            <a:ahLst/>
            <a:cxnLst/>
            <a:rect l="l" t="t" r="r" b="b"/>
            <a:pathLst>
              <a:path w="228624" h="168915">
                <a:moveTo>
                  <a:pt x="0" y="0"/>
                </a:moveTo>
                <a:lnTo>
                  <a:pt x="228624" y="0"/>
                </a:lnTo>
                <a:lnTo>
                  <a:pt x="228624" y="168915"/>
                </a:lnTo>
                <a:lnTo>
                  <a:pt x="0" y="168915"/>
                </a:lnTo>
                <a:lnTo>
                  <a:pt x="0" y="0"/>
                </a:lnTo>
                <a:close/>
              </a:path>
            </a:pathLst>
          </a:custGeom>
          <a:blipFill>
            <a:blip r:embed="rId4"/>
            <a:stretch>
              <a:fillRect l="-662" r="-662"/>
            </a:stretch>
          </a:blipFill>
        </p:spPr>
      </p:sp>
      <p:grpSp>
        <p:nvGrpSpPr>
          <p:cNvPr id="7" name="Group 7"/>
          <p:cNvGrpSpPr/>
          <p:nvPr/>
        </p:nvGrpSpPr>
        <p:grpSpPr>
          <a:xfrm>
            <a:off x="16288898" y="1340965"/>
            <a:ext cx="281305" cy="67310"/>
            <a:chOff x="0" y="0"/>
            <a:chExt cx="375073" cy="89747"/>
          </a:xfrm>
        </p:grpSpPr>
        <p:sp>
          <p:nvSpPr>
            <p:cNvPr id="8" name="Freeform 8"/>
            <p:cNvSpPr/>
            <p:nvPr/>
          </p:nvSpPr>
          <p:spPr>
            <a:xfrm>
              <a:off x="0" y="0"/>
              <a:ext cx="374269" cy="89662"/>
            </a:xfrm>
            <a:custGeom>
              <a:avLst/>
              <a:gdLst/>
              <a:ahLst/>
              <a:cxnLst/>
              <a:rect l="l" t="t" r="r" b="b"/>
              <a:pathLst>
                <a:path w="374269" h="89662">
                  <a:moveTo>
                    <a:pt x="199898" y="89662"/>
                  </a:moveTo>
                  <a:lnTo>
                    <a:pt x="119253" y="88265"/>
                  </a:lnTo>
                  <a:lnTo>
                    <a:pt x="56007" y="79883"/>
                  </a:lnTo>
                  <a:lnTo>
                    <a:pt x="14732" y="70485"/>
                  </a:lnTo>
                  <a:lnTo>
                    <a:pt x="0" y="66040"/>
                  </a:lnTo>
                  <a:lnTo>
                    <a:pt x="14224" y="56388"/>
                  </a:lnTo>
                  <a:lnTo>
                    <a:pt x="53848" y="34925"/>
                  </a:lnTo>
                  <a:lnTo>
                    <a:pt x="113919" y="12446"/>
                  </a:lnTo>
                  <a:lnTo>
                    <a:pt x="189992" y="0"/>
                  </a:lnTo>
                  <a:lnTo>
                    <a:pt x="265176" y="1651"/>
                  </a:lnTo>
                  <a:lnTo>
                    <a:pt x="323342" y="10287"/>
                  </a:lnTo>
                  <a:lnTo>
                    <a:pt x="360934" y="19812"/>
                  </a:lnTo>
                  <a:lnTo>
                    <a:pt x="374269" y="24384"/>
                  </a:lnTo>
                  <a:lnTo>
                    <a:pt x="363474" y="33782"/>
                  </a:lnTo>
                  <a:lnTo>
                    <a:pt x="330962" y="54991"/>
                  </a:lnTo>
                  <a:lnTo>
                    <a:pt x="276479" y="77216"/>
                  </a:lnTo>
                  <a:lnTo>
                    <a:pt x="199898" y="89662"/>
                  </a:lnTo>
                  <a:close/>
                </a:path>
              </a:pathLst>
            </a:custGeom>
            <a:solidFill>
              <a:srgbClr val="FFFFFF"/>
            </a:solidFill>
          </p:spPr>
        </p:sp>
      </p:grpSp>
      <p:sp>
        <p:nvSpPr>
          <p:cNvPr id="9" name="Freeform 9"/>
          <p:cNvSpPr/>
          <p:nvPr/>
        </p:nvSpPr>
        <p:spPr>
          <a:xfrm>
            <a:off x="16304772" y="1079767"/>
            <a:ext cx="161462" cy="231707"/>
          </a:xfrm>
          <a:custGeom>
            <a:avLst/>
            <a:gdLst/>
            <a:ahLst/>
            <a:cxnLst/>
            <a:rect l="l" t="t" r="r" b="b"/>
            <a:pathLst>
              <a:path w="161462" h="231707">
                <a:moveTo>
                  <a:pt x="0" y="0"/>
                </a:moveTo>
                <a:lnTo>
                  <a:pt x="161462" y="0"/>
                </a:lnTo>
                <a:lnTo>
                  <a:pt x="161462" y="231707"/>
                </a:lnTo>
                <a:lnTo>
                  <a:pt x="0" y="231707"/>
                </a:lnTo>
                <a:lnTo>
                  <a:pt x="0" y="0"/>
                </a:lnTo>
                <a:close/>
              </a:path>
            </a:pathLst>
          </a:custGeom>
          <a:blipFill>
            <a:blip r:embed="rId5"/>
            <a:stretch>
              <a:fillRect t="-679" b="-679"/>
            </a:stretch>
          </a:blipFill>
        </p:spPr>
      </p:sp>
      <p:grpSp>
        <p:nvGrpSpPr>
          <p:cNvPr id="10" name="Group 10"/>
          <p:cNvGrpSpPr/>
          <p:nvPr/>
        </p:nvGrpSpPr>
        <p:grpSpPr>
          <a:xfrm>
            <a:off x="16144541" y="1251566"/>
            <a:ext cx="280670" cy="76200"/>
            <a:chOff x="0" y="0"/>
            <a:chExt cx="374227" cy="101600"/>
          </a:xfrm>
        </p:grpSpPr>
        <p:sp>
          <p:nvSpPr>
            <p:cNvPr id="11" name="Freeform 11"/>
            <p:cNvSpPr/>
            <p:nvPr/>
          </p:nvSpPr>
          <p:spPr>
            <a:xfrm>
              <a:off x="0" y="0"/>
              <a:ext cx="373507" cy="100965"/>
            </a:xfrm>
            <a:custGeom>
              <a:avLst/>
              <a:gdLst/>
              <a:ahLst/>
              <a:cxnLst/>
              <a:rect l="l" t="t" r="r" b="b"/>
              <a:pathLst>
                <a:path w="373507" h="100965">
                  <a:moveTo>
                    <a:pt x="266192" y="100965"/>
                  </a:moveTo>
                  <a:lnTo>
                    <a:pt x="188849" y="95123"/>
                  </a:lnTo>
                  <a:lnTo>
                    <a:pt x="110744" y="74930"/>
                  </a:lnTo>
                  <a:lnTo>
                    <a:pt x="51308" y="51943"/>
                  </a:lnTo>
                  <a:lnTo>
                    <a:pt x="0" y="25400"/>
                  </a:lnTo>
                  <a:lnTo>
                    <a:pt x="16129" y="19431"/>
                  </a:lnTo>
                  <a:lnTo>
                    <a:pt x="59563" y="7747"/>
                  </a:lnTo>
                  <a:lnTo>
                    <a:pt x="123317" y="0"/>
                  </a:lnTo>
                  <a:lnTo>
                    <a:pt x="200152" y="5715"/>
                  </a:lnTo>
                  <a:lnTo>
                    <a:pt x="272796" y="24892"/>
                  </a:lnTo>
                  <a:lnTo>
                    <a:pt x="327279" y="46863"/>
                  </a:lnTo>
                  <a:lnTo>
                    <a:pt x="361569" y="65024"/>
                  </a:lnTo>
                  <a:lnTo>
                    <a:pt x="373507" y="72517"/>
                  </a:lnTo>
                  <a:lnTo>
                    <a:pt x="360807" y="79121"/>
                  </a:lnTo>
                  <a:lnTo>
                    <a:pt x="324231" y="92075"/>
                  </a:lnTo>
                  <a:lnTo>
                    <a:pt x="266065" y="100965"/>
                  </a:lnTo>
                  <a:close/>
                </a:path>
              </a:pathLst>
            </a:custGeom>
            <a:solidFill>
              <a:srgbClr val="FFFFFF"/>
            </a:solidFill>
          </p:spPr>
        </p:sp>
      </p:grpSp>
      <p:sp>
        <p:nvSpPr>
          <p:cNvPr id="12" name="Freeform 12"/>
          <p:cNvSpPr/>
          <p:nvPr/>
        </p:nvSpPr>
        <p:spPr>
          <a:xfrm>
            <a:off x="16106052" y="1104701"/>
            <a:ext cx="244782" cy="141776"/>
          </a:xfrm>
          <a:custGeom>
            <a:avLst/>
            <a:gdLst/>
            <a:ahLst/>
            <a:cxnLst/>
            <a:rect l="l" t="t" r="r" b="b"/>
            <a:pathLst>
              <a:path w="244782" h="141776">
                <a:moveTo>
                  <a:pt x="0" y="0"/>
                </a:moveTo>
                <a:lnTo>
                  <a:pt x="244782" y="0"/>
                </a:lnTo>
                <a:lnTo>
                  <a:pt x="244782" y="141776"/>
                </a:lnTo>
                <a:lnTo>
                  <a:pt x="0" y="141776"/>
                </a:lnTo>
                <a:lnTo>
                  <a:pt x="0" y="0"/>
                </a:lnTo>
                <a:close/>
              </a:path>
            </a:pathLst>
          </a:custGeom>
          <a:blipFill>
            <a:blip r:embed="rId6"/>
            <a:stretch>
              <a:fillRect t="-780" b="-780"/>
            </a:stretch>
          </a:blipFill>
        </p:spPr>
      </p:sp>
      <p:sp>
        <p:nvSpPr>
          <p:cNvPr id="13" name="Freeform 13"/>
          <p:cNvSpPr/>
          <p:nvPr/>
        </p:nvSpPr>
        <p:spPr>
          <a:xfrm>
            <a:off x="16019856" y="339559"/>
            <a:ext cx="393700" cy="802640"/>
          </a:xfrm>
          <a:custGeom>
            <a:avLst/>
            <a:gdLst/>
            <a:ahLst/>
            <a:cxnLst/>
            <a:rect l="l" t="t" r="r" b="b"/>
            <a:pathLst>
              <a:path w="393700" h="802640">
                <a:moveTo>
                  <a:pt x="0" y="0"/>
                </a:moveTo>
                <a:lnTo>
                  <a:pt x="393700" y="0"/>
                </a:lnTo>
                <a:lnTo>
                  <a:pt x="393700" y="802640"/>
                </a:lnTo>
                <a:lnTo>
                  <a:pt x="0" y="8026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Freeform 14"/>
          <p:cNvSpPr/>
          <p:nvPr/>
        </p:nvSpPr>
        <p:spPr>
          <a:xfrm>
            <a:off x="16594649" y="1425631"/>
            <a:ext cx="112653" cy="126308"/>
          </a:xfrm>
          <a:custGeom>
            <a:avLst/>
            <a:gdLst/>
            <a:ahLst/>
            <a:cxnLst/>
            <a:rect l="l" t="t" r="r" b="b"/>
            <a:pathLst>
              <a:path w="112653" h="126308">
                <a:moveTo>
                  <a:pt x="0" y="0"/>
                </a:moveTo>
                <a:lnTo>
                  <a:pt x="112653" y="0"/>
                </a:lnTo>
                <a:lnTo>
                  <a:pt x="112653" y="126308"/>
                </a:lnTo>
                <a:lnTo>
                  <a:pt x="0" y="126308"/>
                </a:lnTo>
                <a:lnTo>
                  <a:pt x="0" y="0"/>
                </a:lnTo>
                <a:close/>
              </a:path>
            </a:pathLst>
          </a:custGeom>
          <a:blipFill>
            <a:blip r:embed="rId9"/>
            <a:stretch>
              <a:fillRect t="-168" b="-168"/>
            </a:stretch>
          </a:blipFill>
        </p:spPr>
      </p:sp>
      <p:sp>
        <p:nvSpPr>
          <p:cNvPr id="15" name="Freeform 15"/>
          <p:cNvSpPr/>
          <p:nvPr/>
        </p:nvSpPr>
        <p:spPr>
          <a:xfrm>
            <a:off x="16480534" y="758952"/>
            <a:ext cx="259079" cy="414527"/>
          </a:xfrm>
          <a:custGeom>
            <a:avLst/>
            <a:gdLst/>
            <a:ahLst/>
            <a:cxnLst/>
            <a:rect l="l" t="t" r="r" b="b"/>
            <a:pathLst>
              <a:path w="259079" h="414527">
                <a:moveTo>
                  <a:pt x="0" y="0"/>
                </a:moveTo>
                <a:lnTo>
                  <a:pt x="259079" y="0"/>
                </a:lnTo>
                <a:lnTo>
                  <a:pt x="259079" y="414527"/>
                </a:lnTo>
                <a:lnTo>
                  <a:pt x="0" y="414527"/>
                </a:lnTo>
                <a:lnTo>
                  <a:pt x="0" y="0"/>
                </a:lnTo>
                <a:close/>
              </a:path>
            </a:pathLst>
          </a:custGeom>
          <a:blipFill>
            <a:blip r:embed="rId10"/>
            <a:stretch>
              <a:fillRect/>
            </a:stretch>
          </a:blipFill>
        </p:spPr>
      </p:sp>
      <p:sp>
        <p:nvSpPr>
          <p:cNvPr id="16" name="Freeform 16"/>
          <p:cNvSpPr/>
          <p:nvPr/>
        </p:nvSpPr>
        <p:spPr>
          <a:xfrm>
            <a:off x="16424389" y="792619"/>
            <a:ext cx="151765" cy="323850"/>
          </a:xfrm>
          <a:custGeom>
            <a:avLst/>
            <a:gdLst/>
            <a:ahLst/>
            <a:cxnLst/>
            <a:rect l="l" t="t" r="r" b="b"/>
            <a:pathLst>
              <a:path w="151765" h="323850">
                <a:moveTo>
                  <a:pt x="0" y="0"/>
                </a:moveTo>
                <a:lnTo>
                  <a:pt x="151765" y="0"/>
                </a:lnTo>
                <a:lnTo>
                  <a:pt x="151765" y="323850"/>
                </a:lnTo>
                <a:lnTo>
                  <a:pt x="0" y="3238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17"/>
          <p:cNvSpPr/>
          <p:nvPr/>
        </p:nvSpPr>
        <p:spPr>
          <a:xfrm>
            <a:off x="16669510" y="755904"/>
            <a:ext cx="999743" cy="384047"/>
          </a:xfrm>
          <a:custGeom>
            <a:avLst/>
            <a:gdLst/>
            <a:ahLst/>
            <a:cxnLst/>
            <a:rect l="l" t="t" r="r" b="b"/>
            <a:pathLst>
              <a:path w="999743" h="384047">
                <a:moveTo>
                  <a:pt x="0" y="0"/>
                </a:moveTo>
                <a:lnTo>
                  <a:pt x="999743" y="0"/>
                </a:lnTo>
                <a:lnTo>
                  <a:pt x="999743" y="384047"/>
                </a:lnTo>
                <a:lnTo>
                  <a:pt x="0" y="384047"/>
                </a:lnTo>
                <a:lnTo>
                  <a:pt x="0" y="0"/>
                </a:lnTo>
                <a:close/>
              </a:path>
            </a:pathLst>
          </a:custGeom>
          <a:blipFill>
            <a:blip r:embed="rId13"/>
            <a:stretch>
              <a:fillRect/>
            </a:stretch>
          </a:blipFill>
        </p:spPr>
      </p:sp>
      <p:grpSp>
        <p:nvGrpSpPr>
          <p:cNvPr id="18" name="Group 18"/>
          <p:cNvGrpSpPr/>
          <p:nvPr/>
        </p:nvGrpSpPr>
        <p:grpSpPr>
          <a:xfrm>
            <a:off x="17330812" y="1389182"/>
            <a:ext cx="274955" cy="79375"/>
            <a:chOff x="0" y="0"/>
            <a:chExt cx="366607" cy="105833"/>
          </a:xfrm>
        </p:grpSpPr>
        <p:sp>
          <p:nvSpPr>
            <p:cNvPr id="19" name="Freeform 19"/>
            <p:cNvSpPr/>
            <p:nvPr/>
          </p:nvSpPr>
          <p:spPr>
            <a:xfrm>
              <a:off x="0" y="0"/>
              <a:ext cx="366268" cy="105283"/>
            </a:xfrm>
            <a:custGeom>
              <a:avLst/>
              <a:gdLst/>
              <a:ahLst/>
              <a:cxnLst/>
              <a:rect l="l" t="t" r="r" b="b"/>
              <a:pathLst>
                <a:path w="366268" h="105283">
                  <a:moveTo>
                    <a:pt x="253746" y="105283"/>
                  </a:moveTo>
                  <a:lnTo>
                    <a:pt x="317373" y="102616"/>
                  </a:lnTo>
                  <a:lnTo>
                    <a:pt x="354330" y="95758"/>
                  </a:lnTo>
                  <a:lnTo>
                    <a:pt x="366268" y="91821"/>
                  </a:lnTo>
                  <a:lnTo>
                    <a:pt x="350520" y="79375"/>
                  </a:lnTo>
                  <a:lnTo>
                    <a:pt x="250698" y="21590"/>
                  </a:lnTo>
                  <a:lnTo>
                    <a:pt x="183896" y="4191"/>
                  </a:lnTo>
                  <a:lnTo>
                    <a:pt x="116713" y="254"/>
                  </a:lnTo>
                  <a:lnTo>
                    <a:pt x="57785" y="0"/>
                  </a:lnTo>
                  <a:lnTo>
                    <a:pt x="15875" y="1270"/>
                  </a:lnTo>
                  <a:lnTo>
                    <a:pt x="0" y="2159"/>
                  </a:lnTo>
                  <a:lnTo>
                    <a:pt x="5334" y="13716"/>
                  </a:lnTo>
                  <a:lnTo>
                    <a:pt x="27813" y="40894"/>
                  </a:lnTo>
                  <a:lnTo>
                    <a:pt x="76708" y="72263"/>
                  </a:lnTo>
                  <a:lnTo>
                    <a:pt x="161925" y="96520"/>
                  </a:lnTo>
                  <a:lnTo>
                    <a:pt x="253746" y="105283"/>
                  </a:lnTo>
                  <a:close/>
                </a:path>
              </a:pathLst>
            </a:custGeom>
            <a:solidFill>
              <a:srgbClr val="FFFFFF"/>
            </a:solidFill>
          </p:spPr>
        </p:sp>
      </p:grpSp>
      <p:sp>
        <p:nvSpPr>
          <p:cNvPr id="20" name="Freeform 20"/>
          <p:cNvSpPr/>
          <p:nvPr/>
        </p:nvSpPr>
        <p:spPr>
          <a:xfrm>
            <a:off x="17330812" y="1223064"/>
            <a:ext cx="229460" cy="167778"/>
          </a:xfrm>
          <a:custGeom>
            <a:avLst/>
            <a:gdLst/>
            <a:ahLst/>
            <a:cxnLst/>
            <a:rect l="l" t="t" r="r" b="b"/>
            <a:pathLst>
              <a:path w="229460" h="167778">
                <a:moveTo>
                  <a:pt x="0" y="0"/>
                </a:moveTo>
                <a:lnTo>
                  <a:pt x="229460" y="0"/>
                </a:lnTo>
                <a:lnTo>
                  <a:pt x="229460" y="167778"/>
                </a:lnTo>
                <a:lnTo>
                  <a:pt x="0" y="167778"/>
                </a:lnTo>
                <a:lnTo>
                  <a:pt x="0" y="0"/>
                </a:lnTo>
                <a:close/>
              </a:path>
            </a:pathLst>
          </a:custGeom>
          <a:blipFill>
            <a:blip r:embed="rId14"/>
            <a:stretch>
              <a:fillRect l="-138" r="-138"/>
            </a:stretch>
          </a:blipFill>
        </p:spPr>
      </p:sp>
      <p:grpSp>
        <p:nvGrpSpPr>
          <p:cNvPr id="21" name="Group 21"/>
          <p:cNvGrpSpPr/>
          <p:nvPr/>
        </p:nvGrpSpPr>
        <p:grpSpPr>
          <a:xfrm>
            <a:off x="17459738" y="1340632"/>
            <a:ext cx="280670" cy="67310"/>
            <a:chOff x="0" y="0"/>
            <a:chExt cx="374227" cy="89747"/>
          </a:xfrm>
        </p:grpSpPr>
        <p:sp>
          <p:nvSpPr>
            <p:cNvPr id="22" name="Freeform 22"/>
            <p:cNvSpPr/>
            <p:nvPr/>
          </p:nvSpPr>
          <p:spPr>
            <a:xfrm>
              <a:off x="0" y="0"/>
              <a:ext cx="374015" cy="89535"/>
            </a:xfrm>
            <a:custGeom>
              <a:avLst/>
              <a:gdLst/>
              <a:ahLst/>
              <a:cxnLst/>
              <a:rect l="l" t="t" r="r" b="b"/>
              <a:pathLst>
                <a:path w="374015" h="89535">
                  <a:moveTo>
                    <a:pt x="173990" y="89535"/>
                  </a:moveTo>
                  <a:lnTo>
                    <a:pt x="254635" y="88519"/>
                  </a:lnTo>
                  <a:lnTo>
                    <a:pt x="317881" y="80518"/>
                  </a:lnTo>
                  <a:lnTo>
                    <a:pt x="359156" y="71374"/>
                  </a:lnTo>
                  <a:lnTo>
                    <a:pt x="374015" y="67056"/>
                  </a:lnTo>
                  <a:lnTo>
                    <a:pt x="359791" y="57404"/>
                  </a:lnTo>
                  <a:lnTo>
                    <a:pt x="320421" y="35560"/>
                  </a:lnTo>
                  <a:lnTo>
                    <a:pt x="260350" y="12827"/>
                  </a:lnTo>
                  <a:lnTo>
                    <a:pt x="184277" y="0"/>
                  </a:lnTo>
                  <a:lnTo>
                    <a:pt x="109220" y="1270"/>
                  </a:lnTo>
                  <a:lnTo>
                    <a:pt x="50927" y="9652"/>
                  </a:lnTo>
                  <a:lnTo>
                    <a:pt x="13335" y="19050"/>
                  </a:lnTo>
                  <a:lnTo>
                    <a:pt x="0" y="23495"/>
                  </a:lnTo>
                  <a:lnTo>
                    <a:pt x="10795" y="33020"/>
                  </a:lnTo>
                  <a:lnTo>
                    <a:pt x="43180" y="54229"/>
                  </a:lnTo>
                  <a:lnTo>
                    <a:pt x="97409" y="76708"/>
                  </a:lnTo>
                  <a:lnTo>
                    <a:pt x="173990" y="89535"/>
                  </a:lnTo>
                  <a:close/>
                </a:path>
              </a:pathLst>
            </a:custGeom>
            <a:solidFill>
              <a:srgbClr val="FFFFFF"/>
            </a:solidFill>
          </p:spPr>
        </p:sp>
      </p:grpSp>
      <p:sp>
        <p:nvSpPr>
          <p:cNvPr id="23" name="Freeform 23"/>
          <p:cNvSpPr/>
          <p:nvPr/>
        </p:nvSpPr>
        <p:spPr>
          <a:xfrm>
            <a:off x="17563315" y="1080067"/>
            <a:ext cx="162610" cy="230903"/>
          </a:xfrm>
          <a:custGeom>
            <a:avLst/>
            <a:gdLst/>
            <a:ahLst/>
            <a:cxnLst/>
            <a:rect l="l" t="t" r="r" b="b"/>
            <a:pathLst>
              <a:path w="162610" h="230903">
                <a:moveTo>
                  <a:pt x="0" y="0"/>
                </a:moveTo>
                <a:lnTo>
                  <a:pt x="162610" y="0"/>
                </a:lnTo>
                <a:lnTo>
                  <a:pt x="162610" y="230903"/>
                </a:lnTo>
                <a:lnTo>
                  <a:pt x="0" y="230903"/>
                </a:lnTo>
                <a:lnTo>
                  <a:pt x="0" y="0"/>
                </a:lnTo>
                <a:close/>
              </a:path>
            </a:pathLst>
          </a:custGeom>
          <a:blipFill>
            <a:blip r:embed="rId15"/>
            <a:stretch>
              <a:fillRect l="-290" r="-290"/>
            </a:stretch>
          </a:blipFill>
        </p:spPr>
      </p:sp>
      <p:grpSp>
        <p:nvGrpSpPr>
          <p:cNvPr id="24" name="Group 24"/>
          <p:cNvGrpSpPr/>
          <p:nvPr/>
        </p:nvGrpSpPr>
        <p:grpSpPr>
          <a:xfrm>
            <a:off x="17604850" y="1252199"/>
            <a:ext cx="280670" cy="75565"/>
            <a:chOff x="0" y="0"/>
            <a:chExt cx="374227" cy="100753"/>
          </a:xfrm>
        </p:grpSpPr>
        <p:sp>
          <p:nvSpPr>
            <p:cNvPr id="25" name="Freeform 25"/>
            <p:cNvSpPr/>
            <p:nvPr/>
          </p:nvSpPr>
          <p:spPr>
            <a:xfrm>
              <a:off x="0" y="0"/>
              <a:ext cx="373888" cy="100330"/>
            </a:xfrm>
            <a:custGeom>
              <a:avLst/>
              <a:gdLst/>
              <a:ahLst/>
              <a:cxnLst/>
              <a:rect l="l" t="t" r="r" b="b"/>
              <a:pathLst>
                <a:path w="373888" h="100330">
                  <a:moveTo>
                    <a:pt x="107188" y="100203"/>
                  </a:moveTo>
                  <a:lnTo>
                    <a:pt x="184658" y="94869"/>
                  </a:lnTo>
                  <a:lnTo>
                    <a:pt x="262763" y="75057"/>
                  </a:lnTo>
                  <a:lnTo>
                    <a:pt x="322453" y="52451"/>
                  </a:lnTo>
                  <a:lnTo>
                    <a:pt x="373888" y="26162"/>
                  </a:lnTo>
                  <a:lnTo>
                    <a:pt x="357886" y="20066"/>
                  </a:lnTo>
                  <a:lnTo>
                    <a:pt x="314325" y="8001"/>
                  </a:lnTo>
                  <a:lnTo>
                    <a:pt x="250571" y="0"/>
                  </a:lnTo>
                  <a:lnTo>
                    <a:pt x="173736" y="5334"/>
                  </a:lnTo>
                  <a:lnTo>
                    <a:pt x="100965" y="24130"/>
                  </a:lnTo>
                  <a:lnTo>
                    <a:pt x="46355" y="45847"/>
                  </a:lnTo>
                  <a:lnTo>
                    <a:pt x="11938" y="63754"/>
                  </a:lnTo>
                  <a:lnTo>
                    <a:pt x="0" y="71247"/>
                  </a:lnTo>
                  <a:lnTo>
                    <a:pt x="12700" y="77978"/>
                  </a:lnTo>
                  <a:lnTo>
                    <a:pt x="49149" y="91186"/>
                  </a:lnTo>
                  <a:lnTo>
                    <a:pt x="107188" y="100330"/>
                  </a:lnTo>
                  <a:close/>
                </a:path>
              </a:pathLst>
            </a:custGeom>
            <a:solidFill>
              <a:srgbClr val="FFFFFF"/>
            </a:solidFill>
          </p:spPr>
        </p:sp>
      </p:grpSp>
      <p:sp>
        <p:nvSpPr>
          <p:cNvPr id="26" name="Freeform 26"/>
          <p:cNvSpPr/>
          <p:nvPr/>
        </p:nvSpPr>
        <p:spPr>
          <a:xfrm>
            <a:off x="17679041" y="1105987"/>
            <a:ext cx="245478" cy="140612"/>
          </a:xfrm>
          <a:custGeom>
            <a:avLst/>
            <a:gdLst/>
            <a:ahLst/>
            <a:cxnLst/>
            <a:rect l="l" t="t" r="r" b="b"/>
            <a:pathLst>
              <a:path w="245478" h="140612">
                <a:moveTo>
                  <a:pt x="0" y="0"/>
                </a:moveTo>
                <a:lnTo>
                  <a:pt x="245478" y="0"/>
                </a:lnTo>
                <a:lnTo>
                  <a:pt x="245478" y="140612"/>
                </a:lnTo>
                <a:lnTo>
                  <a:pt x="0" y="140612"/>
                </a:lnTo>
                <a:lnTo>
                  <a:pt x="0" y="0"/>
                </a:lnTo>
                <a:close/>
              </a:path>
            </a:pathLst>
          </a:custGeom>
          <a:blipFill>
            <a:blip r:embed="rId16"/>
            <a:stretch>
              <a:fillRect t="-359" b="-359"/>
            </a:stretch>
          </a:blipFill>
        </p:spPr>
      </p:sp>
      <p:sp>
        <p:nvSpPr>
          <p:cNvPr id="27" name="Freeform 27"/>
          <p:cNvSpPr/>
          <p:nvPr/>
        </p:nvSpPr>
        <p:spPr>
          <a:xfrm>
            <a:off x="17621199" y="339330"/>
            <a:ext cx="390525" cy="803275"/>
          </a:xfrm>
          <a:custGeom>
            <a:avLst/>
            <a:gdLst/>
            <a:ahLst/>
            <a:cxnLst/>
            <a:rect l="l" t="t" r="r" b="b"/>
            <a:pathLst>
              <a:path w="390525" h="803275">
                <a:moveTo>
                  <a:pt x="0" y="0"/>
                </a:moveTo>
                <a:lnTo>
                  <a:pt x="390525" y="0"/>
                </a:lnTo>
                <a:lnTo>
                  <a:pt x="390525" y="803275"/>
                </a:lnTo>
                <a:lnTo>
                  <a:pt x="0" y="80327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8" name="Freeform 28"/>
          <p:cNvSpPr/>
          <p:nvPr/>
        </p:nvSpPr>
        <p:spPr>
          <a:xfrm>
            <a:off x="17321684" y="1423928"/>
            <a:ext cx="112071" cy="126802"/>
          </a:xfrm>
          <a:custGeom>
            <a:avLst/>
            <a:gdLst/>
            <a:ahLst/>
            <a:cxnLst/>
            <a:rect l="l" t="t" r="r" b="b"/>
            <a:pathLst>
              <a:path w="112071" h="126802">
                <a:moveTo>
                  <a:pt x="0" y="0"/>
                </a:moveTo>
                <a:lnTo>
                  <a:pt x="112071" y="0"/>
                </a:lnTo>
                <a:lnTo>
                  <a:pt x="112071" y="126802"/>
                </a:lnTo>
                <a:lnTo>
                  <a:pt x="0" y="126802"/>
                </a:lnTo>
                <a:lnTo>
                  <a:pt x="0" y="0"/>
                </a:lnTo>
                <a:close/>
              </a:path>
            </a:pathLst>
          </a:custGeom>
          <a:blipFill>
            <a:blip r:embed="rId19"/>
            <a:stretch>
              <a:fillRect l="-2220" r="-2220"/>
            </a:stretch>
          </a:blipFill>
        </p:spPr>
      </p:sp>
      <p:grpSp>
        <p:nvGrpSpPr>
          <p:cNvPr id="29" name="Group 29"/>
          <p:cNvGrpSpPr/>
          <p:nvPr/>
        </p:nvGrpSpPr>
        <p:grpSpPr>
          <a:xfrm>
            <a:off x="16474160" y="744181"/>
            <a:ext cx="38100" cy="307340"/>
            <a:chOff x="0" y="0"/>
            <a:chExt cx="50800" cy="409787"/>
          </a:xfrm>
        </p:grpSpPr>
        <p:sp>
          <p:nvSpPr>
            <p:cNvPr id="30" name="Freeform 30"/>
            <p:cNvSpPr/>
            <p:nvPr/>
          </p:nvSpPr>
          <p:spPr>
            <a:xfrm>
              <a:off x="0" y="367665"/>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sp>
          <p:nvSpPr>
            <p:cNvPr id="31" name="Freeform 31"/>
            <p:cNvSpPr/>
            <p:nvPr/>
          </p:nvSpPr>
          <p:spPr>
            <a:xfrm>
              <a:off x="9144" y="0"/>
              <a:ext cx="41529" cy="41529"/>
            </a:xfrm>
            <a:custGeom>
              <a:avLst/>
              <a:gdLst/>
              <a:ahLst/>
              <a:cxnLst/>
              <a:rect l="l" t="t" r="r" b="b"/>
              <a:pathLst>
                <a:path w="41529" h="41529">
                  <a:moveTo>
                    <a:pt x="41529" y="0"/>
                  </a:moveTo>
                  <a:lnTo>
                    <a:pt x="0" y="0"/>
                  </a:lnTo>
                  <a:lnTo>
                    <a:pt x="0" y="41529"/>
                  </a:lnTo>
                  <a:lnTo>
                    <a:pt x="41529" y="41529"/>
                  </a:lnTo>
                  <a:lnTo>
                    <a:pt x="41529" y="0"/>
                  </a:lnTo>
                  <a:close/>
                </a:path>
              </a:pathLst>
            </a:custGeom>
            <a:solidFill>
              <a:srgbClr val="FFFFFF"/>
            </a:solidFill>
          </p:spPr>
        </p:sp>
      </p:grpSp>
      <p:sp>
        <p:nvSpPr>
          <p:cNvPr id="32" name="Freeform 32"/>
          <p:cNvSpPr/>
          <p:nvPr/>
        </p:nvSpPr>
        <p:spPr>
          <a:xfrm>
            <a:off x="16947701" y="1390593"/>
            <a:ext cx="135917" cy="134319"/>
          </a:xfrm>
          <a:custGeom>
            <a:avLst/>
            <a:gdLst/>
            <a:ahLst/>
            <a:cxnLst/>
            <a:rect l="l" t="t" r="r" b="b"/>
            <a:pathLst>
              <a:path w="135917" h="134319">
                <a:moveTo>
                  <a:pt x="0" y="0"/>
                </a:moveTo>
                <a:lnTo>
                  <a:pt x="135917" y="0"/>
                </a:lnTo>
                <a:lnTo>
                  <a:pt x="135917" y="134319"/>
                </a:lnTo>
                <a:lnTo>
                  <a:pt x="0" y="134319"/>
                </a:lnTo>
                <a:lnTo>
                  <a:pt x="0" y="0"/>
                </a:lnTo>
                <a:close/>
              </a:path>
            </a:pathLst>
          </a:custGeom>
          <a:blipFill>
            <a:blip r:embed="rId20"/>
            <a:stretch>
              <a:fillRect t="-594" b="-594"/>
            </a:stretch>
          </a:blipFill>
        </p:spPr>
      </p:sp>
      <p:grpSp>
        <p:nvGrpSpPr>
          <p:cNvPr id="33" name="Group 33"/>
          <p:cNvGrpSpPr/>
          <p:nvPr/>
        </p:nvGrpSpPr>
        <p:grpSpPr>
          <a:xfrm>
            <a:off x="16209922" y="1570445"/>
            <a:ext cx="1592580" cy="157480"/>
            <a:chOff x="0" y="0"/>
            <a:chExt cx="2123440" cy="209973"/>
          </a:xfrm>
        </p:grpSpPr>
        <p:sp>
          <p:nvSpPr>
            <p:cNvPr id="34" name="Freeform 34"/>
            <p:cNvSpPr/>
            <p:nvPr/>
          </p:nvSpPr>
          <p:spPr>
            <a:xfrm>
              <a:off x="0" y="0"/>
              <a:ext cx="2123440" cy="209973"/>
            </a:xfrm>
            <a:custGeom>
              <a:avLst/>
              <a:gdLst/>
              <a:ahLst/>
              <a:cxnLst/>
              <a:rect l="l" t="t" r="r" b="b"/>
              <a:pathLst>
                <a:path w="2123440" h="209973">
                  <a:moveTo>
                    <a:pt x="0" y="0"/>
                  </a:moveTo>
                  <a:lnTo>
                    <a:pt x="2123440" y="0"/>
                  </a:lnTo>
                  <a:lnTo>
                    <a:pt x="2123440" y="209973"/>
                  </a:lnTo>
                  <a:lnTo>
                    <a:pt x="0" y="209973"/>
                  </a:lnTo>
                  <a:close/>
                </a:path>
              </a:pathLst>
            </a:custGeom>
          </p:spPr>
        </p:sp>
        <p:sp>
          <p:nvSpPr>
            <p:cNvPr id="35" name="TextBox 35"/>
            <p:cNvSpPr txBox="1"/>
            <p:nvPr/>
          </p:nvSpPr>
          <p:spPr>
            <a:xfrm>
              <a:off x="0" y="-9525"/>
              <a:ext cx="2123440" cy="219498"/>
            </a:xfrm>
            <a:prstGeom prst="rect">
              <a:avLst/>
            </a:prstGeom>
          </p:spPr>
          <p:txBody>
            <a:bodyPr lIns="0" tIns="0" rIns="0" bIns="0" rtlCol="0" anchor="t"/>
            <a:lstStyle/>
            <a:p>
              <a:pPr algn="l">
                <a:lnSpc>
                  <a:spcPts val="1019"/>
                </a:lnSpc>
              </a:pPr>
              <a:r>
                <a:rPr lang="en-US" sz="850" b="1" spc="-55">
                  <a:solidFill>
                    <a:srgbClr val="FFFFFF"/>
                  </a:solidFill>
                  <a:latin typeface="Tahoma Bold"/>
                  <a:ea typeface="Tahoma Bold"/>
                  <a:cs typeface="Tahoma Bold"/>
                  <a:sym typeface="Tahoma Bold"/>
                </a:rPr>
                <a:t>Forum Of Data Science Engineers</a:t>
              </a:r>
            </a:p>
          </p:txBody>
        </p:sp>
      </p:grpSp>
      <p:grpSp>
        <p:nvGrpSpPr>
          <p:cNvPr id="36" name="Group 36"/>
          <p:cNvGrpSpPr/>
          <p:nvPr/>
        </p:nvGrpSpPr>
        <p:grpSpPr>
          <a:xfrm>
            <a:off x="2192139" y="2270630"/>
            <a:ext cx="650240" cy="278130"/>
            <a:chOff x="0" y="0"/>
            <a:chExt cx="866987" cy="370840"/>
          </a:xfrm>
        </p:grpSpPr>
        <p:sp>
          <p:nvSpPr>
            <p:cNvPr id="37" name="Freeform 37"/>
            <p:cNvSpPr/>
            <p:nvPr/>
          </p:nvSpPr>
          <p:spPr>
            <a:xfrm>
              <a:off x="0" y="0"/>
              <a:ext cx="866987" cy="370840"/>
            </a:xfrm>
            <a:custGeom>
              <a:avLst/>
              <a:gdLst/>
              <a:ahLst/>
              <a:cxnLst/>
              <a:rect l="l" t="t" r="r" b="b"/>
              <a:pathLst>
                <a:path w="866987" h="370840">
                  <a:moveTo>
                    <a:pt x="0" y="0"/>
                  </a:moveTo>
                  <a:lnTo>
                    <a:pt x="866987" y="0"/>
                  </a:lnTo>
                  <a:lnTo>
                    <a:pt x="866987" y="370840"/>
                  </a:lnTo>
                  <a:lnTo>
                    <a:pt x="0" y="370840"/>
                  </a:lnTo>
                  <a:close/>
                </a:path>
              </a:pathLst>
            </a:custGeom>
          </p:spPr>
        </p:sp>
        <p:sp>
          <p:nvSpPr>
            <p:cNvPr id="38" name="TextBox 38"/>
            <p:cNvSpPr txBox="1"/>
            <p:nvPr/>
          </p:nvSpPr>
          <p:spPr>
            <a:xfrm>
              <a:off x="0" y="9525"/>
              <a:ext cx="866987" cy="361315"/>
            </a:xfrm>
            <a:prstGeom prst="rect">
              <a:avLst/>
            </a:prstGeom>
          </p:spPr>
          <p:txBody>
            <a:bodyPr lIns="0" tIns="0" rIns="0" bIns="0" rtlCol="0" anchor="t"/>
            <a:lstStyle/>
            <a:p>
              <a:pPr algn="l">
                <a:lnSpc>
                  <a:spcPts val="2095"/>
                </a:lnSpc>
              </a:pPr>
              <a:r>
                <a:rPr lang="en-US" sz="1800" b="1" spc="40">
                  <a:solidFill>
                    <a:srgbClr val="000000"/>
                  </a:solidFill>
                  <a:latin typeface="Tahoma Bold"/>
                  <a:ea typeface="Tahoma Bold"/>
                  <a:cs typeface="Tahoma Bold"/>
                  <a:sym typeface="Tahoma Bold"/>
                </a:rPr>
                <a:t>ROLE</a:t>
              </a:r>
            </a:p>
          </p:txBody>
        </p:sp>
      </p:grpSp>
      <p:grpSp>
        <p:nvGrpSpPr>
          <p:cNvPr id="39" name="Group 39"/>
          <p:cNvGrpSpPr/>
          <p:nvPr/>
        </p:nvGrpSpPr>
        <p:grpSpPr>
          <a:xfrm>
            <a:off x="5647030" y="2270630"/>
            <a:ext cx="728980" cy="278130"/>
            <a:chOff x="0" y="0"/>
            <a:chExt cx="971973" cy="370840"/>
          </a:xfrm>
        </p:grpSpPr>
        <p:sp>
          <p:nvSpPr>
            <p:cNvPr id="40" name="Freeform 40"/>
            <p:cNvSpPr/>
            <p:nvPr/>
          </p:nvSpPr>
          <p:spPr>
            <a:xfrm>
              <a:off x="0" y="0"/>
              <a:ext cx="971973" cy="370840"/>
            </a:xfrm>
            <a:custGeom>
              <a:avLst/>
              <a:gdLst/>
              <a:ahLst/>
              <a:cxnLst/>
              <a:rect l="l" t="t" r="r" b="b"/>
              <a:pathLst>
                <a:path w="971973" h="370840">
                  <a:moveTo>
                    <a:pt x="0" y="0"/>
                  </a:moveTo>
                  <a:lnTo>
                    <a:pt x="971973" y="0"/>
                  </a:lnTo>
                  <a:lnTo>
                    <a:pt x="971973" y="370840"/>
                  </a:lnTo>
                  <a:lnTo>
                    <a:pt x="0" y="370840"/>
                  </a:lnTo>
                  <a:close/>
                </a:path>
              </a:pathLst>
            </a:custGeom>
          </p:spPr>
        </p:sp>
        <p:sp>
          <p:nvSpPr>
            <p:cNvPr id="41" name="TextBox 41"/>
            <p:cNvSpPr txBox="1"/>
            <p:nvPr/>
          </p:nvSpPr>
          <p:spPr>
            <a:xfrm>
              <a:off x="0" y="9525"/>
              <a:ext cx="971973" cy="361315"/>
            </a:xfrm>
            <a:prstGeom prst="rect">
              <a:avLst/>
            </a:prstGeom>
          </p:spPr>
          <p:txBody>
            <a:bodyPr lIns="0" tIns="0" rIns="0" bIns="0" rtlCol="0" anchor="t"/>
            <a:lstStyle/>
            <a:p>
              <a:pPr algn="l">
                <a:lnSpc>
                  <a:spcPts val="2095"/>
                </a:lnSpc>
              </a:pPr>
              <a:r>
                <a:rPr lang="en-US" sz="1800" b="1" spc="69">
                  <a:solidFill>
                    <a:srgbClr val="000000"/>
                  </a:solidFill>
                  <a:latin typeface="Tahoma Bold"/>
                  <a:ea typeface="Tahoma Bold"/>
                  <a:cs typeface="Tahoma Bold"/>
                  <a:sym typeface="Tahoma Bold"/>
                </a:rPr>
                <a:t>NAME</a:t>
              </a:r>
            </a:p>
          </p:txBody>
        </p:sp>
      </p:grpSp>
      <p:grpSp>
        <p:nvGrpSpPr>
          <p:cNvPr id="42" name="Group 42"/>
          <p:cNvGrpSpPr/>
          <p:nvPr/>
        </p:nvGrpSpPr>
        <p:grpSpPr>
          <a:xfrm>
            <a:off x="8702472" y="2270630"/>
            <a:ext cx="1736089" cy="278130"/>
            <a:chOff x="0" y="0"/>
            <a:chExt cx="2314785" cy="370840"/>
          </a:xfrm>
        </p:grpSpPr>
        <p:sp>
          <p:nvSpPr>
            <p:cNvPr id="43" name="Freeform 43"/>
            <p:cNvSpPr/>
            <p:nvPr/>
          </p:nvSpPr>
          <p:spPr>
            <a:xfrm>
              <a:off x="0" y="0"/>
              <a:ext cx="2314785" cy="370840"/>
            </a:xfrm>
            <a:custGeom>
              <a:avLst/>
              <a:gdLst/>
              <a:ahLst/>
              <a:cxnLst/>
              <a:rect l="l" t="t" r="r" b="b"/>
              <a:pathLst>
                <a:path w="2314785" h="370840">
                  <a:moveTo>
                    <a:pt x="0" y="0"/>
                  </a:moveTo>
                  <a:lnTo>
                    <a:pt x="2314785" y="0"/>
                  </a:lnTo>
                  <a:lnTo>
                    <a:pt x="2314785" y="370840"/>
                  </a:lnTo>
                  <a:lnTo>
                    <a:pt x="0" y="370840"/>
                  </a:lnTo>
                  <a:close/>
                </a:path>
              </a:pathLst>
            </a:custGeom>
          </p:spPr>
        </p:sp>
        <p:sp>
          <p:nvSpPr>
            <p:cNvPr id="44" name="TextBox 44"/>
            <p:cNvSpPr txBox="1"/>
            <p:nvPr/>
          </p:nvSpPr>
          <p:spPr>
            <a:xfrm>
              <a:off x="0" y="9525"/>
              <a:ext cx="2314785" cy="361315"/>
            </a:xfrm>
            <a:prstGeom prst="rect">
              <a:avLst/>
            </a:prstGeom>
          </p:spPr>
          <p:txBody>
            <a:bodyPr lIns="0" tIns="0" rIns="0" bIns="0" rtlCol="0" anchor="t"/>
            <a:lstStyle/>
            <a:p>
              <a:pPr algn="l">
                <a:lnSpc>
                  <a:spcPts val="2095"/>
                </a:lnSpc>
              </a:pPr>
              <a:r>
                <a:rPr lang="en-US" sz="1800" b="1" spc="-10">
                  <a:solidFill>
                    <a:srgbClr val="000000"/>
                  </a:solidFill>
                  <a:latin typeface="Tahoma Bold"/>
                  <a:ea typeface="Tahoma Bold"/>
                  <a:cs typeface="Tahoma Bold"/>
                  <a:sym typeface="Tahoma Bold"/>
                </a:rPr>
                <a:t>STREAM/DEPT</a:t>
              </a:r>
            </a:p>
          </p:txBody>
        </p:sp>
      </p:grpSp>
      <p:grpSp>
        <p:nvGrpSpPr>
          <p:cNvPr id="45" name="Group 45"/>
          <p:cNvGrpSpPr/>
          <p:nvPr/>
        </p:nvGrpSpPr>
        <p:grpSpPr>
          <a:xfrm>
            <a:off x="12025685" y="2270630"/>
            <a:ext cx="648970" cy="278130"/>
            <a:chOff x="0" y="0"/>
            <a:chExt cx="865293" cy="370840"/>
          </a:xfrm>
        </p:grpSpPr>
        <p:sp>
          <p:nvSpPr>
            <p:cNvPr id="46" name="Freeform 46"/>
            <p:cNvSpPr/>
            <p:nvPr/>
          </p:nvSpPr>
          <p:spPr>
            <a:xfrm>
              <a:off x="0" y="0"/>
              <a:ext cx="865293" cy="370840"/>
            </a:xfrm>
            <a:custGeom>
              <a:avLst/>
              <a:gdLst/>
              <a:ahLst/>
              <a:cxnLst/>
              <a:rect l="l" t="t" r="r" b="b"/>
              <a:pathLst>
                <a:path w="865293" h="370840">
                  <a:moveTo>
                    <a:pt x="0" y="0"/>
                  </a:moveTo>
                  <a:lnTo>
                    <a:pt x="865293" y="0"/>
                  </a:lnTo>
                  <a:lnTo>
                    <a:pt x="865293" y="370840"/>
                  </a:lnTo>
                  <a:lnTo>
                    <a:pt x="0" y="370840"/>
                  </a:lnTo>
                  <a:close/>
                </a:path>
              </a:pathLst>
            </a:custGeom>
          </p:spPr>
        </p:sp>
        <p:sp>
          <p:nvSpPr>
            <p:cNvPr id="47" name="TextBox 47"/>
            <p:cNvSpPr txBox="1"/>
            <p:nvPr/>
          </p:nvSpPr>
          <p:spPr>
            <a:xfrm>
              <a:off x="0" y="9525"/>
              <a:ext cx="865293" cy="361315"/>
            </a:xfrm>
            <a:prstGeom prst="rect">
              <a:avLst/>
            </a:prstGeom>
          </p:spPr>
          <p:txBody>
            <a:bodyPr lIns="0" tIns="0" rIns="0" bIns="0" rtlCol="0" anchor="t"/>
            <a:lstStyle/>
            <a:p>
              <a:pPr algn="l">
                <a:lnSpc>
                  <a:spcPts val="2095"/>
                </a:lnSpc>
              </a:pPr>
              <a:r>
                <a:rPr lang="en-US" sz="1800" b="1" spc="-20">
                  <a:solidFill>
                    <a:srgbClr val="000000"/>
                  </a:solidFill>
                  <a:latin typeface="Tahoma Bold"/>
                  <a:ea typeface="Tahoma Bold"/>
                  <a:cs typeface="Tahoma Bold"/>
                  <a:sym typeface="Tahoma Bold"/>
                </a:rPr>
                <a:t>YEAR</a:t>
              </a:r>
            </a:p>
          </p:txBody>
        </p:sp>
      </p:grpSp>
      <p:grpSp>
        <p:nvGrpSpPr>
          <p:cNvPr id="48" name="Group 48"/>
          <p:cNvGrpSpPr/>
          <p:nvPr/>
        </p:nvGrpSpPr>
        <p:grpSpPr>
          <a:xfrm>
            <a:off x="14860261" y="2270630"/>
            <a:ext cx="1115695" cy="278130"/>
            <a:chOff x="0" y="0"/>
            <a:chExt cx="1487593" cy="370840"/>
          </a:xfrm>
        </p:grpSpPr>
        <p:sp>
          <p:nvSpPr>
            <p:cNvPr id="49" name="Freeform 49"/>
            <p:cNvSpPr/>
            <p:nvPr/>
          </p:nvSpPr>
          <p:spPr>
            <a:xfrm>
              <a:off x="0" y="0"/>
              <a:ext cx="1487593" cy="370840"/>
            </a:xfrm>
            <a:custGeom>
              <a:avLst/>
              <a:gdLst/>
              <a:ahLst/>
              <a:cxnLst/>
              <a:rect l="l" t="t" r="r" b="b"/>
              <a:pathLst>
                <a:path w="1487593" h="370840">
                  <a:moveTo>
                    <a:pt x="0" y="0"/>
                  </a:moveTo>
                  <a:lnTo>
                    <a:pt x="1487593" y="0"/>
                  </a:lnTo>
                  <a:lnTo>
                    <a:pt x="1487593" y="370840"/>
                  </a:lnTo>
                  <a:lnTo>
                    <a:pt x="0" y="370840"/>
                  </a:lnTo>
                  <a:close/>
                </a:path>
              </a:pathLst>
            </a:custGeom>
          </p:spPr>
        </p:sp>
        <p:sp>
          <p:nvSpPr>
            <p:cNvPr id="50" name="TextBox 50"/>
            <p:cNvSpPr txBox="1"/>
            <p:nvPr/>
          </p:nvSpPr>
          <p:spPr>
            <a:xfrm>
              <a:off x="0" y="9525"/>
              <a:ext cx="1487593" cy="361315"/>
            </a:xfrm>
            <a:prstGeom prst="rect">
              <a:avLst/>
            </a:prstGeom>
          </p:spPr>
          <p:txBody>
            <a:bodyPr lIns="0" tIns="0" rIns="0" bIns="0" rtlCol="0" anchor="t"/>
            <a:lstStyle/>
            <a:p>
              <a:pPr algn="l">
                <a:lnSpc>
                  <a:spcPts val="2095"/>
                </a:lnSpc>
              </a:pPr>
              <a:r>
                <a:rPr lang="en-US" sz="1800" b="1" spc="60">
                  <a:solidFill>
                    <a:srgbClr val="000000"/>
                  </a:solidFill>
                  <a:latin typeface="Tahoma Bold"/>
                  <a:ea typeface="Tahoma Bold"/>
                  <a:cs typeface="Tahoma Bold"/>
                  <a:sym typeface="Tahoma Bold"/>
                </a:rPr>
                <a:t>COLLEGE</a:t>
              </a:r>
            </a:p>
          </p:txBody>
        </p:sp>
      </p:grpSp>
      <p:graphicFrame>
        <p:nvGraphicFramePr>
          <p:cNvPr id="51" name="Table 51"/>
          <p:cNvGraphicFramePr>
            <a:graphicFrameLocks noGrp="1"/>
          </p:cNvGraphicFramePr>
          <p:nvPr>
            <p:extLst>
              <p:ext uri="{D42A27DB-BD31-4B8C-83A1-F6EECF244321}">
                <p14:modId xmlns:p14="http://schemas.microsoft.com/office/powerpoint/2010/main" val="553856905"/>
              </p:ext>
            </p:extLst>
          </p:nvPr>
        </p:nvGraphicFramePr>
        <p:xfrm>
          <a:off x="251493" y="1759120"/>
          <a:ext cx="16917888" cy="7348835"/>
        </p:xfrm>
        <a:graphic>
          <a:graphicData uri="http://schemas.openxmlformats.org/drawingml/2006/table">
            <a:tbl>
              <a:tblPr/>
              <a:tblGrid>
                <a:gridCol w="28956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3963888">
                  <a:extLst>
                    <a:ext uri="{9D8B030D-6E8A-4147-A177-3AD203B41FA5}">
                      <a16:colId xmlns:a16="http://schemas.microsoft.com/office/drawing/2014/main" val="20004"/>
                    </a:ext>
                  </a:extLst>
                </a:gridCol>
              </a:tblGrid>
              <a:tr h="1332647">
                <a:tc>
                  <a:txBody>
                    <a:bodyPr/>
                    <a:lstStyle/>
                    <a:p>
                      <a:pPr algn="l">
                        <a:lnSpc>
                          <a:spcPts val="1679"/>
                        </a:lnSpc>
                        <a:defRPr/>
                      </a:pPr>
                      <a:r>
                        <a:rPr lang="en-US" sz="2000" dirty="0">
                          <a:latin typeface="Atkinson Hyperlegible" panose="020B0604020202020204" charset="0"/>
                        </a:rPr>
                        <a:t>  NAME</a:t>
                      </a:r>
                      <a:r>
                        <a:rPr lang="en-US" sz="2000" baseline="0" dirty="0">
                          <a:latin typeface="Atkinson Hyperlegible" panose="020B0604020202020204" charset="0"/>
                        </a:rPr>
                        <a:t> </a:t>
                      </a:r>
                      <a:endParaRPr lang="en-US" sz="2000" dirty="0">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COLLEGE</a:t>
                      </a:r>
                      <a:r>
                        <a:rPr lang="en-US" sz="2000" baseline="0" dirty="0">
                          <a:latin typeface="Atkinson Hyperlegible" panose="020B0604020202020204" charset="0"/>
                        </a:rPr>
                        <a:t> </a:t>
                      </a:r>
                      <a:endParaRPr lang="en-US" sz="2000" dirty="0">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DEPARTMENT </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MOBILE NUMBER</a:t>
                      </a:r>
                      <a:r>
                        <a:rPr lang="en-US" sz="2000" baseline="0" dirty="0">
                          <a:latin typeface="Atkinson Hyperlegible" panose="020B0604020202020204" charset="0"/>
                        </a:rPr>
                        <a:t> </a:t>
                      </a:r>
                      <a:endParaRPr lang="en-US" sz="2000" dirty="0">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E</a:t>
                      </a:r>
                      <a:r>
                        <a:rPr lang="en-US" sz="2000" baseline="0" dirty="0">
                          <a:latin typeface="Atkinson Hyperlegible" panose="020B0604020202020204" charset="0"/>
                        </a:rPr>
                        <a:t> MAIL ID</a:t>
                      </a:r>
                      <a:endParaRPr lang="en-US" sz="2000" dirty="0">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02698">
                <a:tc>
                  <a:txBody>
                    <a:bodyPr/>
                    <a:lstStyle/>
                    <a:p>
                      <a:pPr algn="l">
                        <a:lnSpc>
                          <a:spcPts val="1679"/>
                        </a:lnSpc>
                        <a:defRPr/>
                      </a:pPr>
                      <a:r>
                        <a:rPr lang="en-US" sz="2400">
                          <a:latin typeface="Atkinson Hyperlegible" panose="020B0604020202020204" charset="0"/>
                        </a:rPr>
                        <a:t>  S.SHRUTHIKAA</a:t>
                      </a:r>
                      <a:endParaRPr lang="en-US" sz="2400" dirty="0">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1400" b="0" dirty="0">
                          <a:latin typeface="Atkinson Hyperlegible" panose="020B0604020202020204" charset="0"/>
                        </a:rPr>
                        <a:t> </a:t>
                      </a:r>
                      <a:r>
                        <a:rPr lang="en-US" sz="1600" b="0" baseline="0" dirty="0">
                          <a:latin typeface="Atkinson Hyperlegible" panose="020B0604020202020204" charset="0"/>
                        </a:rPr>
                        <a:t>SRI VENKATESWARA COLLEGE OF ENGINEERING </a:t>
                      </a:r>
                      <a:endParaRPr lang="en-US" sz="1200" b="0" dirty="0">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CSE </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9176411888</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u="none" dirty="0">
                          <a:solidFill>
                            <a:schemeClr val="tx1"/>
                          </a:solidFill>
                          <a:latin typeface="Atkinson Hyperlegible" panose="020B0604020202020204" charset="0"/>
                        </a:rPr>
                        <a:t>   </a:t>
                      </a:r>
                      <a:r>
                        <a:rPr lang="en-US" sz="2000" u="none" dirty="0">
                          <a:solidFill>
                            <a:schemeClr val="tx1"/>
                          </a:solidFill>
                          <a:latin typeface="Atkinson Hyperlegible" panose="020B0604020202020204" charset="0"/>
                          <a:hlinkClick r:id="rId21"/>
                        </a:rPr>
                        <a:t>2025cs0846@svce.ac.in</a:t>
                      </a:r>
                      <a:endParaRPr lang="en-US" sz="2000" u="none" dirty="0">
                        <a:solidFill>
                          <a:schemeClr val="tx1"/>
                        </a:solidFill>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2698">
                <a:tc>
                  <a:txBody>
                    <a:bodyPr/>
                    <a:lstStyle/>
                    <a:p>
                      <a:pPr algn="l">
                        <a:lnSpc>
                          <a:spcPts val="1679"/>
                        </a:lnSpc>
                        <a:defRPr/>
                      </a:pPr>
                      <a:r>
                        <a:rPr lang="en-US" sz="2400" dirty="0">
                          <a:latin typeface="Atkinson Hyperlegible" panose="020B0604020202020204" charset="0"/>
                        </a:rPr>
                        <a:t>  S.PUJA</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1600" b="0" baseline="0" dirty="0">
                          <a:latin typeface="Atkinson Hyperlegible" panose="020B0604020202020204" charset="0"/>
                        </a:rPr>
                        <a:t>  SRI VENKATESWARA COLLEGE OF ENGINEERING </a:t>
                      </a:r>
                      <a:endParaRPr lang="en-US" sz="1600" b="0" dirty="0">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CSE </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9345702256</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u="none" dirty="0">
                          <a:solidFill>
                            <a:schemeClr val="tx1"/>
                          </a:solidFill>
                          <a:latin typeface="Atkinson Hyperlegible" panose="020B0604020202020204" charset="0"/>
                        </a:rPr>
                        <a:t>    </a:t>
                      </a:r>
                      <a:r>
                        <a:rPr lang="en-US" sz="2000" u="none" dirty="0">
                          <a:solidFill>
                            <a:schemeClr val="tx1"/>
                          </a:solidFill>
                          <a:latin typeface="Atkinson Hyperlegible" panose="020B0604020202020204" charset="0"/>
                          <a:hlinkClick r:id="rId22"/>
                        </a:rPr>
                        <a:t>2025cs0851@svce.ac.in</a:t>
                      </a:r>
                      <a:endParaRPr lang="en-US" sz="2000" u="none" dirty="0">
                        <a:solidFill>
                          <a:schemeClr val="tx1"/>
                        </a:solidFill>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2698">
                <a:tc>
                  <a:txBody>
                    <a:bodyPr/>
                    <a:lstStyle/>
                    <a:p>
                      <a:pPr algn="l">
                        <a:lnSpc>
                          <a:spcPts val="1679"/>
                        </a:lnSpc>
                        <a:defRPr/>
                      </a:pPr>
                      <a:r>
                        <a:rPr lang="en-US" sz="2400" dirty="0">
                          <a:latin typeface="Atkinson Hyperlegible" panose="020B0604020202020204" charset="0"/>
                        </a:rPr>
                        <a:t>  R.SAINETHRA</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1600" b="0" baseline="0" dirty="0">
                          <a:latin typeface="Atkinson Hyperlegible" panose="020B0604020202020204" charset="0"/>
                        </a:rPr>
                        <a:t>SRI VENKATESWARA COLLEGE OF ENGINEERING </a:t>
                      </a:r>
                      <a:endParaRPr lang="en-US" sz="1600" b="0" dirty="0">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CSE </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7010538654</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u="none" dirty="0">
                          <a:solidFill>
                            <a:schemeClr val="tx1"/>
                          </a:solidFill>
                          <a:latin typeface="Atkinson Hyperlegible" panose="020B0604020202020204" charset="0"/>
                        </a:rPr>
                        <a:t>    </a:t>
                      </a:r>
                      <a:r>
                        <a:rPr lang="en-US" sz="2000" u="none" dirty="0">
                          <a:solidFill>
                            <a:schemeClr val="tx1"/>
                          </a:solidFill>
                          <a:latin typeface="Atkinson Hyperlegible" panose="020B0604020202020204" charset="0"/>
                          <a:hlinkClick r:id="rId23"/>
                        </a:rPr>
                        <a:t>2025cs0869@svce.ac.in</a:t>
                      </a:r>
                      <a:endParaRPr lang="en-US" sz="2000" u="none" dirty="0">
                        <a:solidFill>
                          <a:schemeClr val="tx1"/>
                        </a:solidFill>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02698">
                <a:tc>
                  <a:txBody>
                    <a:bodyPr/>
                    <a:lstStyle/>
                    <a:p>
                      <a:pPr algn="l">
                        <a:lnSpc>
                          <a:spcPts val="1679"/>
                        </a:lnSpc>
                        <a:defRPr/>
                      </a:pPr>
                      <a:r>
                        <a:rPr lang="en-US" sz="2400" dirty="0">
                          <a:latin typeface="Atkinson Hyperlegible" panose="020B0604020202020204" charset="0"/>
                        </a:rPr>
                        <a:t>  R.SAI HAMSITHA</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1600" b="0" baseline="0" dirty="0">
                          <a:latin typeface="Atkinson Hyperlegible" panose="020B0604020202020204" charset="0"/>
                        </a:rPr>
                        <a:t>SRI VENKATESWARA COLLEGE OF ENGINEERING </a:t>
                      </a:r>
                      <a:endParaRPr lang="en-US" sz="1600" b="0" dirty="0">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CSE </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8056935129</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u="none" dirty="0">
                          <a:solidFill>
                            <a:schemeClr val="tx1"/>
                          </a:solidFill>
                          <a:latin typeface="Atkinson Hyperlegible" panose="020B0604020202020204" charset="0"/>
                        </a:rPr>
                        <a:t>    </a:t>
                      </a:r>
                      <a:r>
                        <a:rPr lang="en-US" sz="2000" u="none" dirty="0">
                          <a:solidFill>
                            <a:schemeClr val="tx1"/>
                          </a:solidFill>
                          <a:latin typeface="Atkinson Hyperlegible" panose="020B0604020202020204" charset="0"/>
                          <a:hlinkClick r:id="rId24"/>
                        </a:rPr>
                        <a:t>2025cs0234@svce.ac.in</a:t>
                      </a:r>
                      <a:endParaRPr lang="en-US" sz="2000" u="none" dirty="0">
                        <a:solidFill>
                          <a:schemeClr val="tx1"/>
                        </a:solidFill>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002698">
                <a:tc>
                  <a:txBody>
                    <a:bodyPr/>
                    <a:lstStyle/>
                    <a:p>
                      <a:pPr algn="l">
                        <a:lnSpc>
                          <a:spcPts val="1679"/>
                        </a:lnSpc>
                        <a:defRPr/>
                      </a:pPr>
                      <a:r>
                        <a:rPr lang="en-US" sz="2400" dirty="0">
                          <a:latin typeface="Atkinson Hyperlegible" panose="020B0604020202020204" charset="0"/>
                        </a:rPr>
                        <a:t> SANJANASRI M </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1600" b="0" baseline="0">
                          <a:latin typeface="Atkinson Hyperlegible" panose="020B0604020202020204" charset="0"/>
                        </a:rPr>
                        <a:t> SRI </a:t>
                      </a:r>
                      <a:r>
                        <a:rPr lang="en-US" sz="1600" b="0" baseline="0" dirty="0">
                          <a:latin typeface="Atkinson Hyperlegible" panose="020B0604020202020204" charset="0"/>
                        </a:rPr>
                        <a:t>VENKATESWARA COLLEGE OF ENGINEERING </a:t>
                      </a:r>
                      <a:endParaRPr lang="en-US" sz="1600" b="0" dirty="0">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AD</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dirty="0">
                          <a:latin typeface="Atkinson Hyperlegible" panose="020B0604020202020204" charset="0"/>
                        </a:rPr>
                        <a:t>      9944272743</a:t>
                      </a: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r>
                        <a:rPr lang="en-US" sz="2000" u="none" dirty="0">
                          <a:solidFill>
                            <a:schemeClr val="tx1"/>
                          </a:solidFill>
                          <a:latin typeface="Atkinson Hyperlegible" panose="020B0604020202020204" charset="0"/>
                        </a:rPr>
                        <a:t>  </a:t>
                      </a:r>
                      <a:r>
                        <a:rPr lang="en-US" sz="2000" u="none" baseline="0" dirty="0">
                          <a:solidFill>
                            <a:schemeClr val="tx1"/>
                          </a:solidFill>
                          <a:latin typeface="Atkinson Hyperlegible" panose="020B0604020202020204" charset="0"/>
                        </a:rPr>
                        <a:t>  </a:t>
                      </a:r>
                      <a:r>
                        <a:rPr lang="en-US" sz="2000" u="none" baseline="0" dirty="0">
                          <a:solidFill>
                            <a:schemeClr val="tx1"/>
                          </a:solidFill>
                          <a:latin typeface="Atkinson Hyperlegible" panose="020B0604020202020204" charset="0"/>
                          <a:hlinkClick r:id="rId25"/>
                        </a:rPr>
                        <a:t>2025ad0936@svce.ac.in</a:t>
                      </a:r>
                      <a:endParaRPr lang="en-US" sz="2000" u="sng" dirty="0">
                        <a:solidFill>
                          <a:schemeClr val="tx1"/>
                        </a:solidFill>
                        <a:latin typeface="Atkinson Hyperlegible" panose="020B0604020202020204" charset="0"/>
                      </a:endParaRPr>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002698">
                <a:tc>
                  <a:txBody>
                    <a:bodyPr/>
                    <a:lstStyle/>
                    <a:p>
                      <a:pPr algn="l">
                        <a:lnSpc>
                          <a:spcPts val="1679"/>
                        </a:lnSpc>
                        <a:defRPr/>
                      </a:pPr>
                      <a:endParaRPr lang="en-US" sz="1100" dirty="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endParaRPr lang="en-US" sz="110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l">
                        <a:lnSpc>
                          <a:spcPts val="1679"/>
                        </a:lnSpc>
                        <a:defRPr/>
                      </a:pPr>
                      <a:endParaRPr lang="en-US" sz="1100" dirty="0"/>
                    </a:p>
                  </a:txBody>
                  <a:tcPr marL="0" marR="0" marT="0" marB="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pSp>
        <p:nvGrpSpPr>
          <p:cNvPr id="52" name="Group 52"/>
          <p:cNvGrpSpPr/>
          <p:nvPr/>
        </p:nvGrpSpPr>
        <p:grpSpPr>
          <a:xfrm>
            <a:off x="1016000" y="276291"/>
            <a:ext cx="11351260" cy="926973"/>
            <a:chOff x="0" y="0"/>
            <a:chExt cx="15135013" cy="1235964"/>
          </a:xfrm>
        </p:grpSpPr>
        <p:sp>
          <p:nvSpPr>
            <p:cNvPr id="53" name="Freeform 53"/>
            <p:cNvSpPr/>
            <p:nvPr/>
          </p:nvSpPr>
          <p:spPr>
            <a:xfrm>
              <a:off x="0" y="0"/>
              <a:ext cx="15135014" cy="1235964"/>
            </a:xfrm>
            <a:custGeom>
              <a:avLst/>
              <a:gdLst/>
              <a:ahLst/>
              <a:cxnLst/>
              <a:rect l="l" t="t" r="r" b="b"/>
              <a:pathLst>
                <a:path w="15135014" h="1235964">
                  <a:moveTo>
                    <a:pt x="0" y="0"/>
                  </a:moveTo>
                  <a:lnTo>
                    <a:pt x="15135014" y="0"/>
                  </a:lnTo>
                  <a:lnTo>
                    <a:pt x="15135014" y="1235964"/>
                  </a:lnTo>
                  <a:lnTo>
                    <a:pt x="0" y="1235964"/>
                  </a:lnTo>
                  <a:close/>
                </a:path>
              </a:pathLst>
            </a:custGeom>
          </p:spPr>
        </p:sp>
        <p:sp>
          <p:nvSpPr>
            <p:cNvPr id="54" name="TextBox 54"/>
            <p:cNvSpPr txBox="1"/>
            <p:nvPr/>
          </p:nvSpPr>
          <p:spPr>
            <a:xfrm>
              <a:off x="0" y="-9525"/>
              <a:ext cx="15135013" cy="1245489"/>
            </a:xfrm>
            <a:prstGeom prst="rect">
              <a:avLst/>
            </a:prstGeom>
          </p:spPr>
          <p:txBody>
            <a:bodyPr lIns="0" tIns="0" rIns="0" bIns="0" rtlCol="0" anchor="t"/>
            <a:lstStyle/>
            <a:p>
              <a:pPr algn="l">
                <a:lnSpc>
                  <a:spcPts val="6120"/>
                </a:lnSpc>
              </a:pPr>
              <a:r>
                <a:rPr lang="en-US" sz="5100" b="1" spc="305">
                  <a:solidFill>
                    <a:srgbClr val="FFFFFF"/>
                  </a:solidFill>
                  <a:latin typeface="Atkinson Hyperlegible Bold"/>
                  <a:ea typeface="Atkinson Hyperlegible Bold"/>
                  <a:cs typeface="Atkinson Hyperlegible Bold"/>
                  <a:sym typeface="Atkinson Hyperlegible Bold"/>
                </a:rPr>
                <a:t>TEAM DETAILS</a:t>
              </a:r>
            </a:p>
          </p:txBody>
        </p:sp>
      </p:grpSp>
      <p:sp>
        <p:nvSpPr>
          <p:cNvPr id="55" name="Freeform 55"/>
          <p:cNvSpPr/>
          <p:nvPr/>
        </p:nvSpPr>
        <p:spPr>
          <a:xfrm>
            <a:off x="13778250" y="8698621"/>
            <a:ext cx="4509748" cy="1588378"/>
          </a:xfrm>
          <a:custGeom>
            <a:avLst/>
            <a:gdLst/>
            <a:ahLst/>
            <a:cxnLst/>
            <a:rect l="l" t="t" r="r" b="b"/>
            <a:pathLst>
              <a:path w="4509748" h="1588378">
                <a:moveTo>
                  <a:pt x="0" y="0"/>
                </a:moveTo>
                <a:lnTo>
                  <a:pt x="4509748" y="0"/>
                </a:lnTo>
                <a:lnTo>
                  <a:pt x="4509748" y="1588378"/>
                </a:lnTo>
                <a:lnTo>
                  <a:pt x="0" y="1588378"/>
                </a:lnTo>
                <a:lnTo>
                  <a:pt x="0" y="0"/>
                </a:lnTo>
                <a:close/>
              </a:path>
            </a:pathLst>
          </a:custGeom>
          <a:blipFill>
            <a:blip r:embed="rId26"/>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278</TotalTime>
  <Words>718</Words>
  <Application>Microsoft Office PowerPoint</Application>
  <PresentationFormat>Custom</PresentationFormat>
  <Paragraphs>91</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Verdana Pro</vt:lpstr>
      <vt:lpstr>Calibri</vt:lpstr>
      <vt:lpstr>Arial</vt:lpstr>
      <vt:lpstr>Atkinson Hyperlegible</vt:lpstr>
      <vt:lpstr>Atkinson Hyperlegible Bold</vt:lpstr>
      <vt:lpstr>Tahoma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abstract-format (2).pptx</dc:title>
  <dc:creator>DELL</dc:creator>
  <cp:lastModifiedBy>ISHVARYA .</cp:lastModifiedBy>
  <cp:revision>25</cp:revision>
  <dcterms:created xsi:type="dcterms:W3CDTF">2006-08-16T00:00:00Z</dcterms:created>
  <dcterms:modified xsi:type="dcterms:W3CDTF">2026-03-11T12:14:32Z</dcterms:modified>
  <dc:identifier>DAGlbhOGe8w</dc:identifier>
</cp:coreProperties>
</file>