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8288000" cy="10287000"/>
  <p:notesSz cx="6858000" cy="9144000"/>
  <p:embeddedFontLst>
    <p:embeddedFont>
      <p:font typeface="Atkinson Hyperlegible Bold" pitchFamily="2" charset="0"/>
      <p:bold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Tahoma Bold" panose="020B0804030504040204" pitchFamily="34" charset="0"/>
      <p:bold r:id="rId15"/>
    </p:embeddedFont>
    <p:embeddedFont>
      <p:font typeface="Verdana Pro" panose="020B0604030504040204" pitchFamily="3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4.fntdata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3.fntdata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font" Target="fonts/font7.fntdata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2.fntdata" /><Relationship Id="rId5" Type="http://schemas.openxmlformats.org/officeDocument/2006/relationships/slide" Target="slides/slide4.xml" /><Relationship Id="rId15" Type="http://schemas.openxmlformats.org/officeDocument/2006/relationships/font" Target="fonts/font6.fntdata" /><Relationship Id="rId10" Type="http://schemas.openxmlformats.org/officeDocument/2006/relationships/font" Target="fonts/font1.fntdata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5.fntdat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 /><Relationship Id="rId13" Type="http://schemas.openxmlformats.org/officeDocument/2006/relationships/image" Target="../media/image12.png" /><Relationship Id="rId18" Type="http://schemas.openxmlformats.org/officeDocument/2006/relationships/image" Target="../media/image17.png" /><Relationship Id="rId3" Type="http://schemas.openxmlformats.org/officeDocument/2006/relationships/image" Target="../media/image2.png" /><Relationship Id="rId21" Type="http://schemas.openxmlformats.org/officeDocument/2006/relationships/image" Target="../media/image20.png" /><Relationship Id="rId7" Type="http://schemas.openxmlformats.org/officeDocument/2006/relationships/image" Target="../media/image6.svg" /><Relationship Id="rId12" Type="http://schemas.openxmlformats.org/officeDocument/2006/relationships/image" Target="../media/image11.png" /><Relationship Id="rId17" Type="http://schemas.openxmlformats.org/officeDocument/2006/relationships/image" Target="../media/image16.svg" /><Relationship Id="rId2" Type="http://schemas.openxmlformats.org/officeDocument/2006/relationships/image" Target="../media/image1.png" /><Relationship Id="rId16" Type="http://schemas.openxmlformats.org/officeDocument/2006/relationships/image" Target="../media/image15.png" /><Relationship Id="rId20" Type="http://schemas.openxmlformats.org/officeDocument/2006/relationships/image" Target="../media/image19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11" Type="http://schemas.openxmlformats.org/officeDocument/2006/relationships/image" Target="../media/image10.svg" /><Relationship Id="rId24" Type="http://schemas.openxmlformats.org/officeDocument/2006/relationships/image" Target="../media/image23.png" /><Relationship Id="rId5" Type="http://schemas.openxmlformats.org/officeDocument/2006/relationships/image" Target="../media/image4.png" /><Relationship Id="rId15" Type="http://schemas.openxmlformats.org/officeDocument/2006/relationships/image" Target="../media/image14.png" /><Relationship Id="rId23" Type="http://schemas.openxmlformats.org/officeDocument/2006/relationships/image" Target="../media/image22.png" /><Relationship Id="rId10" Type="http://schemas.openxmlformats.org/officeDocument/2006/relationships/image" Target="../media/image9.png" /><Relationship Id="rId19" Type="http://schemas.openxmlformats.org/officeDocument/2006/relationships/image" Target="../media/image18.png" /><Relationship Id="rId4" Type="http://schemas.openxmlformats.org/officeDocument/2006/relationships/image" Target="../media/image3.png" /><Relationship Id="rId9" Type="http://schemas.openxmlformats.org/officeDocument/2006/relationships/image" Target="../media/image8.png" /><Relationship Id="rId14" Type="http://schemas.openxmlformats.org/officeDocument/2006/relationships/image" Target="../media/image13.png" /><Relationship Id="rId22" Type="http://schemas.openxmlformats.org/officeDocument/2006/relationships/image" Target="../media/image21.svg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 /><Relationship Id="rId13" Type="http://schemas.openxmlformats.org/officeDocument/2006/relationships/image" Target="../media/image11.png" /><Relationship Id="rId18" Type="http://schemas.openxmlformats.org/officeDocument/2006/relationships/image" Target="../media/image16.svg" /><Relationship Id="rId3" Type="http://schemas.openxmlformats.org/officeDocument/2006/relationships/image" Target="../media/image24.png" /><Relationship Id="rId21" Type="http://schemas.openxmlformats.org/officeDocument/2006/relationships/image" Target="../media/image23.png" /><Relationship Id="rId7" Type="http://schemas.openxmlformats.org/officeDocument/2006/relationships/image" Target="../media/image5.png" /><Relationship Id="rId12" Type="http://schemas.openxmlformats.org/officeDocument/2006/relationships/image" Target="../media/image10.svg" /><Relationship Id="rId17" Type="http://schemas.openxmlformats.org/officeDocument/2006/relationships/image" Target="../media/image15.png" /><Relationship Id="rId2" Type="http://schemas.openxmlformats.org/officeDocument/2006/relationships/image" Target="../media/image1.png" /><Relationship Id="rId16" Type="http://schemas.openxmlformats.org/officeDocument/2006/relationships/image" Target="../media/image14.png" /><Relationship Id="rId20" Type="http://schemas.openxmlformats.org/officeDocument/2006/relationships/image" Target="../media/image18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4.png" /><Relationship Id="rId11" Type="http://schemas.openxmlformats.org/officeDocument/2006/relationships/image" Target="../media/image9.png" /><Relationship Id="rId5" Type="http://schemas.openxmlformats.org/officeDocument/2006/relationships/image" Target="../media/image3.png" /><Relationship Id="rId15" Type="http://schemas.openxmlformats.org/officeDocument/2006/relationships/image" Target="../media/image13.png" /><Relationship Id="rId10" Type="http://schemas.openxmlformats.org/officeDocument/2006/relationships/image" Target="../media/image8.png" /><Relationship Id="rId19" Type="http://schemas.openxmlformats.org/officeDocument/2006/relationships/image" Target="../media/image17.png" /><Relationship Id="rId4" Type="http://schemas.openxmlformats.org/officeDocument/2006/relationships/image" Target="../media/image2.png" /><Relationship Id="rId9" Type="http://schemas.openxmlformats.org/officeDocument/2006/relationships/image" Target="../media/image7.png" /><Relationship Id="rId14" Type="http://schemas.openxmlformats.org/officeDocument/2006/relationships/image" Target="../media/image12.png" /><Relationship Id="rId22" Type="http://schemas.openxmlformats.org/officeDocument/2006/relationships/image" Target="../media/image25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 /><Relationship Id="rId13" Type="http://schemas.openxmlformats.org/officeDocument/2006/relationships/image" Target="../media/image11.png" /><Relationship Id="rId18" Type="http://schemas.openxmlformats.org/officeDocument/2006/relationships/image" Target="../media/image16.svg" /><Relationship Id="rId3" Type="http://schemas.openxmlformats.org/officeDocument/2006/relationships/image" Target="../media/image24.png" /><Relationship Id="rId21" Type="http://schemas.openxmlformats.org/officeDocument/2006/relationships/image" Target="../media/image23.png" /><Relationship Id="rId7" Type="http://schemas.openxmlformats.org/officeDocument/2006/relationships/image" Target="../media/image5.png" /><Relationship Id="rId12" Type="http://schemas.openxmlformats.org/officeDocument/2006/relationships/image" Target="../media/image10.svg" /><Relationship Id="rId17" Type="http://schemas.openxmlformats.org/officeDocument/2006/relationships/image" Target="../media/image15.png" /><Relationship Id="rId2" Type="http://schemas.openxmlformats.org/officeDocument/2006/relationships/image" Target="../media/image1.png" /><Relationship Id="rId16" Type="http://schemas.openxmlformats.org/officeDocument/2006/relationships/image" Target="../media/image14.png" /><Relationship Id="rId20" Type="http://schemas.openxmlformats.org/officeDocument/2006/relationships/image" Target="../media/image18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4.png" /><Relationship Id="rId11" Type="http://schemas.openxmlformats.org/officeDocument/2006/relationships/image" Target="../media/image9.png" /><Relationship Id="rId5" Type="http://schemas.openxmlformats.org/officeDocument/2006/relationships/image" Target="../media/image3.png" /><Relationship Id="rId15" Type="http://schemas.openxmlformats.org/officeDocument/2006/relationships/image" Target="../media/image13.png" /><Relationship Id="rId10" Type="http://schemas.openxmlformats.org/officeDocument/2006/relationships/image" Target="../media/image8.png" /><Relationship Id="rId19" Type="http://schemas.openxmlformats.org/officeDocument/2006/relationships/image" Target="../media/image17.png" /><Relationship Id="rId4" Type="http://schemas.openxmlformats.org/officeDocument/2006/relationships/image" Target="../media/image2.png" /><Relationship Id="rId9" Type="http://schemas.openxmlformats.org/officeDocument/2006/relationships/image" Target="../media/image7.png" /><Relationship Id="rId14" Type="http://schemas.openxmlformats.org/officeDocument/2006/relationships/image" Target="../media/image12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 /><Relationship Id="rId13" Type="http://schemas.openxmlformats.org/officeDocument/2006/relationships/image" Target="../media/image11.png" /><Relationship Id="rId18" Type="http://schemas.openxmlformats.org/officeDocument/2006/relationships/image" Target="../media/image16.svg" /><Relationship Id="rId3" Type="http://schemas.openxmlformats.org/officeDocument/2006/relationships/image" Target="../media/image24.png" /><Relationship Id="rId21" Type="http://schemas.openxmlformats.org/officeDocument/2006/relationships/image" Target="../media/image23.png" /><Relationship Id="rId7" Type="http://schemas.openxmlformats.org/officeDocument/2006/relationships/image" Target="../media/image5.png" /><Relationship Id="rId12" Type="http://schemas.openxmlformats.org/officeDocument/2006/relationships/image" Target="../media/image10.svg" /><Relationship Id="rId17" Type="http://schemas.openxmlformats.org/officeDocument/2006/relationships/image" Target="../media/image15.png" /><Relationship Id="rId2" Type="http://schemas.openxmlformats.org/officeDocument/2006/relationships/image" Target="../media/image1.png" /><Relationship Id="rId16" Type="http://schemas.openxmlformats.org/officeDocument/2006/relationships/image" Target="../media/image14.png" /><Relationship Id="rId20" Type="http://schemas.openxmlformats.org/officeDocument/2006/relationships/image" Target="../media/image18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4.png" /><Relationship Id="rId11" Type="http://schemas.openxmlformats.org/officeDocument/2006/relationships/image" Target="../media/image9.png" /><Relationship Id="rId5" Type="http://schemas.openxmlformats.org/officeDocument/2006/relationships/image" Target="../media/image3.png" /><Relationship Id="rId15" Type="http://schemas.openxmlformats.org/officeDocument/2006/relationships/image" Target="../media/image13.png" /><Relationship Id="rId10" Type="http://schemas.openxmlformats.org/officeDocument/2006/relationships/image" Target="../media/image8.png" /><Relationship Id="rId19" Type="http://schemas.openxmlformats.org/officeDocument/2006/relationships/image" Target="../media/image17.png" /><Relationship Id="rId4" Type="http://schemas.openxmlformats.org/officeDocument/2006/relationships/image" Target="../media/image2.png" /><Relationship Id="rId9" Type="http://schemas.openxmlformats.org/officeDocument/2006/relationships/image" Target="../media/image7.png" /><Relationship Id="rId14" Type="http://schemas.openxmlformats.org/officeDocument/2006/relationships/image" Target="../media/image12.png" /><Relationship Id="rId22" Type="http://schemas.openxmlformats.org/officeDocument/2006/relationships/image" Target="../media/image26.pn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 /><Relationship Id="rId13" Type="http://schemas.openxmlformats.org/officeDocument/2006/relationships/image" Target="../media/image11.png" /><Relationship Id="rId18" Type="http://schemas.openxmlformats.org/officeDocument/2006/relationships/image" Target="../media/image16.svg" /><Relationship Id="rId3" Type="http://schemas.openxmlformats.org/officeDocument/2006/relationships/image" Target="../media/image24.png" /><Relationship Id="rId21" Type="http://schemas.openxmlformats.org/officeDocument/2006/relationships/image" Target="../media/image23.png" /><Relationship Id="rId7" Type="http://schemas.openxmlformats.org/officeDocument/2006/relationships/image" Target="../media/image5.png" /><Relationship Id="rId12" Type="http://schemas.openxmlformats.org/officeDocument/2006/relationships/image" Target="../media/image10.svg" /><Relationship Id="rId17" Type="http://schemas.openxmlformats.org/officeDocument/2006/relationships/image" Target="../media/image15.png" /><Relationship Id="rId2" Type="http://schemas.openxmlformats.org/officeDocument/2006/relationships/image" Target="../media/image1.png" /><Relationship Id="rId16" Type="http://schemas.openxmlformats.org/officeDocument/2006/relationships/image" Target="../media/image14.png" /><Relationship Id="rId20" Type="http://schemas.openxmlformats.org/officeDocument/2006/relationships/image" Target="../media/image18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4.png" /><Relationship Id="rId11" Type="http://schemas.openxmlformats.org/officeDocument/2006/relationships/image" Target="../media/image9.png" /><Relationship Id="rId5" Type="http://schemas.openxmlformats.org/officeDocument/2006/relationships/image" Target="../media/image3.png" /><Relationship Id="rId15" Type="http://schemas.openxmlformats.org/officeDocument/2006/relationships/image" Target="../media/image13.png" /><Relationship Id="rId10" Type="http://schemas.openxmlformats.org/officeDocument/2006/relationships/image" Target="../media/image8.png" /><Relationship Id="rId19" Type="http://schemas.openxmlformats.org/officeDocument/2006/relationships/image" Target="../media/image17.png" /><Relationship Id="rId4" Type="http://schemas.openxmlformats.org/officeDocument/2006/relationships/image" Target="../media/image2.png" /><Relationship Id="rId9" Type="http://schemas.openxmlformats.org/officeDocument/2006/relationships/image" Target="../media/image7.png" /><Relationship Id="rId14" Type="http://schemas.openxmlformats.org/officeDocument/2006/relationships/image" Target="../media/image12.png" /><Relationship Id="rId22" Type="http://schemas.openxmlformats.org/officeDocument/2006/relationships/image" Target="../media/image27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 /><Relationship Id="rId13" Type="http://schemas.openxmlformats.org/officeDocument/2006/relationships/image" Target="../media/image11.png" /><Relationship Id="rId18" Type="http://schemas.openxmlformats.org/officeDocument/2006/relationships/image" Target="../media/image16.svg" /><Relationship Id="rId3" Type="http://schemas.openxmlformats.org/officeDocument/2006/relationships/image" Target="../media/image24.png" /><Relationship Id="rId21" Type="http://schemas.openxmlformats.org/officeDocument/2006/relationships/image" Target="../media/image23.png" /><Relationship Id="rId7" Type="http://schemas.openxmlformats.org/officeDocument/2006/relationships/image" Target="../media/image5.png" /><Relationship Id="rId12" Type="http://schemas.openxmlformats.org/officeDocument/2006/relationships/image" Target="../media/image10.svg" /><Relationship Id="rId17" Type="http://schemas.openxmlformats.org/officeDocument/2006/relationships/image" Target="../media/image15.png" /><Relationship Id="rId2" Type="http://schemas.openxmlformats.org/officeDocument/2006/relationships/image" Target="../media/image1.png" /><Relationship Id="rId16" Type="http://schemas.openxmlformats.org/officeDocument/2006/relationships/image" Target="../media/image14.png" /><Relationship Id="rId20" Type="http://schemas.openxmlformats.org/officeDocument/2006/relationships/image" Target="../media/image18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4.png" /><Relationship Id="rId11" Type="http://schemas.openxmlformats.org/officeDocument/2006/relationships/image" Target="../media/image9.png" /><Relationship Id="rId5" Type="http://schemas.openxmlformats.org/officeDocument/2006/relationships/image" Target="../media/image3.png" /><Relationship Id="rId15" Type="http://schemas.openxmlformats.org/officeDocument/2006/relationships/image" Target="../media/image13.png" /><Relationship Id="rId10" Type="http://schemas.openxmlformats.org/officeDocument/2006/relationships/image" Target="../media/image8.png" /><Relationship Id="rId19" Type="http://schemas.openxmlformats.org/officeDocument/2006/relationships/image" Target="../media/image17.png" /><Relationship Id="rId4" Type="http://schemas.openxmlformats.org/officeDocument/2006/relationships/image" Target="../media/image2.png" /><Relationship Id="rId9" Type="http://schemas.openxmlformats.org/officeDocument/2006/relationships/image" Target="../media/image7.png" /><Relationship Id="rId14" Type="http://schemas.openxmlformats.org/officeDocument/2006/relationships/image" Target="../media/image12.png" /><Relationship Id="rId22" Type="http://schemas.openxmlformats.org/officeDocument/2006/relationships/image" Target="../media/image28.png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 /><Relationship Id="rId13" Type="http://schemas.openxmlformats.org/officeDocument/2006/relationships/image" Target="../media/image11.png" /><Relationship Id="rId18" Type="http://schemas.openxmlformats.org/officeDocument/2006/relationships/image" Target="../media/image16.svg" /><Relationship Id="rId3" Type="http://schemas.openxmlformats.org/officeDocument/2006/relationships/image" Target="../media/image24.png" /><Relationship Id="rId21" Type="http://schemas.openxmlformats.org/officeDocument/2006/relationships/image" Target="../media/image23.png" /><Relationship Id="rId7" Type="http://schemas.openxmlformats.org/officeDocument/2006/relationships/image" Target="../media/image5.png" /><Relationship Id="rId12" Type="http://schemas.openxmlformats.org/officeDocument/2006/relationships/image" Target="../media/image10.svg" /><Relationship Id="rId17" Type="http://schemas.openxmlformats.org/officeDocument/2006/relationships/image" Target="../media/image15.png" /><Relationship Id="rId2" Type="http://schemas.openxmlformats.org/officeDocument/2006/relationships/image" Target="../media/image1.png" /><Relationship Id="rId16" Type="http://schemas.openxmlformats.org/officeDocument/2006/relationships/image" Target="../media/image14.png" /><Relationship Id="rId20" Type="http://schemas.openxmlformats.org/officeDocument/2006/relationships/image" Target="../media/image18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4.png" /><Relationship Id="rId11" Type="http://schemas.openxmlformats.org/officeDocument/2006/relationships/image" Target="../media/image9.png" /><Relationship Id="rId5" Type="http://schemas.openxmlformats.org/officeDocument/2006/relationships/image" Target="../media/image3.png" /><Relationship Id="rId15" Type="http://schemas.openxmlformats.org/officeDocument/2006/relationships/image" Target="../media/image13.png" /><Relationship Id="rId23" Type="http://schemas.openxmlformats.org/officeDocument/2006/relationships/image" Target="../media/image30.png" /><Relationship Id="rId10" Type="http://schemas.openxmlformats.org/officeDocument/2006/relationships/image" Target="../media/image8.png" /><Relationship Id="rId19" Type="http://schemas.openxmlformats.org/officeDocument/2006/relationships/image" Target="../media/image17.png" /><Relationship Id="rId4" Type="http://schemas.openxmlformats.org/officeDocument/2006/relationships/image" Target="../media/image2.png" /><Relationship Id="rId9" Type="http://schemas.openxmlformats.org/officeDocument/2006/relationships/image" Target="../media/image7.png" /><Relationship Id="rId14" Type="http://schemas.openxmlformats.org/officeDocument/2006/relationships/image" Target="../media/image12.png" /><Relationship Id="rId22" Type="http://schemas.openxmlformats.org/officeDocument/2006/relationships/image" Target="../media/image29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 /><Relationship Id="rId13" Type="http://schemas.openxmlformats.org/officeDocument/2006/relationships/image" Target="../media/image11.png" /><Relationship Id="rId18" Type="http://schemas.openxmlformats.org/officeDocument/2006/relationships/image" Target="../media/image16.svg" /><Relationship Id="rId3" Type="http://schemas.openxmlformats.org/officeDocument/2006/relationships/image" Target="../media/image24.png" /><Relationship Id="rId21" Type="http://schemas.openxmlformats.org/officeDocument/2006/relationships/image" Target="../media/image23.png" /><Relationship Id="rId7" Type="http://schemas.openxmlformats.org/officeDocument/2006/relationships/image" Target="../media/image5.png" /><Relationship Id="rId12" Type="http://schemas.openxmlformats.org/officeDocument/2006/relationships/image" Target="../media/image10.svg" /><Relationship Id="rId17" Type="http://schemas.openxmlformats.org/officeDocument/2006/relationships/image" Target="../media/image15.png" /><Relationship Id="rId2" Type="http://schemas.openxmlformats.org/officeDocument/2006/relationships/image" Target="../media/image1.png" /><Relationship Id="rId16" Type="http://schemas.openxmlformats.org/officeDocument/2006/relationships/image" Target="../media/image14.png" /><Relationship Id="rId20" Type="http://schemas.openxmlformats.org/officeDocument/2006/relationships/image" Target="../media/image18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4.png" /><Relationship Id="rId11" Type="http://schemas.openxmlformats.org/officeDocument/2006/relationships/image" Target="../media/image9.png" /><Relationship Id="rId5" Type="http://schemas.openxmlformats.org/officeDocument/2006/relationships/image" Target="../media/image3.png" /><Relationship Id="rId15" Type="http://schemas.openxmlformats.org/officeDocument/2006/relationships/image" Target="../media/image13.png" /><Relationship Id="rId10" Type="http://schemas.openxmlformats.org/officeDocument/2006/relationships/image" Target="../media/image8.png" /><Relationship Id="rId19" Type="http://schemas.openxmlformats.org/officeDocument/2006/relationships/image" Target="../media/image17.png" /><Relationship Id="rId4" Type="http://schemas.openxmlformats.org/officeDocument/2006/relationships/image" Target="../media/image2.png" /><Relationship Id="rId9" Type="http://schemas.openxmlformats.org/officeDocument/2006/relationships/image" Target="../media/image7.png" /><Relationship Id="rId14" Type="http://schemas.openxmlformats.org/officeDocument/2006/relationships/image" Target="../media/image1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765" r="-8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423285" y="1390609"/>
            <a:ext cx="275590" cy="78740"/>
            <a:chOff x="0" y="0"/>
            <a:chExt cx="367453" cy="1049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6776" cy="104394"/>
            </a:xfrm>
            <a:custGeom>
              <a:avLst/>
              <a:gdLst/>
              <a:ahLst/>
              <a:cxnLst/>
              <a:rect l="l" t="t" r="r" b="b"/>
              <a:pathLst>
                <a:path w="366776" h="104394">
                  <a:moveTo>
                    <a:pt x="112522" y="104267"/>
                  </a:moveTo>
                  <a:lnTo>
                    <a:pt x="48895" y="101346"/>
                  </a:lnTo>
                  <a:lnTo>
                    <a:pt x="11938" y="94234"/>
                  </a:lnTo>
                  <a:lnTo>
                    <a:pt x="0" y="90297"/>
                  </a:lnTo>
                  <a:lnTo>
                    <a:pt x="15748" y="77851"/>
                  </a:lnTo>
                  <a:lnTo>
                    <a:pt x="57277" y="49911"/>
                  </a:lnTo>
                  <a:lnTo>
                    <a:pt x="115824" y="20447"/>
                  </a:lnTo>
                  <a:lnTo>
                    <a:pt x="182880" y="3556"/>
                  </a:lnTo>
                  <a:lnTo>
                    <a:pt x="250063" y="0"/>
                  </a:lnTo>
                  <a:lnTo>
                    <a:pt x="308991" y="0"/>
                  </a:lnTo>
                  <a:lnTo>
                    <a:pt x="350774" y="1524"/>
                  </a:lnTo>
                  <a:lnTo>
                    <a:pt x="366776" y="2540"/>
                  </a:lnTo>
                  <a:lnTo>
                    <a:pt x="361315" y="14097"/>
                  </a:lnTo>
                  <a:lnTo>
                    <a:pt x="338836" y="41148"/>
                  </a:lnTo>
                  <a:lnTo>
                    <a:pt x="289560" y="72136"/>
                  </a:lnTo>
                  <a:lnTo>
                    <a:pt x="204343" y="96012"/>
                  </a:lnTo>
                  <a:lnTo>
                    <a:pt x="112522" y="1043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6469713" y="1223585"/>
            <a:ext cx="228624" cy="168915"/>
          </a:xfrm>
          <a:custGeom>
            <a:avLst/>
            <a:gdLst/>
            <a:ahLst/>
            <a:cxnLst/>
            <a:rect l="l" t="t" r="r" b="b"/>
            <a:pathLst>
              <a:path w="228624" h="168915">
                <a:moveTo>
                  <a:pt x="0" y="0"/>
                </a:moveTo>
                <a:lnTo>
                  <a:pt x="228624" y="0"/>
                </a:lnTo>
                <a:lnTo>
                  <a:pt x="228624" y="168915"/>
                </a:lnTo>
                <a:lnTo>
                  <a:pt x="0" y="168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2" r="-66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6288898" y="1340965"/>
            <a:ext cx="281305" cy="67310"/>
            <a:chOff x="0" y="0"/>
            <a:chExt cx="375073" cy="897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4269" cy="89662"/>
            </a:xfrm>
            <a:custGeom>
              <a:avLst/>
              <a:gdLst/>
              <a:ahLst/>
              <a:cxnLst/>
              <a:rect l="l" t="t" r="r" b="b"/>
              <a:pathLst>
                <a:path w="374269" h="89662">
                  <a:moveTo>
                    <a:pt x="199898" y="89662"/>
                  </a:moveTo>
                  <a:lnTo>
                    <a:pt x="119253" y="88265"/>
                  </a:lnTo>
                  <a:lnTo>
                    <a:pt x="56007" y="79883"/>
                  </a:lnTo>
                  <a:lnTo>
                    <a:pt x="14732" y="70485"/>
                  </a:lnTo>
                  <a:lnTo>
                    <a:pt x="0" y="66040"/>
                  </a:lnTo>
                  <a:lnTo>
                    <a:pt x="14224" y="56388"/>
                  </a:lnTo>
                  <a:lnTo>
                    <a:pt x="53848" y="34925"/>
                  </a:lnTo>
                  <a:lnTo>
                    <a:pt x="113919" y="12446"/>
                  </a:lnTo>
                  <a:lnTo>
                    <a:pt x="189992" y="0"/>
                  </a:lnTo>
                  <a:lnTo>
                    <a:pt x="265176" y="1651"/>
                  </a:lnTo>
                  <a:lnTo>
                    <a:pt x="323342" y="10287"/>
                  </a:lnTo>
                  <a:lnTo>
                    <a:pt x="360934" y="19812"/>
                  </a:lnTo>
                  <a:lnTo>
                    <a:pt x="374269" y="24384"/>
                  </a:lnTo>
                  <a:lnTo>
                    <a:pt x="363474" y="33782"/>
                  </a:lnTo>
                  <a:lnTo>
                    <a:pt x="330962" y="54991"/>
                  </a:lnTo>
                  <a:lnTo>
                    <a:pt x="276479" y="77216"/>
                  </a:lnTo>
                  <a:lnTo>
                    <a:pt x="199898" y="896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16304772" y="1079767"/>
            <a:ext cx="161462" cy="231707"/>
          </a:xfrm>
          <a:custGeom>
            <a:avLst/>
            <a:gdLst/>
            <a:ahLst/>
            <a:cxnLst/>
            <a:rect l="l" t="t" r="r" b="b"/>
            <a:pathLst>
              <a:path w="161462" h="231707">
                <a:moveTo>
                  <a:pt x="0" y="0"/>
                </a:moveTo>
                <a:lnTo>
                  <a:pt x="161462" y="0"/>
                </a:lnTo>
                <a:lnTo>
                  <a:pt x="161462" y="231707"/>
                </a:lnTo>
                <a:lnTo>
                  <a:pt x="0" y="2317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79" b="-679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6144541" y="1251566"/>
            <a:ext cx="280670" cy="76200"/>
            <a:chOff x="0" y="0"/>
            <a:chExt cx="374227" cy="101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3507" cy="100965"/>
            </a:xfrm>
            <a:custGeom>
              <a:avLst/>
              <a:gdLst/>
              <a:ahLst/>
              <a:cxnLst/>
              <a:rect l="l" t="t" r="r" b="b"/>
              <a:pathLst>
                <a:path w="373507" h="100965">
                  <a:moveTo>
                    <a:pt x="266192" y="100965"/>
                  </a:moveTo>
                  <a:lnTo>
                    <a:pt x="188849" y="95123"/>
                  </a:lnTo>
                  <a:lnTo>
                    <a:pt x="110744" y="74930"/>
                  </a:lnTo>
                  <a:lnTo>
                    <a:pt x="51308" y="51943"/>
                  </a:lnTo>
                  <a:lnTo>
                    <a:pt x="0" y="25400"/>
                  </a:lnTo>
                  <a:lnTo>
                    <a:pt x="16129" y="19431"/>
                  </a:lnTo>
                  <a:lnTo>
                    <a:pt x="59563" y="7747"/>
                  </a:lnTo>
                  <a:lnTo>
                    <a:pt x="123317" y="0"/>
                  </a:lnTo>
                  <a:lnTo>
                    <a:pt x="200152" y="5715"/>
                  </a:lnTo>
                  <a:lnTo>
                    <a:pt x="272796" y="24892"/>
                  </a:lnTo>
                  <a:lnTo>
                    <a:pt x="327279" y="46863"/>
                  </a:lnTo>
                  <a:lnTo>
                    <a:pt x="361569" y="65024"/>
                  </a:lnTo>
                  <a:lnTo>
                    <a:pt x="373507" y="72517"/>
                  </a:lnTo>
                  <a:lnTo>
                    <a:pt x="360807" y="79121"/>
                  </a:lnTo>
                  <a:lnTo>
                    <a:pt x="324231" y="92075"/>
                  </a:lnTo>
                  <a:lnTo>
                    <a:pt x="266065" y="10096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16106052" y="1104701"/>
            <a:ext cx="244782" cy="141776"/>
          </a:xfrm>
          <a:custGeom>
            <a:avLst/>
            <a:gdLst/>
            <a:ahLst/>
            <a:cxnLst/>
            <a:rect l="l" t="t" r="r" b="b"/>
            <a:pathLst>
              <a:path w="244782" h="141776">
                <a:moveTo>
                  <a:pt x="0" y="0"/>
                </a:moveTo>
                <a:lnTo>
                  <a:pt x="244782" y="0"/>
                </a:lnTo>
                <a:lnTo>
                  <a:pt x="244782" y="141776"/>
                </a:lnTo>
                <a:lnTo>
                  <a:pt x="0" y="1417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80" b="-78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019856" y="339559"/>
            <a:ext cx="393700" cy="802640"/>
          </a:xfrm>
          <a:custGeom>
            <a:avLst/>
            <a:gdLst/>
            <a:ahLst/>
            <a:cxnLst/>
            <a:rect l="l" t="t" r="r" b="b"/>
            <a:pathLst>
              <a:path w="393700" h="802640">
                <a:moveTo>
                  <a:pt x="0" y="0"/>
                </a:moveTo>
                <a:lnTo>
                  <a:pt x="393700" y="0"/>
                </a:lnTo>
                <a:lnTo>
                  <a:pt x="393700" y="802640"/>
                </a:lnTo>
                <a:lnTo>
                  <a:pt x="0" y="8026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594649" y="1425631"/>
            <a:ext cx="112653" cy="126308"/>
          </a:xfrm>
          <a:custGeom>
            <a:avLst/>
            <a:gdLst/>
            <a:ahLst/>
            <a:cxnLst/>
            <a:rect l="l" t="t" r="r" b="b"/>
            <a:pathLst>
              <a:path w="112653" h="126308">
                <a:moveTo>
                  <a:pt x="0" y="0"/>
                </a:moveTo>
                <a:lnTo>
                  <a:pt x="112653" y="0"/>
                </a:lnTo>
                <a:lnTo>
                  <a:pt x="112653" y="126308"/>
                </a:lnTo>
                <a:lnTo>
                  <a:pt x="0" y="1263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68" b="-168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480534" y="758952"/>
            <a:ext cx="259079" cy="414527"/>
          </a:xfrm>
          <a:custGeom>
            <a:avLst/>
            <a:gdLst/>
            <a:ahLst/>
            <a:cxnLst/>
            <a:rect l="l" t="t" r="r" b="b"/>
            <a:pathLst>
              <a:path w="259079" h="414527">
                <a:moveTo>
                  <a:pt x="0" y="0"/>
                </a:moveTo>
                <a:lnTo>
                  <a:pt x="259079" y="0"/>
                </a:lnTo>
                <a:lnTo>
                  <a:pt x="259079" y="414527"/>
                </a:lnTo>
                <a:lnTo>
                  <a:pt x="0" y="4145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424389" y="792619"/>
            <a:ext cx="151765" cy="323850"/>
          </a:xfrm>
          <a:custGeom>
            <a:avLst/>
            <a:gdLst/>
            <a:ahLst/>
            <a:cxnLst/>
            <a:rect l="l" t="t" r="r" b="b"/>
            <a:pathLst>
              <a:path w="151765" h="323850">
                <a:moveTo>
                  <a:pt x="0" y="0"/>
                </a:moveTo>
                <a:lnTo>
                  <a:pt x="151765" y="0"/>
                </a:lnTo>
                <a:lnTo>
                  <a:pt x="151765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669510" y="755904"/>
            <a:ext cx="999743" cy="384047"/>
          </a:xfrm>
          <a:custGeom>
            <a:avLst/>
            <a:gdLst/>
            <a:ahLst/>
            <a:cxnLst/>
            <a:rect l="l" t="t" r="r" b="b"/>
            <a:pathLst>
              <a:path w="999743" h="384047">
                <a:moveTo>
                  <a:pt x="0" y="0"/>
                </a:moveTo>
                <a:lnTo>
                  <a:pt x="999743" y="0"/>
                </a:lnTo>
                <a:lnTo>
                  <a:pt x="999743" y="384047"/>
                </a:lnTo>
                <a:lnTo>
                  <a:pt x="0" y="3840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7330812" y="1389182"/>
            <a:ext cx="274955" cy="79375"/>
            <a:chOff x="0" y="0"/>
            <a:chExt cx="366607" cy="10583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66268" cy="105283"/>
            </a:xfrm>
            <a:custGeom>
              <a:avLst/>
              <a:gdLst/>
              <a:ahLst/>
              <a:cxnLst/>
              <a:rect l="l" t="t" r="r" b="b"/>
              <a:pathLst>
                <a:path w="366268" h="105283">
                  <a:moveTo>
                    <a:pt x="253746" y="105283"/>
                  </a:moveTo>
                  <a:lnTo>
                    <a:pt x="317373" y="102616"/>
                  </a:lnTo>
                  <a:lnTo>
                    <a:pt x="354330" y="95758"/>
                  </a:lnTo>
                  <a:lnTo>
                    <a:pt x="366268" y="91821"/>
                  </a:lnTo>
                  <a:lnTo>
                    <a:pt x="350520" y="79375"/>
                  </a:lnTo>
                  <a:lnTo>
                    <a:pt x="250698" y="21590"/>
                  </a:lnTo>
                  <a:lnTo>
                    <a:pt x="183896" y="4191"/>
                  </a:lnTo>
                  <a:lnTo>
                    <a:pt x="116713" y="254"/>
                  </a:lnTo>
                  <a:lnTo>
                    <a:pt x="57785" y="0"/>
                  </a:lnTo>
                  <a:lnTo>
                    <a:pt x="15875" y="1270"/>
                  </a:lnTo>
                  <a:lnTo>
                    <a:pt x="0" y="2159"/>
                  </a:lnTo>
                  <a:lnTo>
                    <a:pt x="5334" y="13716"/>
                  </a:lnTo>
                  <a:lnTo>
                    <a:pt x="27813" y="40894"/>
                  </a:lnTo>
                  <a:lnTo>
                    <a:pt x="76708" y="72263"/>
                  </a:lnTo>
                  <a:lnTo>
                    <a:pt x="161925" y="96520"/>
                  </a:lnTo>
                  <a:lnTo>
                    <a:pt x="253746" y="10528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Freeform 19"/>
          <p:cNvSpPr/>
          <p:nvPr/>
        </p:nvSpPr>
        <p:spPr>
          <a:xfrm>
            <a:off x="17330812" y="1223064"/>
            <a:ext cx="229460" cy="167778"/>
          </a:xfrm>
          <a:custGeom>
            <a:avLst/>
            <a:gdLst/>
            <a:ahLst/>
            <a:cxnLst/>
            <a:rect l="l" t="t" r="r" b="b"/>
            <a:pathLst>
              <a:path w="229460" h="167778">
                <a:moveTo>
                  <a:pt x="0" y="0"/>
                </a:moveTo>
                <a:lnTo>
                  <a:pt x="229460" y="0"/>
                </a:lnTo>
                <a:lnTo>
                  <a:pt x="229460" y="167778"/>
                </a:lnTo>
                <a:lnTo>
                  <a:pt x="0" y="1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38" r="-138"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7459738" y="1340632"/>
            <a:ext cx="280670" cy="67310"/>
            <a:chOff x="0" y="0"/>
            <a:chExt cx="374227" cy="8974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74015" cy="89535"/>
            </a:xfrm>
            <a:custGeom>
              <a:avLst/>
              <a:gdLst/>
              <a:ahLst/>
              <a:cxnLst/>
              <a:rect l="l" t="t" r="r" b="b"/>
              <a:pathLst>
                <a:path w="374015" h="89535">
                  <a:moveTo>
                    <a:pt x="173990" y="89535"/>
                  </a:moveTo>
                  <a:lnTo>
                    <a:pt x="254635" y="88519"/>
                  </a:lnTo>
                  <a:lnTo>
                    <a:pt x="317881" y="80518"/>
                  </a:lnTo>
                  <a:lnTo>
                    <a:pt x="359156" y="71374"/>
                  </a:lnTo>
                  <a:lnTo>
                    <a:pt x="374015" y="67056"/>
                  </a:lnTo>
                  <a:lnTo>
                    <a:pt x="359791" y="57404"/>
                  </a:lnTo>
                  <a:lnTo>
                    <a:pt x="320421" y="35560"/>
                  </a:lnTo>
                  <a:lnTo>
                    <a:pt x="260350" y="12827"/>
                  </a:lnTo>
                  <a:lnTo>
                    <a:pt x="184277" y="0"/>
                  </a:lnTo>
                  <a:lnTo>
                    <a:pt x="109220" y="1270"/>
                  </a:lnTo>
                  <a:lnTo>
                    <a:pt x="50927" y="9652"/>
                  </a:lnTo>
                  <a:lnTo>
                    <a:pt x="13335" y="19050"/>
                  </a:lnTo>
                  <a:lnTo>
                    <a:pt x="0" y="23495"/>
                  </a:lnTo>
                  <a:lnTo>
                    <a:pt x="10795" y="33020"/>
                  </a:lnTo>
                  <a:lnTo>
                    <a:pt x="43180" y="54229"/>
                  </a:lnTo>
                  <a:lnTo>
                    <a:pt x="97409" y="76708"/>
                  </a:lnTo>
                  <a:lnTo>
                    <a:pt x="173990" y="8953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2" name="Freeform 22"/>
          <p:cNvSpPr/>
          <p:nvPr/>
        </p:nvSpPr>
        <p:spPr>
          <a:xfrm>
            <a:off x="17563315" y="1080067"/>
            <a:ext cx="162610" cy="230903"/>
          </a:xfrm>
          <a:custGeom>
            <a:avLst/>
            <a:gdLst/>
            <a:ahLst/>
            <a:cxnLst/>
            <a:rect l="l" t="t" r="r" b="b"/>
            <a:pathLst>
              <a:path w="162610" h="230903">
                <a:moveTo>
                  <a:pt x="0" y="0"/>
                </a:moveTo>
                <a:lnTo>
                  <a:pt x="162610" y="0"/>
                </a:lnTo>
                <a:lnTo>
                  <a:pt x="162610" y="230903"/>
                </a:lnTo>
                <a:lnTo>
                  <a:pt x="0" y="23090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90" r="-290"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17604850" y="1252199"/>
            <a:ext cx="280670" cy="75565"/>
            <a:chOff x="0" y="0"/>
            <a:chExt cx="374227" cy="10075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73888" cy="100330"/>
            </a:xfrm>
            <a:custGeom>
              <a:avLst/>
              <a:gdLst/>
              <a:ahLst/>
              <a:cxnLst/>
              <a:rect l="l" t="t" r="r" b="b"/>
              <a:pathLst>
                <a:path w="373888" h="100330">
                  <a:moveTo>
                    <a:pt x="107188" y="100203"/>
                  </a:moveTo>
                  <a:lnTo>
                    <a:pt x="184658" y="94869"/>
                  </a:lnTo>
                  <a:lnTo>
                    <a:pt x="262763" y="75057"/>
                  </a:lnTo>
                  <a:lnTo>
                    <a:pt x="322453" y="52451"/>
                  </a:lnTo>
                  <a:lnTo>
                    <a:pt x="373888" y="26162"/>
                  </a:lnTo>
                  <a:lnTo>
                    <a:pt x="357886" y="20066"/>
                  </a:lnTo>
                  <a:lnTo>
                    <a:pt x="314325" y="8001"/>
                  </a:lnTo>
                  <a:lnTo>
                    <a:pt x="250571" y="0"/>
                  </a:lnTo>
                  <a:lnTo>
                    <a:pt x="173736" y="5334"/>
                  </a:lnTo>
                  <a:lnTo>
                    <a:pt x="100965" y="24130"/>
                  </a:lnTo>
                  <a:lnTo>
                    <a:pt x="46355" y="45847"/>
                  </a:lnTo>
                  <a:lnTo>
                    <a:pt x="11938" y="63754"/>
                  </a:lnTo>
                  <a:lnTo>
                    <a:pt x="0" y="71247"/>
                  </a:lnTo>
                  <a:lnTo>
                    <a:pt x="12700" y="77978"/>
                  </a:lnTo>
                  <a:lnTo>
                    <a:pt x="49149" y="91186"/>
                  </a:lnTo>
                  <a:lnTo>
                    <a:pt x="107188" y="100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5" name="Freeform 25"/>
          <p:cNvSpPr/>
          <p:nvPr/>
        </p:nvSpPr>
        <p:spPr>
          <a:xfrm>
            <a:off x="17679041" y="1105987"/>
            <a:ext cx="245478" cy="140612"/>
          </a:xfrm>
          <a:custGeom>
            <a:avLst/>
            <a:gdLst/>
            <a:ahLst/>
            <a:cxnLst/>
            <a:rect l="l" t="t" r="r" b="b"/>
            <a:pathLst>
              <a:path w="245478" h="140612">
                <a:moveTo>
                  <a:pt x="0" y="0"/>
                </a:moveTo>
                <a:lnTo>
                  <a:pt x="245478" y="0"/>
                </a:lnTo>
                <a:lnTo>
                  <a:pt x="245478" y="140612"/>
                </a:lnTo>
                <a:lnTo>
                  <a:pt x="0" y="14061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359" b="-359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7621199" y="339330"/>
            <a:ext cx="390525" cy="803275"/>
          </a:xfrm>
          <a:custGeom>
            <a:avLst/>
            <a:gdLst/>
            <a:ahLst/>
            <a:cxnLst/>
            <a:rect l="l" t="t" r="r" b="b"/>
            <a:pathLst>
              <a:path w="390525" h="803275">
                <a:moveTo>
                  <a:pt x="0" y="0"/>
                </a:moveTo>
                <a:lnTo>
                  <a:pt x="390525" y="0"/>
                </a:lnTo>
                <a:lnTo>
                  <a:pt x="390525" y="803275"/>
                </a:lnTo>
                <a:lnTo>
                  <a:pt x="0" y="80327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321684" y="1423928"/>
            <a:ext cx="112071" cy="126802"/>
          </a:xfrm>
          <a:custGeom>
            <a:avLst/>
            <a:gdLst/>
            <a:ahLst/>
            <a:cxnLst/>
            <a:rect l="l" t="t" r="r" b="b"/>
            <a:pathLst>
              <a:path w="112071" h="126802">
                <a:moveTo>
                  <a:pt x="0" y="0"/>
                </a:moveTo>
                <a:lnTo>
                  <a:pt x="112071" y="0"/>
                </a:lnTo>
                <a:lnTo>
                  <a:pt x="112071" y="126802"/>
                </a:lnTo>
                <a:lnTo>
                  <a:pt x="0" y="12680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2220" r="-2220"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16474160" y="744181"/>
            <a:ext cx="38100" cy="307340"/>
            <a:chOff x="0" y="0"/>
            <a:chExt cx="50800" cy="409787"/>
          </a:xfrm>
        </p:grpSpPr>
        <p:sp>
          <p:nvSpPr>
            <p:cNvPr id="29" name="Freeform 29"/>
            <p:cNvSpPr/>
            <p:nvPr/>
          </p:nvSpPr>
          <p:spPr>
            <a:xfrm>
              <a:off x="0" y="367665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9144" y="0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1" name="Freeform 31"/>
          <p:cNvSpPr/>
          <p:nvPr/>
        </p:nvSpPr>
        <p:spPr>
          <a:xfrm>
            <a:off x="16947701" y="1390593"/>
            <a:ext cx="135917" cy="134319"/>
          </a:xfrm>
          <a:custGeom>
            <a:avLst/>
            <a:gdLst/>
            <a:ahLst/>
            <a:cxnLst/>
            <a:rect l="l" t="t" r="r" b="b"/>
            <a:pathLst>
              <a:path w="135917" h="134319">
                <a:moveTo>
                  <a:pt x="0" y="0"/>
                </a:moveTo>
                <a:lnTo>
                  <a:pt x="135917" y="0"/>
                </a:lnTo>
                <a:lnTo>
                  <a:pt x="135917" y="134319"/>
                </a:lnTo>
                <a:lnTo>
                  <a:pt x="0" y="1343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t="-594" b="-594"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503593" y="410850"/>
            <a:ext cx="3181349" cy="1238249"/>
          </a:xfrm>
          <a:custGeom>
            <a:avLst/>
            <a:gdLst/>
            <a:ahLst/>
            <a:cxnLst/>
            <a:rect l="l" t="t" r="r" b="b"/>
            <a:pathLst>
              <a:path w="3181349" h="1238249">
                <a:moveTo>
                  <a:pt x="0" y="0"/>
                </a:moveTo>
                <a:lnTo>
                  <a:pt x="3181349" y="0"/>
                </a:lnTo>
                <a:lnTo>
                  <a:pt x="3181349" y="1238249"/>
                </a:lnTo>
                <a:lnTo>
                  <a:pt x="0" y="123824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t="-100" b="-100"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5942919" y="755877"/>
            <a:ext cx="175260" cy="374015"/>
          </a:xfrm>
          <a:custGeom>
            <a:avLst/>
            <a:gdLst/>
            <a:ahLst/>
            <a:cxnLst/>
            <a:rect l="l" t="t" r="r" b="b"/>
            <a:pathLst>
              <a:path w="175260" h="374015">
                <a:moveTo>
                  <a:pt x="0" y="0"/>
                </a:moveTo>
                <a:lnTo>
                  <a:pt x="175260" y="0"/>
                </a:lnTo>
                <a:lnTo>
                  <a:pt x="175260" y="374015"/>
                </a:lnTo>
                <a:lnTo>
                  <a:pt x="0" y="37401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grpSp>
        <p:nvGrpSpPr>
          <p:cNvPr id="34" name="Group 34"/>
          <p:cNvGrpSpPr/>
          <p:nvPr/>
        </p:nvGrpSpPr>
        <p:grpSpPr>
          <a:xfrm>
            <a:off x="16000425" y="699921"/>
            <a:ext cx="44450" cy="354965"/>
            <a:chOff x="0" y="0"/>
            <a:chExt cx="59267" cy="473287"/>
          </a:xfrm>
        </p:grpSpPr>
        <p:sp>
          <p:nvSpPr>
            <p:cNvPr id="35" name="Freeform 35"/>
            <p:cNvSpPr/>
            <p:nvPr/>
          </p:nvSpPr>
          <p:spPr>
            <a:xfrm>
              <a:off x="0" y="424815"/>
              <a:ext cx="47879" cy="47879"/>
            </a:xfrm>
            <a:custGeom>
              <a:avLst/>
              <a:gdLst/>
              <a:ahLst/>
              <a:cxnLst/>
              <a:rect l="l" t="t" r="r" b="b"/>
              <a:pathLst>
                <a:path w="47879" h="47879">
                  <a:moveTo>
                    <a:pt x="47879" y="0"/>
                  </a:moveTo>
                  <a:lnTo>
                    <a:pt x="0" y="0"/>
                  </a:lnTo>
                  <a:lnTo>
                    <a:pt x="0" y="47879"/>
                  </a:lnTo>
                  <a:lnTo>
                    <a:pt x="47879" y="47879"/>
                  </a:lnTo>
                  <a:lnTo>
                    <a:pt x="4787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10541" y="0"/>
              <a:ext cx="48006" cy="47879"/>
            </a:xfrm>
            <a:custGeom>
              <a:avLst/>
              <a:gdLst/>
              <a:ahLst/>
              <a:cxnLst/>
              <a:rect l="l" t="t" r="r" b="b"/>
              <a:pathLst>
                <a:path w="48006" h="47879">
                  <a:moveTo>
                    <a:pt x="48006" y="0"/>
                  </a:moveTo>
                  <a:lnTo>
                    <a:pt x="0" y="0"/>
                  </a:lnTo>
                  <a:lnTo>
                    <a:pt x="0" y="47879"/>
                  </a:lnTo>
                  <a:lnTo>
                    <a:pt x="48006" y="47879"/>
                  </a:lnTo>
                  <a:lnTo>
                    <a:pt x="4800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7" name="Freeform 37"/>
          <p:cNvSpPr/>
          <p:nvPr/>
        </p:nvSpPr>
        <p:spPr>
          <a:xfrm>
            <a:off x="16547635" y="1446897"/>
            <a:ext cx="157062" cy="155217"/>
          </a:xfrm>
          <a:custGeom>
            <a:avLst/>
            <a:gdLst/>
            <a:ahLst/>
            <a:cxnLst/>
            <a:rect l="l" t="t" r="r" b="b"/>
            <a:pathLst>
              <a:path w="157062" h="155217">
                <a:moveTo>
                  <a:pt x="0" y="0"/>
                </a:moveTo>
                <a:lnTo>
                  <a:pt x="157062" y="0"/>
                </a:lnTo>
                <a:lnTo>
                  <a:pt x="157062" y="155217"/>
                </a:lnTo>
                <a:lnTo>
                  <a:pt x="0" y="15521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956" r="-956"/>
            </a:stretch>
          </a:blipFill>
        </p:spPr>
      </p:sp>
      <p:grpSp>
        <p:nvGrpSpPr>
          <p:cNvPr id="38" name="Group 38"/>
          <p:cNvGrpSpPr/>
          <p:nvPr/>
        </p:nvGrpSpPr>
        <p:grpSpPr>
          <a:xfrm>
            <a:off x="1414538" y="2202735"/>
            <a:ext cx="11683009" cy="5881529"/>
            <a:chOff x="0" y="-2313305"/>
            <a:chExt cx="14088997" cy="784203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304194" cy="5528733"/>
            </a:xfrm>
            <a:custGeom>
              <a:avLst/>
              <a:gdLst/>
              <a:ahLst/>
              <a:cxnLst/>
              <a:rect l="l" t="t" r="r" b="b"/>
              <a:pathLst>
                <a:path w="7304194" h="5528733">
                  <a:moveTo>
                    <a:pt x="0" y="0"/>
                  </a:moveTo>
                  <a:lnTo>
                    <a:pt x="7304194" y="0"/>
                  </a:lnTo>
                  <a:lnTo>
                    <a:pt x="7304194" y="5528733"/>
                  </a:lnTo>
                  <a:lnTo>
                    <a:pt x="0" y="5528733"/>
                  </a:lnTo>
                  <a:close/>
                </a:path>
              </a:pathLst>
            </a:custGeom>
          </p:spPr>
        </p:sp>
        <p:sp>
          <p:nvSpPr>
            <p:cNvPr id="40" name="TextBox 40"/>
            <p:cNvSpPr txBox="1"/>
            <p:nvPr/>
          </p:nvSpPr>
          <p:spPr>
            <a:xfrm>
              <a:off x="3368629" y="-2313305"/>
              <a:ext cx="10720368" cy="553825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ct val="100000"/>
                </a:lnSpc>
              </a:pPr>
              <a:r>
                <a:rPr sz="2400" b="1" dirty="0">
                  <a:solidFill>
                    <a:srgbClr val="00E5FF"/>
                  </a:solidFill>
                  <a:latin typeface="Times New Roman" panose="02020603050405020304"/>
                </a:rPr>
                <a:t>TEAM NAME    :  </a:t>
              </a:r>
              <a:r>
                <a:rPr lang="en-IN" sz="2400" b="1" dirty="0">
                  <a:solidFill>
                    <a:srgbClr val="00E5FF"/>
                  </a:solidFill>
                  <a:latin typeface="Times New Roman" panose="02020603050405020304"/>
                </a:rPr>
                <a:t>OCTOGRAM</a:t>
              </a:r>
              <a:endParaRPr sz="2400" b="1" dirty="0">
                <a:solidFill>
                  <a:srgbClr val="00E5FF"/>
                </a:solidFill>
                <a:latin typeface="Times New Roman" panose="02020603050405020304"/>
              </a:endParaRPr>
            </a:p>
            <a:p>
              <a:pPr algn="l">
                <a:lnSpc>
                  <a:spcPct val="100000"/>
                </a:lnSpc>
              </a:pPr>
              <a:r>
                <a:rPr sz="2400" b="0" dirty="0">
                  <a:solidFill>
                    <a:srgbClr val="FFFFFF"/>
                  </a:solidFill>
                  <a:latin typeface="Times New Roman" panose="02020603050405020304"/>
                </a:rPr>
                <a:t>COLLEGE         :  Sri </a:t>
              </a:r>
              <a:r>
                <a:rPr lang="en-IN" sz="2400" b="0" dirty="0">
                  <a:solidFill>
                    <a:srgbClr val="FFFFFF"/>
                  </a:solidFill>
                  <a:latin typeface="Times New Roman" panose="02020603050405020304"/>
                </a:rPr>
                <a:t>Sairam Engineering College </a:t>
              </a:r>
              <a:r>
                <a:rPr sz="2400" b="0" dirty="0">
                  <a:solidFill>
                    <a:srgbClr val="FFFFFF"/>
                  </a:solidFill>
                  <a:latin typeface="Times New Roman" panose="02020603050405020304"/>
                </a:rPr>
                <a:t>, Chennai</a:t>
              </a:r>
            </a:p>
            <a:p>
              <a:pPr algn="l">
                <a:lnSpc>
                  <a:spcPct val="100000"/>
                </a:lnSpc>
              </a:pPr>
              <a:r>
                <a:rPr sz="2400" b="0" dirty="0">
                  <a:solidFill>
                    <a:srgbClr val="FFFFFF"/>
                  </a:solidFill>
                  <a:latin typeface="Times New Roman" panose="02020603050405020304"/>
                </a:rPr>
                <a:t>DOMAIN           :  Cybersecurity  |  AI / Data Science  |  OSINT </a:t>
              </a:r>
            </a:p>
            <a:p>
              <a:pPr algn="l">
                <a:lnSpc>
                  <a:spcPct val="100000"/>
                </a:lnSpc>
              </a:pPr>
              <a:r>
                <a:rPr sz="2400" b="0" dirty="0">
                  <a:solidFill>
                    <a:srgbClr val="FFFFFF"/>
                  </a:solidFill>
                  <a:latin typeface="Times New Roman" panose="02020603050405020304"/>
                </a:rPr>
                <a:t>EVENT             :  ETE 6.0 Hackathon — FODSE, SVCE</a:t>
              </a:r>
            </a:p>
            <a:p>
              <a:pPr algn="l">
                <a:lnSpc>
                  <a:spcPct val="100000"/>
                </a:lnSpc>
              </a:pPr>
              <a:endParaRPr sz="2400" b="0" dirty="0">
                <a:solidFill>
                  <a:srgbClr val="FFFFFF"/>
                </a:solidFill>
                <a:latin typeface="Times New Roman" panose="02020603050405020304"/>
              </a:endParaRPr>
            </a:p>
            <a:p>
              <a:pPr algn="l">
                <a:lnSpc>
                  <a:spcPct val="100000"/>
                </a:lnSpc>
              </a:pPr>
              <a:r>
                <a:rPr sz="2400" b="1" dirty="0">
                  <a:solidFill>
                    <a:srgbClr val="00E5FF"/>
                  </a:solidFill>
                  <a:latin typeface="Times New Roman" panose="02020603050405020304"/>
                </a:rPr>
                <a:t>PROBLEM STATEMENT:</a:t>
              </a:r>
            </a:p>
            <a:p>
              <a:pPr algn="l">
                <a:lnSpc>
                  <a:spcPct val="100000"/>
                </a:lnSpc>
              </a:pPr>
              <a:r>
                <a:rPr sz="2400" b="0" dirty="0">
                  <a:solidFill>
                    <a:srgbClr val="FFFFFF"/>
                  </a:solidFill>
                  <a:latin typeface="Times New Roman" panose="02020603050405020304"/>
                </a:rPr>
                <a:t>800 Million Indians have zero visibility into their own digital exposure.</a:t>
              </a:r>
            </a:p>
            <a:p>
              <a:pPr algn="l">
                <a:lnSpc>
                  <a:spcPct val="100000"/>
                </a:lnSpc>
              </a:pPr>
              <a:r>
                <a:rPr sz="2400" b="0" dirty="0">
                  <a:solidFill>
                    <a:srgbClr val="FFFFFF"/>
                  </a:solidFill>
                  <a:latin typeface="Times New Roman" panose="02020603050405020304"/>
                </a:rPr>
                <a:t>Breached credentials, shadow profiles, and data broker records are</a:t>
              </a:r>
            </a:p>
            <a:p>
              <a:pPr algn="l">
                <a:lnSpc>
                  <a:spcPct val="100000"/>
                </a:lnSpc>
              </a:pPr>
              <a:r>
                <a:rPr sz="2400" b="0" dirty="0">
                  <a:solidFill>
                    <a:srgbClr val="FFFFFF"/>
                  </a:solidFill>
                  <a:latin typeface="Times New Roman" panose="02020603050405020304"/>
                </a:rPr>
                <a:t>openly available to cybercriminals — but completely invisible to victims.</a:t>
              </a:r>
            </a:p>
          </p:txBody>
        </p:sp>
      </p:grpSp>
      <p:sp>
        <p:nvSpPr>
          <p:cNvPr id="41" name="Freeform 41"/>
          <p:cNvSpPr/>
          <p:nvPr/>
        </p:nvSpPr>
        <p:spPr>
          <a:xfrm>
            <a:off x="6231838" y="29194"/>
            <a:ext cx="5824323" cy="2051385"/>
          </a:xfrm>
          <a:custGeom>
            <a:avLst/>
            <a:gdLst/>
            <a:ahLst/>
            <a:cxnLst/>
            <a:rect l="l" t="t" r="r" b="b"/>
            <a:pathLst>
              <a:path w="5824323" h="2051385">
                <a:moveTo>
                  <a:pt x="0" y="0"/>
                </a:moveTo>
                <a:lnTo>
                  <a:pt x="5824324" y="0"/>
                </a:lnTo>
                <a:lnTo>
                  <a:pt x="5824324" y="2051384"/>
                </a:lnTo>
                <a:lnTo>
                  <a:pt x="0" y="2051384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765" r="-8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9013461"/>
            <a:ext cx="1847849" cy="962024"/>
          </a:xfrm>
          <a:custGeom>
            <a:avLst/>
            <a:gdLst/>
            <a:ahLst/>
            <a:cxnLst/>
            <a:rect l="l" t="t" r="r" b="b"/>
            <a:pathLst>
              <a:path w="1847849" h="962024">
                <a:moveTo>
                  <a:pt x="0" y="0"/>
                </a:moveTo>
                <a:lnTo>
                  <a:pt x="1847849" y="0"/>
                </a:lnTo>
                <a:lnTo>
                  <a:pt x="1847849" y="962024"/>
                </a:lnTo>
                <a:lnTo>
                  <a:pt x="0" y="962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7" b="-107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423285" y="1390609"/>
            <a:ext cx="275590" cy="78740"/>
            <a:chOff x="0" y="0"/>
            <a:chExt cx="367453" cy="1049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776" cy="104394"/>
            </a:xfrm>
            <a:custGeom>
              <a:avLst/>
              <a:gdLst/>
              <a:ahLst/>
              <a:cxnLst/>
              <a:rect l="l" t="t" r="r" b="b"/>
              <a:pathLst>
                <a:path w="366776" h="104394">
                  <a:moveTo>
                    <a:pt x="112522" y="104267"/>
                  </a:moveTo>
                  <a:lnTo>
                    <a:pt x="48895" y="101346"/>
                  </a:lnTo>
                  <a:lnTo>
                    <a:pt x="11938" y="94234"/>
                  </a:lnTo>
                  <a:lnTo>
                    <a:pt x="0" y="90297"/>
                  </a:lnTo>
                  <a:lnTo>
                    <a:pt x="15748" y="77851"/>
                  </a:lnTo>
                  <a:lnTo>
                    <a:pt x="57277" y="49911"/>
                  </a:lnTo>
                  <a:lnTo>
                    <a:pt x="115824" y="20447"/>
                  </a:lnTo>
                  <a:lnTo>
                    <a:pt x="182880" y="3556"/>
                  </a:lnTo>
                  <a:lnTo>
                    <a:pt x="250063" y="0"/>
                  </a:lnTo>
                  <a:lnTo>
                    <a:pt x="308991" y="0"/>
                  </a:lnTo>
                  <a:lnTo>
                    <a:pt x="350774" y="1524"/>
                  </a:lnTo>
                  <a:lnTo>
                    <a:pt x="366776" y="2540"/>
                  </a:lnTo>
                  <a:lnTo>
                    <a:pt x="361315" y="14097"/>
                  </a:lnTo>
                  <a:lnTo>
                    <a:pt x="338836" y="41148"/>
                  </a:lnTo>
                  <a:lnTo>
                    <a:pt x="289560" y="72136"/>
                  </a:lnTo>
                  <a:lnTo>
                    <a:pt x="204343" y="96012"/>
                  </a:lnTo>
                  <a:lnTo>
                    <a:pt x="112522" y="1043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6469713" y="1223585"/>
            <a:ext cx="228624" cy="168915"/>
          </a:xfrm>
          <a:custGeom>
            <a:avLst/>
            <a:gdLst/>
            <a:ahLst/>
            <a:cxnLst/>
            <a:rect l="l" t="t" r="r" b="b"/>
            <a:pathLst>
              <a:path w="228624" h="168915">
                <a:moveTo>
                  <a:pt x="0" y="0"/>
                </a:moveTo>
                <a:lnTo>
                  <a:pt x="228624" y="0"/>
                </a:lnTo>
                <a:lnTo>
                  <a:pt x="228624" y="168915"/>
                </a:lnTo>
                <a:lnTo>
                  <a:pt x="0" y="1689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62" r="-662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288898" y="1340965"/>
            <a:ext cx="281305" cy="67310"/>
            <a:chOff x="0" y="0"/>
            <a:chExt cx="375073" cy="897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4269" cy="89662"/>
            </a:xfrm>
            <a:custGeom>
              <a:avLst/>
              <a:gdLst/>
              <a:ahLst/>
              <a:cxnLst/>
              <a:rect l="l" t="t" r="r" b="b"/>
              <a:pathLst>
                <a:path w="374269" h="89662">
                  <a:moveTo>
                    <a:pt x="199898" y="89662"/>
                  </a:moveTo>
                  <a:lnTo>
                    <a:pt x="119253" y="88265"/>
                  </a:lnTo>
                  <a:lnTo>
                    <a:pt x="56007" y="79883"/>
                  </a:lnTo>
                  <a:lnTo>
                    <a:pt x="14732" y="70485"/>
                  </a:lnTo>
                  <a:lnTo>
                    <a:pt x="0" y="66040"/>
                  </a:lnTo>
                  <a:lnTo>
                    <a:pt x="14224" y="56388"/>
                  </a:lnTo>
                  <a:lnTo>
                    <a:pt x="53848" y="34925"/>
                  </a:lnTo>
                  <a:lnTo>
                    <a:pt x="113919" y="12446"/>
                  </a:lnTo>
                  <a:lnTo>
                    <a:pt x="189992" y="0"/>
                  </a:lnTo>
                  <a:lnTo>
                    <a:pt x="265176" y="1651"/>
                  </a:lnTo>
                  <a:lnTo>
                    <a:pt x="323342" y="10287"/>
                  </a:lnTo>
                  <a:lnTo>
                    <a:pt x="360934" y="19812"/>
                  </a:lnTo>
                  <a:lnTo>
                    <a:pt x="374269" y="24384"/>
                  </a:lnTo>
                  <a:lnTo>
                    <a:pt x="363474" y="33782"/>
                  </a:lnTo>
                  <a:lnTo>
                    <a:pt x="330962" y="54991"/>
                  </a:lnTo>
                  <a:lnTo>
                    <a:pt x="276479" y="77216"/>
                  </a:lnTo>
                  <a:lnTo>
                    <a:pt x="199898" y="896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6304772" y="1079767"/>
            <a:ext cx="161462" cy="231707"/>
          </a:xfrm>
          <a:custGeom>
            <a:avLst/>
            <a:gdLst/>
            <a:ahLst/>
            <a:cxnLst/>
            <a:rect l="l" t="t" r="r" b="b"/>
            <a:pathLst>
              <a:path w="161462" h="231707">
                <a:moveTo>
                  <a:pt x="0" y="0"/>
                </a:moveTo>
                <a:lnTo>
                  <a:pt x="161462" y="0"/>
                </a:lnTo>
                <a:lnTo>
                  <a:pt x="161462" y="231707"/>
                </a:lnTo>
                <a:lnTo>
                  <a:pt x="0" y="2317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79" b="-679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6144541" y="1251566"/>
            <a:ext cx="280670" cy="76200"/>
            <a:chOff x="0" y="0"/>
            <a:chExt cx="374227" cy="10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3507" cy="100965"/>
            </a:xfrm>
            <a:custGeom>
              <a:avLst/>
              <a:gdLst/>
              <a:ahLst/>
              <a:cxnLst/>
              <a:rect l="l" t="t" r="r" b="b"/>
              <a:pathLst>
                <a:path w="373507" h="100965">
                  <a:moveTo>
                    <a:pt x="266192" y="100965"/>
                  </a:moveTo>
                  <a:lnTo>
                    <a:pt x="188849" y="95123"/>
                  </a:lnTo>
                  <a:lnTo>
                    <a:pt x="110744" y="74930"/>
                  </a:lnTo>
                  <a:lnTo>
                    <a:pt x="51308" y="51943"/>
                  </a:lnTo>
                  <a:lnTo>
                    <a:pt x="0" y="25400"/>
                  </a:lnTo>
                  <a:lnTo>
                    <a:pt x="16129" y="19431"/>
                  </a:lnTo>
                  <a:lnTo>
                    <a:pt x="59563" y="7747"/>
                  </a:lnTo>
                  <a:lnTo>
                    <a:pt x="123317" y="0"/>
                  </a:lnTo>
                  <a:lnTo>
                    <a:pt x="200152" y="5715"/>
                  </a:lnTo>
                  <a:lnTo>
                    <a:pt x="272796" y="24892"/>
                  </a:lnTo>
                  <a:lnTo>
                    <a:pt x="327279" y="46863"/>
                  </a:lnTo>
                  <a:lnTo>
                    <a:pt x="361569" y="65024"/>
                  </a:lnTo>
                  <a:lnTo>
                    <a:pt x="373507" y="72517"/>
                  </a:lnTo>
                  <a:lnTo>
                    <a:pt x="360807" y="79121"/>
                  </a:lnTo>
                  <a:lnTo>
                    <a:pt x="324231" y="92075"/>
                  </a:lnTo>
                  <a:lnTo>
                    <a:pt x="266065" y="10096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6106052" y="1104701"/>
            <a:ext cx="244782" cy="141776"/>
          </a:xfrm>
          <a:custGeom>
            <a:avLst/>
            <a:gdLst/>
            <a:ahLst/>
            <a:cxnLst/>
            <a:rect l="l" t="t" r="r" b="b"/>
            <a:pathLst>
              <a:path w="244782" h="141776">
                <a:moveTo>
                  <a:pt x="0" y="0"/>
                </a:moveTo>
                <a:lnTo>
                  <a:pt x="244782" y="0"/>
                </a:lnTo>
                <a:lnTo>
                  <a:pt x="244782" y="141776"/>
                </a:lnTo>
                <a:lnTo>
                  <a:pt x="0" y="1417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780" b="-78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019856" y="339559"/>
            <a:ext cx="393700" cy="802640"/>
          </a:xfrm>
          <a:custGeom>
            <a:avLst/>
            <a:gdLst/>
            <a:ahLst/>
            <a:cxnLst/>
            <a:rect l="l" t="t" r="r" b="b"/>
            <a:pathLst>
              <a:path w="393700" h="802640">
                <a:moveTo>
                  <a:pt x="0" y="0"/>
                </a:moveTo>
                <a:lnTo>
                  <a:pt x="393700" y="0"/>
                </a:lnTo>
                <a:lnTo>
                  <a:pt x="393700" y="802640"/>
                </a:lnTo>
                <a:lnTo>
                  <a:pt x="0" y="8026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594649" y="1425631"/>
            <a:ext cx="112653" cy="126308"/>
          </a:xfrm>
          <a:custGeom>
            <a:avLst/>
            <a:gdLst/>
            <a:ahLst/>
            <a:cxnLst/>
            <a:rect l="l" t="t" r="r" b="b"/>
            <a:pathLst>
              <a:path w="112653" h="126308">
                <a:moveTo>
                  <a:pt x="0" y="0"/>
                </a:moveTo>
                <a:lnTo>
                  <a:pt x="112653" y="0"/>
                </a:lnTo>
                <a:lnTo>
                  <a:pt x="112653" y="126308"/>
                </a:lnTo>
                <a:lnTo>
                  <a:pt x="0" y="1263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68" b="-168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480534" y="758952"/>
            <a:ext cx="259079" cy="414527"/>
          </a:xfrm>
          <a:custGeom>
            <a:avLst/>
            <a:gdLst/>
            <a:ahLst/>
            <a:cxnLst/>
            <a:rect l="l" t="t" r="r" b="b"/>
            <a:pathLst>
              <a:path w="259079" h="414527">
                <a:moveTo>
                  <a:pt x="0" y="0"/>
                </a:moveTo>
                <a:lnTo>
                  <a:pt x="259079" y="0"/>
                </a:lnTo>
                <a:lnTo>
                  <a:pt x="259079" y="414527"/>
                </a:lnTo>
                <a:lnTo>
                  <a:pt x="0" y="4145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424389" y="792619"/>
            <a:ext cx="151765" cy="323850"/>
          </a:xfrm>
          <a:custGeom>
            <a:avLst/>
            <a:gdLst/>
            <a:ahLst/>
            <a:cxnLst/>
            <a:rect l="l" t="t" r="r" b="b"/>
            <a:pathLst>
              <a:path w="151765" h="323850">
                <a:moveTo>
                  <a:pt x="0" y="0"/>
                </a:moveTo>
                <a:lnTo>
                  <a:pt x="151765" y="0"/>
                </a:lnTo>
                <a:lnTo>
                  <a:pt x="151765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669510" y="755904"/>
            <a:ext cx="999743" cy="384047"/>
          </a:xfrm>
          <a:custGeom>
            <a:avLst/>
            <a:gdLst/>
            <a:ahLst/>
            <a:cxnLst/>
            <a:rect l="l" t="t" r="r" b="b"/>
            <a:pathLst>
              <a:path w="999743" h="384047">
                <a:moveTo>
                  <a:pt x="0" y="0"/>
                </a:moveTo>
                <a:lnTo>
                  <a:pt x="999743" y="0"/>
                </a:lnTo>
                <a:lnTo>
                  <a:pt x="999743" y="384047"/>
                </a:lnTo>
                <a:lnTo>
                  <a:pt x="0" y="3840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7330812" y="1389182"/>
            <a:ext cx="274955" cy="79375"/>
            <a:chOff x="0" y="0"/>
            <a:chExt cx="366607" cy="1058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6268" cy="105283"/>
            </a:xfrm>
            <a:custGeom>
              <a:avLst/>
              <a:gdLst/>
              <a:ahLst/>
              <a:cxnLst/>
              <a:rect l="l" t="t" r="r" b="b"/>
              <a:pathLst>
                <a:path w="366268" h="105283">
                  <a:moveTo>
                    <a:pt x="253746" y="105283"/>
                  </a:moveTo>
                  <a:lnTo>
                    <a:pt x="317373" y="102616"/>
                  </a:lnTo>
                  <a:lnTo>
                    <a:pt x="354330" y="95758"/>
                  </a:lnTo>
                  <a:lnTo>
                    <a:pt x="366268" y="91821"/>
                  </a:lnTo>
                  <a:lnTo>
                    <a:pt x="350520" y="79375"/>
                  </a:lnTo>
                  <a:lnTo>
                    <a:pt x="250698" y="21590"/>
                  </a:lnTo>
                  <a:lnTo>
                    <a:pt x="183896" y="4191"/>
                  </a:lnTo>
                  <a:lnTo>
                    <a:pt x="116713" y="254"/>
                  </a:lnTo>
                  <a:lnTo>
                    <a:pt x="57785" y="0"/>
                  </a:lnTo>
                  <a:lnTo>
                    <a:pt x="15875" y="1270"/>
                  </a:lnTo>
                  <a:lnTo>
                    <a:pt x="0" y="2159"/>
                  </a:lnTo>
                  <a:lnTo>
                    <a:pt x="5334" y="13716"/>
                  </a:lnTo>
                  <a:lnTo>
                    <a:pt x="27813" y="40894"/>
                  </a:lnTo>
                  <a:lnTo>
                    <a:pt x="76708" y="72263"/>
                  </a:lnTo>
                  <a:lnTo>
                    <a:pt x="161925" y="96520"/>
                  </a:lnTo>
                  <a:lnTo>
                    <a:pt x="253746" y="10528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17330812" y="1223064"/>
            <a:ext cx="229460" cy="167778"/>
          </a:xfrm>
          <a:custGeom>
            <a:avLst/>
            <a:gdLst/>
            <a:ahLst/>
            <a:cxnLst/>
            <a:rect l="l" t="t" r="r" b="b"/>
            <a:pathLst>
              <a:path w="229460" h="167778">
                <a:moveTo>
                  <a:pt x="0" y="0"/>
                </a:moveTo>
                <a:lnTo>
                  <a:pt x="229460" y="0"/>
                </a:lnTo>
                <a:lnTo>
                  <a:pt x="229460" y="167778"/>
                </a:lnTo>
                <a:lnTo>
                  <a:pt x="0" y="1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38" r="-138"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7459738" y="1340632"/>
            <a:ext cx="280670" cy="67310"/>
            <a:chOff x="0" y="0"/>
            <a:chExt cx="374227" cy="8974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4015" cy="89535"/>
            </a:xfrm>
            <a:custGeom>
              <a:avLst/>
              <a:gdLst/>
              <a:ahLst/>
              <a:cxnLst/>
              <a:rect l="l" t="t" r="r" b="b"/>
              <a:pathLst>
                <a:path w="374015" h="89535">
                  <a:moveTo>
                    <a:pt x="173990" y="89535"/>
                  </a:moveTo>
                  <a:lnTo>
                    <a:pt x="254635" y="88519"/>
                  </a:lnTo>
                  <a:lnTo>
                    <a:pt x="317881" y="80518"/>
                  </a:lnTo>
                  <a:lnTo>
                    <a:pt x="359156" y="71374"/>
                  </a:lnTo>
                  <a:lnTo>
                    <a:pt x="374015" y="67056"/>
                  </a:lnTo>
                  <a:lnTo>
                    <a:pt x="359791" y="57404"/>
                  </a:lnTo>
                  <a:lnTo>
                    <a:pt x="320421" y="35560"/>
                  </a:lnTo>
                  <a:lnTo>
                    <a:pt x="260350" y="12827"/>
                  </a:lnTo>
                  <a:lnTo>
                    <a:pt x="184277" y="0"/>
                  </a:lnTo>
                  <a:lnTo>
                    <a:pt x="109220" y="1270"/>
                  </a:lnTo>
                  <a:lnTo>
                    <a:pt x="50927" y="9652"/>
                  </a:lnTo>
                  <a:lnTo>
                    <a:pt x="13335" y="19050"/>
                  </a:lnTo>
                  <a:lnTo>
                    <a:pt x="0" y="23495"/>
                  </a:lnTo>
                  <a:lnTo>
                    <a:pt x="10795" y="33020"/>
                  </a:lnTo>
                  <a:lnTo>
                    <a:pt x="43180" y="54229"/>
                  </a:lnTo>
                  <a:lnTo>
                    <a:pt x="97409" y="76708"/>
                  </a:lnTo>
                  <a:lnTo>
                    <a:pt x="173990" y="8953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17563315" y="1080067"/>
            <a:ext cx="162610" cy="230903"/>
          </a:xfrm>
          <a:custGeom>
            <a:avLst/>
            <a:gdLst/>
            <a:ahLst/>
            <a:cxnLst/>
            <a:rect l="l" t="t" r="r" b="b"/>
            <a:pathLst>
              <a:path w="162610" h="230903">
                <a:moveTo>
                  <a:pt x="0" y="0"/>
                </a:moveTo>
                <a:lnTo>
                  <a:pt x="162610" y="0"/>
                </a:lnTo>
                <a:lnTo>
                  <a:pt x="162610" y="230903"/>
                </a:lnTo>
                <a:lnTo>
                  <a:pt x="0" y="23090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90" r="-290"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7604850" y="1252199"/>
            <a:ext cx="280670" cy="75565"/>
            <a:chOff x="0" y="0"/>
            <a:chExt cx="374227" cy="10075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3888" cy="100330"/>
            </a:xfrm>
            <a:custGeom>
              <a:avLst/>
              <a:gdLst/>
              <a:ahLst/>
              <a:cxnLst/>
              <a:rect l="l" t="t" r="r" b="b"/>
              <a:pathLst>
                <a:path w="373888" h="100330">
                  <a:moveTo>
                    <a:pt x="107188" y="100203"/>
                  </a:moveTo>
                  <a:lnTo>
                    <a:pt x="184658" y="94869"/>
                  </a:lnTo>
                  <a:lnTo>
                    <a:pt x="262763" y="75057"/>
                  </a:lnTo>
                  <a:lnTo>
                    <a:pt x="322453" y="52451"/>
                  </a:lnTo>
                  <a:lnTo>
                    <a:pt x="373888" y="26162"/>
                  </a:lnTo>
                  <a:lnTo>
                    <a:pt x="357886" y="20066"/>
                  </a:lnTo>
                  <a:lnTo>
                    <a:pt x="314325" y="8001"/>
                  </a:lnTo>
                  <a:lnTo>
                    <a:pt x="250571" y="0"/>
                  </a:lnTo>
                  <a:lnTo>
                    <a:pt x="173736" y="5334"/>
                  </a:lnTo>
                  <a:lnTo>
                    <a:pt x="100965" y="24130"/>
                  </a:lnTo>
                  <a:lnTo>
                    <a:pt x="46355" y="45847"/>
                  </a:lnTo>
                  <a:lnTo>
                    <a:pt x="11938" y="63754"/>
                  </a:lnTo>
                  <a:lnTo>
                    <a:pt x="0" y="71247"/>
                  </a:lnTo>
                  <a:lnTo>
                    <a:pt x="12700" y="77978"/>
                  </a:lnTo>
                  <a:lnTo>
                    <a:pt x="49149" y="91186"/>
                  </a:lnTo>
                  <a:lnTo>
                    <a:pt x="107188" y="100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6" name="Freeform 26"/>
          <p:cNvSpPr/>
          <p:nvPr/>
        </p:nvSpPr>
        <p:spPr>
          <a:xfrm>
            <a:off x="17679041" y="1105987"/>
            <a:ext cx="245478" cy="140612"/>
          </a:xfrm>
          <a:custGeom>
            <a:avLst/>
            <a:gdLst/>
            <a:ahLst/>
            <a:cxnLst/>
            <a:rect l="l" t="t" r="r" b="b"/>
            <a:pathLst>
              <a:path w="245478" h="140612">
                <a:moveTo>
                  <a:pt x="0" y="0"/>
                </a:moveTo>
                <a:lnTo>
                  <a:pt x="245478" y="0"/>
                </a:lnTo>
                <a:lnTo>
                  <a:pt x="245478" y="140612"/>
                </a:lnTo>
                <a:lnTo>
                  <a:pt x="0" y="14061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359" b="-359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621199" y="339330"/>
            <a:ext cx="390525" cy="803275"/>
          </a:xfrm>
          <a:custGeom>
            <a:avLst/>
            <a:gdLst/>
            <a:ahLst/>
            <a:cxnLst/>
            <a:rect l="l" t="t" r="r" b="b"/>
            <a:pathLst>
              <a:path w="390525" h="803275">
                <a:moveTo>
                  <a:pt x="0" y="0"/>
                </a:moveTo>
                <a:lnTo>
                  <a:pt x="390525" y="0"/>
                </a:lnTo>
                <a:lnTo>
                  <a:pt x="390525" y="803275"/>
                </a:lnTo>
                <a:lnTo>
                  <a:pt x="0" y="80327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7321684" y="1423928"/>
            <a:ext cx="112071" cy="126802"/>
          </a:xfrm>
          <a:custGeom>
            <a:avLst/>
            <a:gdLst/>
            <a:ahLst/>
            <a:cxnLst/>
            <a:rect l="l" t="t" r="r" b="b"/>
            <a:pathLst>
              <a:path w="112071" h="126802">
                <a:moveTo>
                  <a:pt x="0" y="0"/>
                </a:moveTo>
                <a:lnTo>
                  <a:pt x="112071" y="0"/>
                </a:lnTo>
                <a:lnTo>
                  <a:pt x="112071" y="126802"/>
                </a:lnTo>
                <a:lnTo>
                  <a:pt x="0" y="12680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2220" r="-2220"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16474160" y="744181"/>
            <a:ext cx="38100" cy="307340"/>
            <a:chOff x="0" y="0"/>
            <a:chExt cx="50800" cy="409787"/>
          </a:xfrm>
        </p:grpSpPr>
        <p:sp>
          <p:nvSpPr>
            <p:cNvPr id="30" name="Freeform 30"/>
            <p:cNvSpPr/>
            <p:nvPr/>
          </p:nvSpPr>
          <p:spPr>
            <a:xfrm>
              <a:off x="0" y="367665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9144" y="0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2" name="Freeform 32"/>
          <p:cNvSpPr/>
          <p:nvPr/>
        </p:nvSpPr>
        <p:spPr>
          <a:xfrm>
            <a:off x="16947701" y="1390593"/>
            <a:ext cx="135917" cy="134319"/>
          </a:xfrm>
          <a:custGeom>
            <a:avLst/>
            <a:gdLst/>
            <a:ahLst/>
            <a:cxnLst/>
            <a:rect l="l" t="t" r="r" b="b"/>
            <a:pathLst>
              <a:path w="135917" h="134319">
                <a:moveTo>
                  <a:pt x="0" y="0"/>
                </a:moveTo>
                <a:lnTo>
                  <a:pt x="135917" y="0"/>
                </a:lnTo>
                <a:lnTo>
                  <a:pt x="135917" y="134319"/>
                </a:lnTo>
                <a:lnTo>
                  <a:pt x="0" y="13431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t="-594" b="-594"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16209922" y="1570445"/>
            <a:ext cx="1592580" cy="157480"/>
            <a:chOff x="0" y="0"/>
            <a:chExt cx="2123440" cy="20997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23440" cy="209973"/>
            </a:xfrm>
            <a:custGeom>
              <a:avLst/>
              <a:gdLst/>
              <a:ahLst/>
              <a:cxnLst/>
              <a:rect l="l" t="t" r="r" b="b"/>
              <a:pathLst>
                <a:path w="2123440" h="209973">
                  <a:moveTo>
                    <a:pt x="0" y="0"/>
                  </a:moveTo>
                  <a:lnTo>
                    <a:pt x="2123440" y="0"/>
                  </a:lnTo>
                  <a:lnTo>
                    <a:pt x="2123440" y="209973"/>
                  </a:lnTo>
                  <a:lnTo>
                    <a:pt x="0" y="209973"/>
                  </a:lnTo>
                  <a:close/>
                </a:path>
              </a:pathLst>
            </a:custGeom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2123440" cy="2194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1020"/>
                </a:lnSpc>
              </a:pPr>
              <a:r>
                <a:rPr lang="en-US" sz="850" b="1" spc="-55">
                  <a:solidFill>
                    <a:srgbClr val="FFFFFF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Forum Of Data Science Engineers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16000" y="276291"/>
            <a:ext cx="11351260" cy="926973"/>
            <a:chOff x="0" y="0"/>
            <a:chExt cx="15135013" cy="123596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135014" cy="1235964"/>
            </a:xfrm>
            <a:custGeom>
              <a:avLst/>
              <a:gdLst/>
              <a:ahLst/>
              <a:cxnLst/>
              <a:rect l="l" t="t" r="r" b="b"/>
              <a:pathLst>
                <a:path w="15135014" h="1235964">
                  <a:moveTo>
                    <a:pt x="0" y="0"/>
                  </a:moveTo>
                  <a:lnTo>
                    <a:pt x="15135014" y="0"/>
                  </a:lnTo>
                  <a:lnTo>
                    <a:pt x="15135014" y="1235964"/>
                  </a:lnTo>
                  <a:lnTo>
                    <a:pt x="0" y="1235964"/>
                  </a:lnTo>
                  <a:close/>
                </a:path>
              </a:pathLst>
            </a:custGeom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5135013" cy="12454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120"/>
                </a:lnSpc>
              </a:pPr>
              <a:r>
                <a:rPr lang="en-US" sz="5100" b="1" spc="74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PROBLEM STATEMENT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13399418" y="8565193"/>
            <a:ext cx="4888580" cy="1721806"/>
          </a:xfrm>
          <a:custGeom>
            <a:avLst/>
            <a:gdLst/>
            <a:ahLst/>
            <a:cxnLst/>
            <a:rect l="l" t="t" r="r" b="b"/>
            <a:pathLst>
              <a:path w="4888580" h="1721806">
                <a:moveTo>
                  <a:pt x="0" y="0"/>
                </a:moveTo>
                <a:lnTo>
                  <a:pt x="4888580" y="0"/>
                </a:lnTo>
                <a:lnTo>
                  <a:pt x="4888580" y="1721806"/>
                </a:lnTo>
                <a:lnTo>
                  <a:pt x="0" y="172180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0" name="TextBox 39"/>
          <p:cNvSpPr txBox="1"/>
          <p:nvPr/>
        </p:nvSpPr>
        <p:spPr>
          <a:xfrm>
            <a:off x="1005840" y="1325880"/>
            <a:ext cx="14813280" cy="51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0E5FF"/>
                </a:solidFill>
                <a:latin typeface="Times New Roman" panose="02020603050405020304"/>
              </a:rPr>
              <a:t>The Scale of the Cyber Privacy Crisis</a:t>
            </a:r>
          </a:p>
          <a:p>
            <a:pPr algn="l">
              <a:spcBef>
                <a:spcPts val="200"/>
              </a:spcBef>
            </a:pPr>
            <a:endParaRPr b="1" dirty="0">
              <a:solidFill>
                <a:srgbClr val="00E5FF"/>
              </a:solidFill>
              <a:latin typeface="Times New Roman" panose="02020603050405020304"/>
            </a:endParaRPr>
          </a:p>
          <a:p>
            <a:pPr marL="285750" indent="-285750" algn="l">
              <a:buFont typeface="Wingdings" panose="05000000000000000000" charset="0"/>
              <a:buChar char="v"/>
            </a:pPr>
            <a:r>
              <a:rPr sz="2000" b="0" dirty="0">
                <a:solidFill>
                  <a:srgbClr val="FFFFFF"/>
                </a:solidFill>
                <a:latin typeface="Times New Roman" panose="02020603050405020304"/>
              </a:rPr>
              <a:t> 1 in 3 Indians has been part of at least one major data breach — yet the vast majority have never been notified.</a:t>
            </a:r>
          </a:p>
          <a:p>
            <a:pPr marL="285750" indent="-285750" algn="l">
              <a:buFont typeface="Wingdings" panose="05000000000000000000" charset="0"/>
              <a:buChar char="v"/>
            </a:pPr>
            <a:r>
              <a:rPr sz="2000" b="0" dirty="0">
                <a:solidFill>
                  <a:srgbClr val="FFFFFF"/>
                </a:solidFill>
                <a:latin typeface="Times New Roman" panose="02020603050405020304"/>
              </a:rPr>
              <a:t> Over 800 million Indian internet users are actively exposed across data broker platforms, leaked databases,</a:t>
            </a:r>
          </a:p>
          <a:p>
            <a:pPr indent="0" algn="l">
              <a:buFont typeface="Wingdings" panose="05000000000000000000" charset="0"/>
              <a:buNone/>
            </a:pPr>
            <a:r>
              <a:rPr sz="2000" b="0" dirty="0">
                <a:solidFill>
                  <a:srgbClr val="FFFFFF"/>
                </a:solidFill>
                <a:latin typeface="Times New Roman" panose="02020603050405020304"/>
              </a:rPr>
              <a:t>    </a:t>
            </a:r>
            <a:r>
              <a:rPr lang="en-IN" sz="2000" b="0" dirty="0">
                <a:solidFill>
                  <a:srgbClr val="FFFFFF"/>
                </a:solidFill>
                <a:latin typeface="Times New Roman" panose="02020603050405020304"/>
              </a:rPr>
              <a:t>   </a:t>
            </a:r>
            <a:r>
              <a:rPr sz="2000" b="0" dirty="0">
                <a:solidFill>
                  <a:srgbClr val="FFFFFF"/>
                </a:solidFill>
                <a:latin typeface="Times New Roman" panose="02020603050405020304"/>
              </a:rPr>
              <a:t>dark web marketplaces, and shadow profile aggregation services they have never heard of.</a:t>
            </a:r>
          </a:p>
          <a:p>
            <a:pPr marL="285750" indent="-285750" algn="l">
              <a:buFont typeface="Wingdings" panose="05000000000000000000" charset="0"/>
              <a:buChar char="v"/>
            </a:pPr>
            <a:r>
              <a:rPr sz="2000" b="0" dirty="0">
                <a:solidFill>
                  <a:srgbClr val="FFFFFF"/>
                </a:solidFill>
                <a:latin typeface="Times New Roman" panose="02020603050405020304"/>
              </a:rPr>
              <a:t>  47+ data broker companies legally purchase and resell your name, phone, address, salary range, and family</a:t>
            </a:r>
          </a:p>
          <a:p>
            <a:pPr indent="0" algn="l">
              <a:buFont typeface="Wingdings" panose="05000000000000000000" charset="0"/>
              <a:buNone/>
            </a:pPr>
            <a:r>
              <a:rPr sz="2000" b="0" dirty="0">
                <a:solidFill>
                  <a:srgbClr val="FFFFFF"/>
                </a:solidFill>
                <a:latin typeface="Times New Roman" panose="02020603050405020304"/>
              </a:rPr>
              <a:t>   </a:t>
            </a:r>
            <a:r>
              <a:rPr lang="en-IN" sz="2000" b="0" dirty="0">
                <a:solidFill>
                  <a:srgbClr val="FFFFFF"/>
                </a:solidFill>
                <a:latin typeface="Times New Roman" panose="02020603050405020304"/>
              </a:rPr>
              <a:t>    </a:t>
            </a:r>
            <a:r>
              <a:rPr sz="2000" b="0" dirty="0">
                <a:solidFill>
                  <a:srgbClr val="FFFFFF"/>
                </a:solidFill>
                <a:latin typeface="Times New Roman" panose="02020603050405020304"/>
              </a:rPr>
              <a:t>members — without your knowledge or consent. This is legal, rampant, and completely unmonitored.</a:t>
            </a:r>
          </a:p>
          <a:p>
            <a:pPr marL="285750" indent="-285750" algn="l">
              <a:buFont typeface="Wingdings" panose="05000000000000000000" charset="0"/>
              <a:buChar char="v"/>
            </a:pPr>
            <a:r>
              <a:rPr sz="2000" b="0" dirty="0">
                <a:solidFill>
                  <a:srgbClr val="FFFFFF"/>
                </a:solidFill>
                <a:latin typeface="Times New Roman" panose="02020603050405020304"/>
              </a:rPr>
              <a:t>  India lost ₹1.25 Lakh Crore to cyber fraud in 2023. Primary enabler: pre-exposed personal data.</a:t>
            </a:r>
          </a:p>
          <a:p>
            <a:pPr marL="285750" indent="-285750" algn="l">
              <a:buFont typeface="Wingdings" panose="05000000000000000000" charset="0"/>
              <a:buChar char="v"/>
            </a:pPr>
            <a:r>
              <a:rPr sz="2000" b="0" dirty="0">
                <a:solidFill>
                  <a:srgbClr val="FFFFFF"/>
                </a:solidFill>
                <a:latin typeface="Times New Roman" panose="02020603050405020304"/>
              </a:rPr>
              <a:t>  A compromised credential set sells on the dark web for less than ₹8 — making mass attacks trivially cheap.</a:t>
            </a:r>
          </a:p>
          <a:p>
            <a:pPr algn="l">
              <a:spcBef>
                <a:spcPts val="200"/>
              </a:spcBef>
            </a:pPr>
            <a:endParaRPr b="0" dirty="0">
              <a:solidFill>
                <a:srgbClr val="FFFFFF"/>
              </a:solidFill>
              <a:latin typeface="Times New Roman" panose="02020603050405020304"/>
            </a:endParaRPr>
          </a:p>
          <a:p>
            <a:pPr algn="l"/>
            <a:r>
              <a:rPr b="1" dirty="0">
                <a:solidFill>
                  <a:srgbClr val="00E5FF"/>
                </a:solidFill>
                <a:latin typeface="Times New Roman" panose="02020603050405020304"/>
              </a:rPr>
              <a:t>The Critical Gap — No Existing Solution Addresses This</a:t>
            </a:r>
          </a:p>
          <a:p>
            <a:pPr algn="l"/>
            <a:endParaRPr b="0" dirty="0">
              <a:solidFill>
                <a:srgbClr val="FFFFFF"/>
              </a:solidFill>
              <a:latin typeface="Times New Roman" panose="02020603050405020304"/>
            </a:endParaRPr>
          </a:p>
          <a:p>
            <a:pPr algn="l"/>
            <a:r>
              <a:rPr sz="2000" dirty="0">
                <a:solidFill>
                  <a:srgbClr val="FFFFFF"/>
                </a:solidFill>
                <a:latin typeface="Times New Roman" panose="02020603050405020304"/>
              </a:rPr>
              <a:t>There is NO free, unified tool that shows individuals their complete digital threat surface — simultaneously</a:t>
            </a:r>
          </a:p>
          <a:p>
            <a:pPr algn="l"/>
            <a:r>
              <a:rPr sz="2000" dirty="0">
                <a:solidFill>
                  <a:srgbClr val="FFFFFF"/>
                </a:solidFill>
                <a:latin typeface="Times New Roman" panose="02020603050405020304"/>
              </a:rPr>
              <a:t>correlating social exposure, breach history, shadow profiles, and dark web presence in one actionable view.</a:t>
            </a:r>
          </a:p>
          <a:p>
            <a:pPr algn="l"/>
            <a:r>
              <a:rPr sz="2000" dirty="0">
                <a:solidFill>
                  <a:srgbClr val="FFFFFF"/>
                </a:solidFill>
                <a:latin typeface="Times New Roman" panose="02020603050405020304"/>
              </a:rPr>
              <a:t>Existing tools are fragmented, expensive (</a:t>
            </a:r>
            <a:r>
              <a:rPr sz="2000" dirty="0" err="1">
                <a:solidFill>
                  <a:srgbClr val="FFFFFF"/>
                </a:solidFill>
                <a:latin typeface="Times New Roman" panose="02020603050405020304"/>
              </a:rPr>
              <a:t>Maltego</a:t>
            </a:r>
            <a:r>
              <a:rPr sz="2000" dirty="0">
                <a:solidFill>
                  <a:srgbClr val="FFFFFF"/>
                </a:solidFill>
                <a:latin typeface="Times New Roman" panose="02020603050405020304"/>
              </a:rPr>
              <a:t>: $1,999/year), or enterprise-only. The victim remains blind.</a:t>
            </a:r>
          </a:p>
          <a:p>
            <a:pPr algn="l">
              <a:spcBef>
                <a:spcPts val="200"/>
              </a:spcBef>
            </a:pPr>
            <a:endParaRPr dirty="0">
              <a:solidFill>
                <a:srgbClr val="FFFFFF"/>
              </a:solidFill>
              <a:latin typeface="Times New Roman" panose="02020603050405020304"/>
            </a:endParaRPr>
          </a:p>
          <a:p>
            <a:pPr algn="l"/>
            <a:r>
              <a:rPr b="1" dirty="0">
                <a:solidFill>
                  <a:srgbClr val="39FF14"/>
                </a:solidFill>
                <a:latin typeface="Times New Roman" panose="02020603050405020304"/>
              </a:rPr>
              <a:t>The attacker already has this intelligence. </a:t>
            </a:r>
            <a:r>
              <a:rPr b="1" dirty="0" err="1">
                <a:solidFill>
                  <a:srgbClr val="39FF14"/>
                </a:solidFill>
                <a:latin typeface="Times New Roman" panose="02020603050405020304"/>
              </a:rPr>
              <a:t>OmniShield</a:t>
            </a:r>
            <a:r>
              <a:rPr b="1" dirty="0">
                <a:solidFill>
                  <a:srgbClr val="39FF14"/>
                </a:solidFill>
                <a:latin typeface="Times New Roman" panose="02020603050405020304"/>
              </a:rPr>
              <a:t> gives it back to the victim. For free.</a:t>
            </a:r>
          </a:p>
        </p:txBody>
      </p:sp>
      <p:pic>
        <p:nvPicPr>
          <p:cNvPr id="41" name="Picture 40" descr="stats_banner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8680" y="6460142"/>
            <a:ext cx="1508760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765" r="-8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9013461"/>
            <a:ext cx="1847849" cy="962024"/>
          </a:xfrm>
          <a:custGeom>
            <a:avLst/>
            <a:gdLst/>
            <a:ahLst/>
            <a:cxnLst/>
            <a:rect l="l" t="t" r="r" b="b"/>
            <a:pathLst>
              <a:path w="1847849" h="962024">
                <a:moveTo>
                  <a:pt x="0" y="0"/>
                </a:moveTo>
                <a:lnTo>
                  <a:pt x="1847849" y="0"/>
                </a:lnTo>
                <a:lnTo>
                  <a:pt x="1847849" y="962024"/>
                </a:lnTo>
                <a:lnTo>
                  <a:pt x="0" y="962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7" b="-107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423285" y="1390609"/>
            <a:ext cx="275590" cy="78740"/>
            <a:chOff x="0" y="0"/>
            <a:chExt cx="367453" cy="1049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776" cy="104394"/>
            </a:xfrm>
            <a:custGeom>
              <a:avLst/>
              <a:gdLst/>
              <a:ahLst/>
              <a:cxnLst/>
              <a:rect l="l" t="t" r="r" b="b"/>
              <a:pathLst>
                <a:path w="366776" h="104394">
                  <a:moveTo>
                    <a:pt x="112522" y="104267"/>
                  </a:moveTo>
                  <a:lnTo>
                    <a:pt x="48895" y="101346"/>
                  </a:lnTo>
                  <a:lnTo>
                    <a:pt x="11938" y="94234"/>
                  </a:lnTo>
                  <a:lnTo>
                    <a:pt x="0" y="90297"/>
                  </a:lnTo>
                  <a:lnTo>
                    <a:pt x="15748" y="77851"/>
                  </a:lnTo>
                  <a:lnTo>
                    <a:pt x="57277" y="49911"/>
                  </a:lnTo>
                  <a:lnTo>
                    <a:pt x="115824" y="20447"/>
                  </a:lnTo>
                  <a:lnTo>
                    <a:pt x="182880" y="3556"/>
                  </a:lnTo>
                  <a:lnTo>
                    <a:pt x="250063" y="0"/>
                  </a:lnTo>
                  <a:lnTo>
                    <a:pt x="308991" y="0"/>
                  </a:lnTo>
                  <a:lnTo>
                    <a:pt x="350774" y="1524"/>
                  </a:lnTo>
                  <a:lnTo>
                    <a:pt x="366776" y="2540"/>
                  </a:lnTo>
                  <a:lnTo>
                    <a:pt x="361315" y="14097"/>
                  </a:lnTo>
                  <a:lnTo>
                    <a:pt x="338836" y="41148"/>
                  </a:lnTo>
                  <a:lnTo>
                    <a:pt x="289560" y="72136"/>
                  </a:lnTo>
                  <a:lnTo>
                    <a:pt x="204343" y="96012"/>
                  </a:lnTo>
                  <a:lnTo>
                    <a:pt x="112522" y="1043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6469713" y="1223585"/>
            <a:ext cx="228624" cy="168915"/>
          </a:xfrm>
          <a:custGeom>
            <a:avLst/>
            <a:gdLst/>
            <a:ahLst/>
            <a:cxnLst/>
            <a:rect l="l" t="t" r="r" b="b"/>
            <a:pathLst>
              <a:path w="228624" h="168915">
                <a:moveTo>
                  <a:pt x="0" y="0"/>
                </a:moveTo>
                <a:lnTo>
                  <a:pt x="228624" y="0"/>
                </a:lnTo>
                <a:lnTo>
                  <a:pt x="228624" y="168915"/>
                </a:lnTo>
                <a:lnTo>
                  <a:pt x="0" y="1689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62" r="-662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288898" y="1340965"/>
            <a:ext cx="281305" cy="67310"/>
            <a:chOff x="0" y="0"/>
            <a:chExt cx="375073" cy="897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4269" cy="89662"/>
            </a:xfrm>
            <a:custGeom>
              <a:avLst/>
              <a:gdLst/>
              <a:ahLst/>
              <a:cxnLst/>
              <a:rect l="l" t="t" r="r" b="b"/>
              <a:pathLst>
                <a:path w="374269" h="89662">
                  <a:moveTo>
                    <a:pt x="199898" y="89662"/>
                  </a:moveTo>
                  <a:lnTo>
                    <a:pt x="119253" y="88265"/>
                  </a:lnTo>
                  <a:lnTo>
                    <a:pt x="56007" y="79883"/>
                  </a:lnTo>
                  <a:lnTo>
                    <a:pt x="14732" y="70485"/>
                  </a:lnTo>
                  <a:lnTo>
                    <a:pt x="0" y="66040"/>
                  </a:lnTo>
                  <a:lnTo>
                    <a:pt x="14224" y="56388"/>
                  </a:lnTo>
                  <a:lnTo>
                    <a:pt x="53848" y="34925"/>
                  </a:lnTo>
                  <a:lnTo>
                    <a:pt x="113919" y="12446"/>
                  </a:lnTo>
                  <a:lnTo>
                    <a:pt x="189992" y="0"/>
                  </a:lnTo>
                  <a:lnTo>
                    <a:pt x="265176" y="1651"/>
                  </a:lnTo>
                  <a:lnTo>
                    <a:pt x="323342" y="10287"/>
                  </a:lnTo>
                  <a:lnTo>
                    <a:pt x="360934" y="19812"/>
                  </a:lnTo>
                  <a:lnTo>
                    <a:pt x="374269" y="24384"/>
                  </a:lnTo>
                  <a:lnTo>
                    <a:pt x="363474" y="33782"/>
                  </a:lnTo>
                  <a:lnTo>
                    <a:pt x="330962" y="54991"/>
                  </a:lnTo>
                  <a:lnTo>
                    <a:pt x="276479" y="77216"/>
                  </a:lnTo>
                  <a:lnTo>
                    <a:pt x="199898" y="896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6304772" y="1079767"/>
            <a:ext cx="161462" cy="231707"/>
          </a:xfrm>
          <a:custGeom>
            <a:avLst/>
            <a:gdLst/>
            <a:ahLst/>
            <a:cxnLst/>
            <a:rect l="l" t="t" r="r" b="b"/>
            <a:pathLst>
              <a:path w="161462" h="231707">
                <a:moveTo>
                  <a:pt x="0" y="0"/>
                </a:moveTo>
                <a:lnTo>
                  <a:pt x="161462" y="0"/>
                </a:lnTo>
                <a:lnTo>
                  <a:pt x="161462" y="231707"/>
                </a:lnTo>
                <a:lnTo>
                  <a:pt x="0" y="2317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79" b="-679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6144541" y="1251566"/>
            <a:ext cx="280670" cy="76200"/>
            <a:chOff x="0" y="0"/>
            <a:chExt cx="374227" cy="10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3507" cy="100965"/>
            </a:xfrm>
            <a:custGeom>
              <a:avLst/>
              <a:gdLst/>
              <a:ahLst/>
              <a:cxnLst/>
              <a:rect l="l" t="t" r="r" b="b"/>
              <a:pathLst>
                <a:path w="373507" h="100965">
                  <a:moveTo>
                    <a:pt x="266192" y="100965"/>
                  </a:moveTo>
                  <a:lnTo>
                    <a:pt x="188849" y="95123"/>
                  </a:lnTo>
                  <a:lnTo>
                    <a:pt x="110744" y="74930"/>
                  </a:lnTo>
                  <a:lnTo>
                    <a:pt x="51308" y="51943"/>
                  </a:lnTo>
                  <a:lnTo>
                    <a:pt x="0" y="25400"/>
                  </a:lnTo>
                  <a:lnTo>
                    <a:pt x="16129" y="19431"/>
                  </a:lnTo>
                  <a:lnTo>
                    <a:pt x="59563" y="7747"/>
                  </a:lnTo>
                  <a:lnTo>
                    <a:pt x="123317" y="0"/>
                  </a:lnTo>
                  <a:lnTo>
                    <a:pt x="200152" y="5715"/>
                  </a:lnTo>
                  <a:lnTo>
                    <a:pt x="272796" y="24892"/>
                  </a:lnTo>
                  <a:lnTo>
                    <a:pt x="327279" y="46863"/>
                  </a:lnTo>
                  <a:lnTo>
                    <a:pt x="361569" y="65024"/>
                  </a:lnTo>
                  <a:lnTo>
                    <a:pt x="373507" y="72517"/>
                  </a:lnTo>
                  <a:lnTo>
                    <a:pt x="360807" y="79121"/>
                  </a:lnTo>
                  <a:lnTo>
                    <a:pt x="324231" y="92075"/>
                  </a:lnTo>
                  <a:lnTo>
                    <a:pt x="266065" y="10096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6106052" y="1104701"/>
            <a:ext cx="244782" cy="141776"/>
          </a:xfrm>
          <a:custGeom>
            <a:avLst/>
            <a:gdLst/>
            <a:ahLst/>
            <a:cxnLst/>
            <a:rect l="l" t="t" r="r" b="b"/>
            <a:pathLst>
              <a:path w="244782" h="141776">
                <a:moveTo>
                  <a:pt x="0" y="0"/>
                </a:moveTo>
                <a:lnTo>
                  <a:pt x="244782" y="0"/>
                </a:lnTo>
                <a:lnTo>
                  <a:pt x="244782" y="141776"/>
                </a:lnTo>
                <a:lnTo>
                  <a:pt x="0" y="1417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780" b="-78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019856" y="339559"/>
            <a:ext cx="393700" cy="802640"/>
          </a:xfrm>
          <a:custGeom>
            <a:avLst/>
            <a:gdLst/>
            <a:ahLst/>
            <a:cxnLst/>
            <a:rect l="l" t="t" r="r" b="b"/>
            <a:pathLst>
              <a:path w="393700" h="802640">
                <a:moveTo>
                  <a:pt x="0" y="0"/>
                </a:moveTo>
                <a:lnTo>
                  <a:pt x="393700" y="0"/>
                </a:lnTo>
                <a:lnTo>
                  <a:pt x="393700" y="802640"/>
                </a:lnTo>
                <a:lnTo>
                  <a:pt x="0" y="8026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594649" y="1425631"/>
            <a:ext cx="112653" cy="126308"/>
          </a:xfrm>
          <a:custGeom>
            <a:avLst/>
            <a:gdLst/>
            <a:ahLst/>
            <a:cxnLst/>
            <a:rect l="l" t="t" r="r" b="b"/>
            <a:pathLst>
              <a:path w="112653" h="126308">
                <a:moveTo>
                  <a:pt x="0" y="0"/>
                </a:moveTo>
                <a:lnTo>
                  <a:pt x="112653" y="0"/>
                </a:lnTo>
                <a:lnTo>
                  <a:pt x="112653" y="126308"/>
                </a:lnTo>
                <a:lnTo>
                  <a:pt x="0" y="1263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68" b="-168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480534" y="758952"/>
            <a:ext cx="259079" cy="414527"/>
          </a:xfrm>
          <a:custGeom>
            <a:avLst/>
            <a:gdLst/>
            <a:ahLst/>
            <a:cxnLst/>
            <a:rect l="l" t="t" r="r" b="b"/>
            <a:pathLst>
              <a:path w="259079" h="414527">
                <a:moveTo>
                  <a:pt x="0" y="0"/>
                </a:moveTo>
                <a:lnTo>
                  <a:pt x="259079" y="0"/>
                </a:lnTo>
                <a:lnTo>
                  <a:pt x="259079" y="414527"/>
                </a:lnTo>
                <a:lnTo>
                  <a:pt x="0" y="4145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424389" y="792619"/>
            <a:ext cx="151765" cy="323850"/>
          </a:xfrm>
          <a:custGeom>
            <a:avLst/>
            <a:gdLst/>
            <a:ahLst/>
            <a:cxnLst/>
            <a:rect l="l" t="t" r="r" b="b"/>
            <a:pathLst>
              <a:path w="151765" h="323850">
                <a:moveTo>
                  <a:pt x="0" y="0"/>
                </a:moveTo>
                <a:lnTo>
                  <a:pt x="151765" y="0"/>
                </a:lnTo>
                <a:lnTo>
                  <a:pt x="151765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669510" y="755904"/>
            <a:ext cx="999743" cy="384047"/>
          </a:xfrm>
          <a:custGeom>
            <a:avLst/>
            <a:gdLst/>
            <a:ahLst/>
            <a:cxnLst/>
            <a:rect l="l" t="t" r="r" b="b"/>
            <a:pathLst>
              <a:path w="999743" h="384047">
                <a:moveTo>
                  <a:pt x="0" y="0"/>
                </a:moveTo>
                <a:lnTo>
                  <a:pt x="999743" y="0"/>
                </a:lnTo>
                <a:lnTo>
                  <a:pt x="999743" y="384047"/>
                </a:lnTo>
                <a:lnTo>
                  <a:pt x="0" y="3840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7330812" y="1389182"/>
            <a:ext cx="274955" cy="79375"/>
            <a:chOff x="0" y="0"/>
            <a:chExt cx="366607" cy="1058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6268" cy="105283"/>
            </a:xfrm>
            <a:custGeom>
              <a:avLst/>
              <a:gdLst/>
              <a:ahLst/>
              <a:cxnLst/>
              <a:rect l="l" t="t" r="r" b="b"/>
              <a:pathLst>
                <a:path w="366268" h="105283">
                  <a:moveTo>
                    <a:pt x="253746" y="105283"/>
                  </a:moveTo>
                  <a:lnTo>
                    <a:pt x="317373" y="102616"/>
                  </a:lnTo>
                  <a:lnTo>
                    <a:pt x="354330" y="95758"/>
                  </a:lnTo>
                  <a:lnTo>
                    <a:pt x="366268" y="91821"/>
                  </a:lnTo>
                  <a:lnTo>
                    <a:pt x="350520" y="79375"/>
                  </a:lnTo>
                  <a:lnTo>
                    <a:pt x="250698" y="21590"/>
                  </a:lnTo>
                  <a:lnTo>
                    <a:pt x="183896" y="4191"/>
                  </a:lnTo>
                  <a:lnTo>
                    <a:pt x="116713" y="254"/>
                  </a:lnTo>
                  <a:lnTo>
                    <a:pt x="57785" y="0"/>
                  </a:lnTo>
                  <a:lnTo>
                    <a:pt x="15875" y="1270"/>
                  </a:lnTo>
                  <a:lnTo>
                    <a:pt x="0" y="2159"/>
                  </a:lnTo>
                  <a:lnTo>
                    <a:pt x="5334" y="13716"/>
                  </a:lnTo>
                  <a:lnTo>
                    <a:pt x="27813" y="40894"/>
                  </a:lnTo>
                  <a:lnTo>
                    <a:pt x="76708" y="72263"/>
                  </a:lnTo>
                  <a:lnTo>
                    <a:pt x="161925" y="96520"/>
                  </a:lnTo>
                  <a:lnTo>
                    <a:pt x="253746" y="10528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17330812" y="1223064"/>
            <a:ext cx="229460" cy="167778"/>
          </a:xfrm>
          <a:custGeom>
            <a:avLst/>
            <a:gdLst/>
            <a:ahLst/>
            <a:cxnLst/>
            <a:rect l="l" t="t" r="r" b="b"/>
            <a:pathLst>
              <a:path w="229460" h="167778">
                <a:moveTo>
                  <a:pt x="0" y="0"/>
                </a:moveTo>
                <a:lnTo>
                  <a:pt x="229460" y="0"/>
                </a:lnTo>
                <a:lnTo>
                  <a:pt x="229460" y="167778"/>
                </a:lnTo>
                <a:lnTo>
                  <a:pt x="0" y="1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38" r="-138"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7459738" y="1340632"/>
            <a:ext cx="280670" cy="67310"/>
            <a:chOff x="0" y="0"/>
            <a:chExt cx="374227" cy="8974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4015" cy="89535"/>
            </a:xfrm>
            <a:custGeom>
              <a:avLst/>
              <a:gdLst/>
              <a:ahLst/>
              <a:cxnLst/>
              <a:rect l="l" t="t" r="r" b="b"/>
              <a:pathLst>
                <a:path w="374015" h="89535">
                  <a:moveTo>
                    <a:pt x="173990" y="89535"/>
                  </a:moveTo>
                  <a:lnTo>
                    <a:pt x="254635" y="88519"/>
                  </a:lnTo>
                  <a:lnTo>
                    <a:pt x="317881" y="80518"/>
                  </a:lnTo>
                  <a:lnTo>
                    <a:pt x="359156" y="71374"/>
                  </a:lnTo>
                  <a:lnTo>
                    <a:pt x="374015" y="67056"/>
                  </a:lnTo>
                  <a:lnTo>
                    <a:pt x="359791" y="57404"/>
                  </a:lnTo>
                  <a:lnTo>
                    <a:pt x="320421" y="35560"/>
                  </a:lnTo>
                  <a:lnTo>
                    <a:pt x="260350" y="12827"/>
                  </a:lnTo>
                  <a:lnTo>
                    <a:pt x="184277" y="0"/>
                  </a:lnTo>
                  <a:lnTo>
                    <a:pt x="109220" y="1270"/>
                  </a:lnTo>
                  <a:lnTo>
                    <a:pt x="50927" y="9652"/>
                  </a:lnTo>
                  <a:lnTo>
                    <a:pt x="13335" y="19050"/>
                  </a:lnTo>
                  <a:lnTo>
                    <a:pt x="0" y="23495"/>
                  </a:lnTo>
                  <a:lnTo>
                    <a:pt x="10795" y="33020"/>
                  </a:lnTo>
                  <a:lnTo>
                    <a:pt x="43180" y="54229"/>
                  </a:lnTo>
                  <a:lnTo>
                    <a:pt x="97409" y="76708"/>
                  </a:lnTo>
                  <a:lnTo>
                    <a:pt x="173990" y="8953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17563315" y="1080067"/>
            <a:ext cx="162610" cy="230903"/>
          </a:xfrm>
          <a:custGeom>
            <a:avLst/>
            <a:gdLst/>
            <a:ahLst/>
            <a:cxnLst/>
            <a:rect l="l" t="t" r="r" b="b"/>
            <a:pathLst>
              <a:path w="162610" h="230903">
                <a:moveTo>
                  <a:pt x="0" y="0"/>
                </a:moveTo>
                <a:lnTo>
                  <a:pt x="162610" y="0"/>
                </a:lnTo>
                <a:lnTo>
                  <a:pt x="162610" y="230903"/>
                </a:lnTo>
                <a:lnTo>
                  <a:pt x="0" y="23090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90" r="-290"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7604850" y="1252199"/>
            <a:ext cx="280670" cy="75565"/>
            <a:chOff x="0" y="0"/>
            <a:chExt cx="374227" cy="10075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3888" cy="100330"/>
            </a:xfrm>
            <a:custGeom>
              <a:avLst/>
              <a:gdLst/>
              <a:ahLst/>
              <a:cxnLst/>
              <a:rect l="l" t="t" r="r" b="b"/>
              <a:pathLst>
                <a:path w="373888" h="100330">
                  <a:moveTo>
                    <a:pt x="107188" y="100203"/>
                  </a:moveTo>
                  <a:lnTo>
                    <a:pt x="184658" y="94869"/>
                  </a:lnTo>
                  <a:lnTo>
                    <a:pt x="262763" y="75057"/>
                  </a:lnTo>
                  <a:lnTo>
                    <a:pt x="322453" y="52451"/>
                  </a:lnTo>
                  <a:lnTo>
                    <a:pt x="373888" y="26162"/>
                  </a:lnTo>
                  <a:lnTo>
                    <a:pt x="357886" y="20066"/>
                  </a:lnTo>
                  <a:lnTo>
                    <a:pt x="314325" y="8001"/>
                  </a:lnTo>
                  <a:lnTo>
                    <a:pt x="250571" y="0"/>
                  </a:lnTo>
                  <a:lnTo>
                    <a:pt x="173736" y="5334"/>
                  </a:lnTo>
                  <a:lnTo>
                    <a:pt x="100965" y="24130"/>
                  </a:lnTo>
                  <a:lnTo>
                    <a:pt x="46355" y="45847"/>
                  </a:lnTo>
                  <a:lnTo>
                    <a:pt x="11938" y="63754"/>
                  </a:lnTo>
                  <a:lnTo>
                    <a:pt x="0" y="71247"/>
                  </a:lnTo>
                  <a:lnTo>
                    <a:pt x="12700" y="77978"/>
                  </a:lnTo>
                  <a:lnTo>
                    <a:pt x="49149" y="91186"/>
                  </a:lnTo>
                  <a:lnTo>
                    <a:pt x="107188" y="100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6" name="Freeform 26"/>
          <p:cNvSpPr/>
          <p:nvPr/>
        </p:nvSpPr>
        <p:spPr>
          <a:xfrm>
            <a:off x="17679041" y="1105987"/>
            <a:ext cx="245478" cy="140612"/>
          </a:xfrm>
          <a:custGeom>
            <a:avLst/>
            <a:gdLst/>
            <a:ahLst/>
            <a:cxnLst/>
            <a:rect l="l" t="t" r="r" b="b"/>
            <a:pathLst>
              <a:path w="245478" h="140612">
                <a:moveTo>
                  <a:pt x="0" y="0"/>
                </a:moveTo>
                <a:lnTo>
                  <a:pt x="245478" y="0"/>
                </a:lnTo>
                <a:lnTo>
                  <a:pt x="245478" y="140612"/>
                </a:lnTo>
                <a:lnTo>
                  <a:pt x="0" y="14061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359" b="-359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621199" y="339330"/>
            <a:ext cx="390525" cy="803275"/>
          </a:xfrm>
          <a:custGeom>
            <a:avLst/>
            <a:gdLst/>
            <a:ahLst/>
            <a:cxnLst/>
            <a:rect l="l" t="t" r="r" b="b"/>
            <a:pathLst>
              <a:path w="390525" h="803275">
                <a:moveTo>
                  <a:pt x="0" y="0"/>
                </a:moveTo>
                <a:lnTo>
                  <a:pt x="390525" y="0"/>
                </a:lnTo>
                <a:lnTo>
                  <a:pt x="390525" y="803275"/>
                </a:lnTo>
                <a:lnTo>
                  <a:pt x="0" y="80327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7321684" y="1423928"/>
            <a:ext cx="112071" cy="126802"/>
          </a:xfrm>
          <a:custGeom>
            <a:avLst/>
            <a:gdLst/>
            <a:ahLst/>
            <a:cxnLst/>
            <a:rect l="l" t="t" r="r" b="b"/>
            <a:pathLst>
              <a:path w="112071" h="126802">
                <a:moveTo>
                  <a:pt x="0" y="0"/>
                </a:moveTo>
                <a:lnTo>
                  <a:pt x="112071" y="0"/>
                </a:lnTo>
                <a:lnTo>
                  <a:pt x="112071" y="126802"/>
                </a:lnTo>
                <a:lnTo>
                  <a:pt x="0" y="12680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2220" r="-2220"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16474160" y="744181"/>
            <a:ext cx="38100" cy="307340"/>
            <a:chOff x="0" y="0"/>
            <a:chExt cx="50800" cy="409787"/>
          </a:xfrm>
        </p:grpSpPr>
        <p:sp>
          <p:nvSpPr>
            <p:cNvPr id="30" name="Freeform 30"/>
            <p:cNvSpPr/>
            <p:nvPr/>
          </p:nvSpPr>
          <p:spPr>
            <a:xfrm>
              <a:off x="0" y="367665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9144" y="0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2" name="Freeform 32"/>
          <p:cNvSpPr/>
          <p:nvPr/>
        </p:nvSpPr>
        <p:spPr>
          <a:xfrm>
            <a:off x="16947701" y="1390593"/>
            <a:ext cx="135917" cy="134319"/>
          </a:xfrm>
          <a:custGeom>
            <a:avLst/>
            <a:gdLst/>
            <a:ahLst/>
            <a:cxnLst/>
            <a:rect l="l" t="t" r="r" b="b"/>
            <a:pathLst>
              <a:path w="135917" h="134319">
                <a:moveTo>
                  <a:pt x="0" y="0"/>
                </a:moveTo>
                <a:lnTo>
                  <a:pt x="135917" y="0"/>
                </a:lnTo>
                <a:lnTo>
                  <a:pt x="135917" y="134319"/>
                </a:lnTo>
                <a:lnTo>
                  <a:pt x="0" y="13431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t="-594" b="-594"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16209922" y="1570445"/>
            <a:ext cx="1592580" cy="157480"/>
            <a:chOff x="0" y="0"/>
            <a:chExt cx="2123440" cy="20997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23440" cy="209973"/>
            </a:xfrm>
            <a:custGeom>
              <a:avLst/>
              <a:gdLst/>
              <a:ahLst/>
              <a:cxnLst/>
              <a:rect l="l" t="t" r="r" b="b"/>
              <a:pathLst>
                <a:path w="2123440" h="209973">
                  <a:moveTo>
                    <a:pt x="0" y="0"/>
                  </a:moveTo>
                  <a:lnTo>
                    <a:pt x="2123440" y="0"/>
                  </a:lnTo>
                  <a:lnTo>
                    <a:pt x="2123440" y="209973"/>
                  </a:lnTo>
                  <a:lnTo>
                    <a:pt x="0" y="209973"/>
                  </a:lnTo>
                  <a:close/>
                </a:path>
              </a:pathLst>
            </a:custGeom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2123440" cy="2194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1020"/>
                </a:lnSpc>
              </a:pPr>
              <a:r>
                <a:rPr lang="en-US" sz="850" b="1" spc="-55">
                  <a:solidFill>
                    <a:srgbClr val="FFFFFF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Forum Of Data Science Engineers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16000" y="276291"/>
            <a:ext cx="11351260" cy="926973"/>
            <a:chOff x="0" y="0"/>
            <a:chExt cx="15135013" cy="123596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135014" cy="1235964"/>
            </a:xfrm>
            <a:custGeom>
              <a:avLst/>
              <a:gdLst/>
              <a:ahLst/>
              <a:cxnLst/>
              <a:rect l="l" t="t" r="r" b="b"/>
              <a:pathLst>
                <a:path w="15135014" h="1235964">
                  <a:moveTo>
                    <a:pt x="0" y="0"/>
                  </a:moveTo>
                  <a:lnTo>
                    <a:pt x="15135014" y="0"/>
                  </a:lnTo>
                  <a:lnTo>
                    <a:pt x="15135014" y="1235964"/>
                  </a:lnTo>
                  <a:lnTo>
                    <a:pt x="0" y="1235964"/>
                  </a:lnTo>
                  <a:close/>
                </a:path>
              </a:pathLst>
            </a:custGeom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5135013" cy="12454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120"/>
                </a:lnSpc>
              </a:pPr>
              <a:r>
                <a:rPr lang="en-US" sz="5100" b="1" spc="305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SOLUTION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13399418" y="8565193"/>
            <a:ext cx="4888580" cy="1721806"/>
          </a:xfrm>
          <a:custGeom>
            <a:avLst/>
            <a:gdLst/>
            <a:ahLst/>
            <a:cxnLst/>
            <a:rect l="l" t="t" r="r" b="b"/>
            <a:pathLst>
              <a:path w="4888580" h="1721806">
                <a:moveTo>
                  <a:pt x="0" y="0"/>
                </a:moveTo>
                <a:lnTo>
                  <a:pt x="4888580" y="0"/>
                </a:lnTo>
                <a:lnTo>
                  <a:pt x="4888580" y="1721806"/>
                </a:lnTo>
                <a:lnTo>
                  <a:pt x="0" y="172180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0" name="TextBox 39"/>
          <p:cNvSpPr txBox="1"/>
          <p:nvPr/>
        </p:nvSpPr>
        <p:spPr>
          <a:xfrm>
            <a:off x="914400" y="1019810"/>
            <a:ext cx="14813280" cy="1193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 err="1">
                <a:solidFill>
                  <a:srgbClr val="00E5FF"/>
                </a:solidFill>
                <a:latin typeface="Times New Roman" panose="02020603050405020304"/>
              </a:rPr>
              <a:t>OmniShield</a:t>
            </a:r>
            <a:r>
              <a:rPr b="1" dirty="0">
                <a:solidFill>
                  <a:srgbClr val="00E5FF"/>
                </a:solidFill>
                <a:latin typeface="Times New Roman" panose="02020603050405020304"/>
              </a:rPr>
              <a:t> — AI-Powered Personal Cyber Threat Intelligence Platform</a:t>
            </a:r>
          </a:p>
          <a:p>
            <a:pPr algn="l">
              <a:spcBef>
                <a:spcPts val="200"/>
              </a:spcBef>
            </a:pPr>
            <a:endParaRPr sz="1600" b="1" dirty="0">
              <a:solidFill>
                <a:srgbClr val="00E5FF"/>
              </a:solidFill>
              <a:latin typeface="Times New Roman" panose="02020603050405020304"/>
            </a:endParaRPr>
          </a:p>
          <a:p>
            <a:pPr algn="l"/>
            <a:r>
              <a:rPr b="0" dirty="0" err="1">
                <a:solidFill>
                  <a:srgbClr val="FFFFFF"/>
                </a:solidFill>
                <a:latin typeface="Times New Roman" panose="02020603050405020304"/>
              </a:rPr>
              <a:t>OmniShield</a:t>
            </a:r>
            <a:r>
              <a:rPr b="0" dirty="0">
                <a:solidFill>
                  <a:srgbClr val="FFFFFF"/>
                </a:solidFill>
                <a:latin typeface="Times New Roman" panose="02020603050405020304"/>
              </a:rPr>
              <a:t> is a zero-cost, browser-based OSINT and ML platform that maps a user's complete digital footprint</a:t>
            </a:r>
          </a:p>
          <a:p>
            <a:pPr algn="l"/>
            <a:r>
              <a:rPr b="0" dirty="0">
                <a:solidFill>
                  <a:srgbClr val="FFFFFF"/>
                </a:solidFill>
                <a:latin typeface="Times New Roman" panose="02020603050405020304"/>
              </a:rPr>
              <a:t>as a live 3D knowledge graph and predicts the user's most likely upcoming attack vector — before it happens.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2400211"/>
            <a:ext cx="7132320" cy="6180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00E5FF"/>
                </a:solidFill>
                <a:latin typeface="Times New Roman" panose="02020603050405020304"/>
              </a:rPr>
              <a:t>THE 7-STEP INTELLIGENCE PIPELINE</a:t>
            </a:r>
          </a:p>
          <a:p>
            <a:pPr algn="l">
              <a:spcBef>
                <a:spcPts val="200"/>
              </a:spcBef>
            </a:pPr>
            <a:endParaRPr sz="1600" b="1" dirty="0">
              <a:solidFill>
                <a:srgbClr val="00E5FF"/>
              </a:solidFill>
              <a:latin typeface="Times New Roman" panose="02020603050405020304"/>
            </a:endParaRPr>
          </a:p>
          <a:p>
            <a:pPr algn="l"/>
            <a:r>
              <a:rPr sz="1600" b="1" dirty="0">
                <a:solidFill>
                  <a:srgbClr val="FFA028"/>
                </a:solidFill>
                <a:latin typeface="Times New Roman" panose="02020603050405020304"/>
              </a:rPr>
              <a:t>Step 1  —  USER INPUT</a:t>
            </a:r>
          </a:p>
          <a:p>
            <a:pPr algn="l"/>
            <a:r>
              <a:rPr sz="1600" b="1" dirty="0">
                <a:solidFill>
                  <a:srgbClr val="FFFFFF"/>
                </a:solidFill>
                <a:latin typeface="Times New Roman" panose="02020603050405020304"/>
              </a:rPr>
              <a:t>User enters email address or username in browser. Zero signup required.</a:t>
            </a:r>
          </a:p>
          <a:p>
            <a:pPr algn="l">
              <a:spcBef>
                <a:spcPts val="200"/>
              </a:spcBef>
            </a:pPr>
            <a:endParaRPr sz="1600" b="1" dirty="0">
              <a:solidFill>
                <a:srgbClr val="FFFFFF"/>
              </a:solidFill>
              <a:latin typeface="Times New Roman" panose="02020603050405020304"/>
            </a:endParaRPr>
          </a:p>
          <a:p>
            <a:pPr algn="l"/>
            <a:r>
              <a:rPr sz="1600" b="1" dirty="0">
                <a:solidFill>
                  <a:srgbClr val="FFA028"/>
                </a:solidFill>
                <a:latin typeface="Times New Roman" panose="02020603050405020304"/>
              </a:rPr>
              <a:t>Step 2  —  OSINT ENUMERATION</a:t>
            </a:r>
          </a:p>
          <a:p>
            <a:pPr algn="l"/>
            <a:r>
              <a:rPr sz="1600" b="1" dirty="0">
                <a:solidFill>
                  <a:srgbClr val="FFFFFF"/>
                </a:solidFill>
                <a:latin typeface="Times New Roman" panose="02020603050405020304"/>
              </a:rPr>
              <a:t>Sherlock engine concurrently probes 300+ social and professional platforms.</a:t>
            </a:r>
          </a:p>
          <a:p>
            <a:pPr algn="l">
              <a:spcBef>
                <a:spcPts val="200"/>
              </a:spcBef>
            </a:pPr>
            <a:endParaRPr sz="1600" b="0" dirty="0">
              <a:solidFill>
                <a:srgbClr val="FFFFFF"/>
              </a:solidFill>
              <a:latin typeface="Times New Roman" panose="02020603050405020304"/>
            </a:endParaRPr>
          </a:p>
          <a:p>
            <a:pPr algn="l"/>
            <a:r>
              <a:rPr sz="1600" b="1" dirty="0">
                <a:solidFill>
                  <a:srgbClr val="FFA028"/>
                </a:solidFill>
                <a:latin typeface="Times New Roman" panose="02020603050405020304"/>
              </a:rPr>
              <a:t>Step 3  —  BREACH CORRELATION</a:t>
            </a:r>
          </a:p>
          <a:p>
            <a:pPr algn="l"/>
            <a:r>
              <a:rPr sz="1600" b="1" dirty="0" err="1">
                <a:solidFill>
                  <a:srgbClr val="FFFFFF"/>
                </a:solidFill>
                <a:latin typeface="Times New Roman" panose="02020603050405020304"/>
              </a:rPr>
              <a:t>HaveIBeenPwned</a:t>
            </a:r>
            <a:r>
              <a:rPr sz="1600" b="1" dirty="0">
                <a:solidFill>
                  <a:srgbClr val="FFFFFF"/>
                </a:solidFill>
                <a:latin typeface="Times New Roman" panose="02020603050405020304"/>
              </a:rPr>
              <a:t> API fetches full breach database match history.</a:t>
            </a:r>
          </a:p>
          <a:p>
            <a:pPr algn="l">
              <a:spcBef>
                <a:spcPts val="200"/>
              </a:spcBef>
            </a:pPr>
            <a:endParaRPr sz="1600" b="0" dirty="0">
              <a:solidFill>
                <a:srgbClr val="FFFFFF"/>
              </a:solidFill>
              <a:latin typeface="Times New Roman" panose="02020603050405020304"/>
            </a:endParaRPr>
          </a:p>
          <a:p>
            <a:pPr algn="l"/>
            <a:r>
              <a:rPr sz="1600" b="1" dirty="0">
                <a:solidFill>
                  <a:srgbClr val="FFA028"/>
                </a:solidFill>
                <a:latin typeface="Times New Roman" panose="02020603050405020304"/>
              </a:rPr>
              <a:t>Step 4  —  SHADOW PROFILE DETECTION</a:t>
            </a:r>
          </a:p>
          <a:p>
            <a:pPr algn="l"/>
            <a:r>
              <a:rPr sz="1600" b="1" dirty="0">
                <a:solidFill>
                  <a:srgbClr val="FFFFFF"/>
                </a:solidFill>
                <a:latin typeface="Times New Roman" panose="02020603050405020304"/>
              </a:rPr>
              <a:t>ML identity matcher crawls 47+ data broker sites for hidden profiles</a:t>
            </a:r>
            <a:r>
              <a:rPr sz="1600" b="0" dirty="0">
                <a:solidFill>
                  <a:srgbClr val="FFFFFF"/>
                </a:solidFill>
                <a:latin typeface="Times New Roman" panose="02020603050405020304"/>
              </a:rPr>
              <a:t>.</a:t>
            </a:r>
          </a:p>
          <a:p>
            <a:pPr algn="l">
              <a:spcBef>
                <a:spcPts val="200"/>
              </a:spcBef>
            </a:pPr>
            <a:endParaRPr sz="1600" b="0" dirty="0">
              <a:solidFill>
                <a:srgbClr val="FFFFFF"/>
              </a:solidFill>
              <a:latin typeface="Times New Roman" panose="02020603050405020304"/>
            </a:endParaRPr>
          </a:p>
          <a:p>
            <a:pPr algn="l"/>
            <a:r>
              <a:rPr sz="1600" b="1" dirty="0">
                <a:solidFill>
                  <a:srgbClr val="FFA028"/>
                </a:solidFill>
                <a:latin typeface="Times New Roman" panose="02020603050405020304"/>
              </a:rPr>
              <a:t>Step 5  —  GRAPH THEORY RISK SCORING</a:t>
            </a:r>
          </a:p>
          <a:p>
            <a:pPr algn="l"/>
            <a:r>
              <a:rPr sz="1600" b="1" dirty="0" err="1">
                <a:solidFill>
                  <a:srgbClr val="FFFFFF"/>
                </a:solidFill>
                <a:latin typeface="Times New Roman" panose="02020603050405020304"/>
              </a:rPr>
              <a:t>Node_Risk</a:t>
            </a:r>
            <a:r>
              <a:rPr sz="1600" b="1" dirty="0">
                <a:solidFill>
                  <a:srgbClr val="FFFFFF"/>
                </a:solidFill>
                <a:latin typeface="Times New Roman" panose="02020603050405020304"/>
              </a:rPr>
              <a:t> = (</a:t>
            </a:r>
            <a:r>
              <a:rPr sz="1600" b="1" dirty="0" err="1">
                <a:solidFill>
                  <a:srgbClr val="FFFFFF"/>
                </a:solidFill>
                <a:latin typeface="Times New Roman" panose="02020603050405020304"/>
              </a:rPr>
              <a:t>Breach_Sev</a:t>
            </a:r>
            <a:r>
              <a:rPr sz="1600" b="1" dirty="0">
                <a:solidFill>
                  <a:srgbClr val="FFFFFF"/>
                </a:solidFill>
                <a:latin typeface="Times New Roman" panose="02020603050405020304"/>
              </a:rPr>
              <a:t> x 0.4) + (</a:t>
            </a:r>
            <a:r>
              <a:rPr sz="1600" b="1" dirty="0" err="1">
                <a:solidFill>
                  <a:srgbClr val="FFFFFF"/>
                </a:solidFill>
                <a:latin typeface="Times New Roman" panose="02020603050405020304"/>
              </a:rPr>
              <a:t>Data_Sensitivity</a:t>
            </a:r>
            <a:r>
              <a:rPr sz="1600" b="1" dirty="0">
                <a:solidFill>
                  <a:srgbClr val="FFFFFF"/>
                </a:solidFill>
                <a:latin typeface="Times New Roman" panose="02020603050405020304"/>
              </a:rPr>
              <a:t> x 0.35) + (Recency x 0.25)</a:t>
            </a:r>
          </a:p>
          <a:p>
            <a:pPr algn="l"/>
            <a:r>
              <a:rPr sz="1600" b="1" dirty="0" err="1">
                <a:solidFill>
                  <a:srgbClr val="FFFFFF"/>
                </a:solidFill>
                <a:latin typeface="Times New Roman" panose="02020603050405020304"/>
              </a:rPr>
              <a:t>NetworkX</a:t>
            </a:r>
            <a:r>
              <a:rPr sz="1600" b="1" dirty="0">
                <a:solidFill>
                  <a:srgbClr val="FFFFFF"/>
                </a:solidFill>
                <a:latin typeface="Times New Roman" panose="02020603050405020304"/>
              </a:rPr>
              <a:t> Betweenness Centrality identifies highest-risk identity node.</a:t>
            </a:r>
          </a:p>
          <a:p>
            <a:pPr algn="l">
              <a:spcBef>
                <a:spcPts val="200"/>
              </a:spcBef>
            </a:pPr>
            <a:endParaRPr sz="1600" b="0" dirty="0">
              <a:solidFill>
                <a:srgbClr val="FFFFFF"/>
              </a:solidFill>
              <a:latin typeface="Times New Roman" panose="02020603050405020304"/>
            </a:endParaRPr>
          </a:p>
          <a:p>
            <a:pPr algn="l"/>
            <a:r>
              <a:rPr sz="1600" b="1" dirty="0">
                <a:solidFill>
                  <a:srgbClr val="FFA028"/>
                </a:solidFill>
                <a:latin typeface="Times New Roman" panose="02020603050405020304"/>
              </a:rPr>
              <a:t>Step 6  —  3D GRAPH VISUALISATION</a:t>
            </a:r>
          </a:p>
          <a:p>
            <a:pPr algn="l"/>
            <a:r>
              <a:rPr sz="1600" b="1" dirty="0">
                <a:solidFill>
                  <a:srgbClr val="FFFFFF"/>
                </a:solidFill>
                <a:latin typeface="Times New Roman" panose="02020603050405020304"/>
              </a:rPr>
              <a:t>react-force-graph-3d renders all nodes/edges live in browser via WebGL.</a:t>
            </a:r>
            <a:endParaRPr sz="1600" b="0" dirty="0">
              <a:solidFill>
                <a:srgbClr val="FFFFFF"/>
              </a:solidFill>
              <a:latin typeface="Times New Roman" panose="02020603050405020304"/>
            </a:endParaRPr>
          </a:p>
          <a:p>
            <a:pPr algn="l"/>
            <a:r>
              <a:rPr sz="1600" b="1" dirty="0">
                <a:solidFill>
                  <a:srgbClr val="FFFFFF"/>
                </a:solidFill>
                <a:latin typeface="Times New Roman" panose="02020603050405020304"/>
              </a:rPr>
              <a:t>High-risk nodes: red, larger. Low-risk nodes: cyan, smaller. Edges = links.</a:t>
            </a:r>
          </a:p>
          <a:p>
            <a:pPr algn="l">
              <a:spcBef>
                <a:spcPts val="200"/>
              </a:spcBef>
            </a:pPr>
            <a:endParaRPr sz="1600" b="0" dirty="0">
              <a:solidFill>
                <a:srgbClr val="FFFFFF"/>
              </a:solidFill>
              <a:latin typeface="Times New Roman" panose="02020603050405020304"/>
            </a:endParaRPr>
          </a:p>
          <a:p>
            <a:pPr algn="l"/>
            <a:r>
              <a:rPr sz="1600" b="1" dirty="0">
                <a:solidFill>
                  <a:srgbClr val="FFA028"/>
                </a:solidFill>
                <a:latin typeface="Times New Roman" panose="02020603050405020304"/>
              </a:rPr>
              <a:t>Step 7  —  REMEDIATION REPORT</a:t>
            </a:r>
          </a:p>
          <a:p>
            <a:pPr algn="l"/>
            <a:r>
              <a:rPr sz="1600" b="1" dirty="0">
                <a:solidFill>
                  <a:srgbClr val="FFFFFF"/>
                </a:solidFill>
                <a:latin typeface="Times New Roman" panose="02020603050405020304"/>
              </a:rPr>
              <a:t>AI generates a </a:t>
            </a:r>
            <a:r>
              <a:rPr sz="1600" b="1" dirty="0" err="1">
                <a:solidFill>
                  <a:srgbClr val="FFFFFF"/>
                </a:solidFill>
                <a:latin typeface="Times New Roman" panose="02020603050405020304"/>
              </a:rPr>
              <a:t>prioritised</a:t>
            </a:r>
            <a:r>
              <a:rPr sz="1600" b="1" dirty="0">
                <a:solidFill>
                  <a:srgbClr val="FFFFFF"/>
                </a:solidFill>
                <a:latin typeface="Times New Roman" panose="02020603050405020304"/>
              </a:rPr>
              <a:t>, step-by-step action plan for each found vulnerability.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307" y="2476589"/>
            <a:ext cx="7132320" cy="6303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00E5FF"/>
                </a:solidFill>
                <a:latin typeface="Times New Roman" panose="02020603050405020304"/>
              </a:rPr>
              <a:t>KEY DIFFERENTIATORS</a:t>
            </a:r>
          </a:p>
          <a:p>
            <a:pPr algn="l">
              <a:spcBef>
                <a:spcPts val="200"/>
              </a:spcBef>
            </a:pPr>
            <a:endParaRPr sz="1600" b="1" dirty="0">
              <a:solidFill>
                <a:srgbClr val="00E5FF"/>
              </a:solidFill>
              <a:latin typeface="Times New Roman" panose="02020603050405020304"/>
            </a:endParaRPr>
          </a:p>
          <a:p>
            <a:pPr algn="l"/>
            <a:r>
              <a:rPr sz="1600" b="0" dirty="0">
                <a:solidFill>
                  <a:srgbClr val="FFFFFF"/>
                </a:solidFill>
                <a:latin typeface="Times New Roman" panose="02020603050405020304"/>
              </a:rPr>
              <a:t>✦ </a:t>
            </a:r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 First free consumer tool combining OSINT + Breach</a:t>
            </a:r>
          </a:p>
          <a:p>
            <a:pPr algn="l"/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    Data + Shadow Profiles + ML Attack Prediction.</a:t>
            </a:r>
          </a:p>
          <a:p>
            <a:pPr algn="l">
              <a:spcBef>
                <a:spcPts val="200"/>
              </a:spcBef>
            </a:pPr>
            <a:endParaRPr b="1" dirty="0">
              <a:solidFill>
                <a:srgbClr val="FFFFFF"/>
              </a:solidFill>
              <a:latin typeface="Times New Roman" panose="02020603050405020304"/>
            </a:endParaRPr>
          </a:p>
          <a:p>
            <a:pPr algn="l"/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✦  Graph Theory core: applies Betweenness Centrality,</a:t>
            </a:r>
          </a:p>
          <a:p>
            <a:pPr algn="l"/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    Shortest Path, and Degree Centrality algorithms.</a:t>
            </a:r>
          </a:p>
          <a:p>
            <a:pPr algn="l">
              <a:spcBef>
                <a:spcPts val="200"/>
              </a:spcBef>
            </a:pPr>
            <a:endParaRPr b="1" dirty="0">
              <a:solidFill>
                <a:srgbClr val="FFFFFF"/>
              </a:solidFill>
              <a:latin typeface="Times New Roman" panose="02020603050405020304"/>
            </a:endParaRPr>
          </a:p>
          <a:p>
            <a:pPr algn="l"/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✦  Stateless architecture: zero user data stored at any</a:t>
            </a:r>
          </a:p>
          <a:p>
            <a:pPr algn="l"/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    layer. Private by design, not just by policy.</a:t>
            </a:r>
          </a:p>
          <a:p>
            <a:pPr algn="l">
              <a:spcBef>
                <a:spcPts val="200"/>
              </a:spcBef>
            </a:pPr>
            <a:endParaRPr b="1" dirty="0">
              <a:solidFill>
                <a:srgbClr val="FFFFFF"/>
              </a:solidFill>
              <a:latin typeface="Times New Roman" panose="02020603050405020304"/>
            </a:endParaRPr>
          </a:p>
          <a:p>
            <a:pPr algn="l"/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✦  Attack Vector ML Classifier: </a:t>
            </a:r>
            <a:r>
              <a:rPr b="1" dirty="0" err="1">
                <a:solidFill>
                  <a:srgbClr val="FFFFFF"/>
                </a:solidFill>
                <a:latin typeface="Times New Roman" panose="02020603050405020304"/>
              </a:rPr>
              <a:t>RandomForest</a:t>
            </a:r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 trained on</a:t>
            </a:r>
          </a:p>
          <a:p>
            <a:pPr algn="l"/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    public Kaggle breach datasets. Predicts: Spear Phishing,</a:t>
            </a:r>
          </a:p>
          <a:p>
            <a:pPr algn="l"/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    Credential Stuffing, SIM Swap, API Key Harvest.</a:t>
            </a:r>
          </a:p>
          <a:p>
            <a:pPr algn="l">
              <a:spcBef>
                <a:spcPts val="200"/>
              </a:spcBef>
            </a:pPr>
            <a:endParaRPr b="1" dirty="0">
              <a:solidFill>
                <a:srgbClr val="FFFFFF"/>
              </a:solidFill>
              <a:latin typeface="Times New Roman" panose="02020603050405020304"/>
            </a:endParaRPr>
          </a:p>
          <a:p>
            <a:pPr algn="l"/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✦  Production-ready scalability via Celery + Redis async</a:t>
            </a:r>
          </a:p>
          <a:p>
            <a:pPr algn="l"/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    worker queues. Real-time WebSocket push to frontend.</a:t>
            </a:r>
          </a:p>
          <a:p>
            <a:pPr algn="l">
              <a:spcBef>
                <a:spcPts val="200"/>
              </a:spcBef>
            </a:pPr>
            <a:endParaRPr b="1" dirty="0">
              <a:solidFill>
                <a:srgbClr val="FFFFFF"/>
              </a:solidFill>
              <a:latin typeface="Times New Roman" panose="02020603050405020304"/>
            </a:endParaRPr>
          </a:p>
          <a:p>
            <a:pPr algn="l"/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✦  Total infrastructure cost: ₹0. Runs entirely on free</a:t>
            </a:r>
          </a:p>
          <a:p>
            <a:pPr algn="l"/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    tiers: </a:t>
            </a:r>
            <a:r>
              <a:rPr b="1" dirty="0" err="1">
                <a:solidFill>
                  <a:srgbClr val="FFFFFF"/>
                </a:solidFill>
                <a:latin typeface="Times New Roman" panose="02020603050405020304"/>
              </a:rPr>
              <a:t>Vercel</a:t>
            </a:r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 + Render + </a:t>
            </a:r>
            <a:r>
              <a:rPr b="1" dirty="0" err="1">
                <a:solidFill>
                  <a:srgbClr val="FFFFFF"/>
                </a:solidFill>
                <a:latin typeface="Times New Roman" panose="02020603050405020304"/>
              </a:rPr>
              <a:t>HaveIBeenPwned</a:t>
            </a:r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 + </a:t>
            </a:r>
            <a:r>
              <a:rPr b="1" dirty="0" err="1">
                <a:solidFill>
                  <a:srgbClr val="FFFFFF"/>
                </a:solidFill>
                <a:latin typeface="Times New Roman" panose="02020603050405020304"/>
              </a:rPr>
              <a:t>Supabase</a:t>
            </a:r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.</a:t>
            </a:r>
          </a:p>
          <a:p>
            <a:pPr algn="l">
              <a:spcBef>
                <a:spcPts val="200"/>
              </a:spcBef>
            </a:pPr>
            <a:endParaRPr b="1" dirty="0">
              <a:solidFill>
                <a:srgbClr val="FFFFFF"/>
              </a:solidFill>
              <a:latin typeface="Times New Roman" panose="02020603050405020304"/>
            </a:endParaRPr>
          </a:p>
          <a:p>
            <a:pPr algn="l"/>
            <a:r>
              <a:rPr b="1" dirty="0">
                <a:solidFill>
                  <a:srgbClr val="39FF14"/>
                </a:solidFill>
                <a:latin typeface="Times New Roman" panose="02020603050405020304"/>
              </a:rPr>
              <a:t>Zero cost. Zero install. Maximum intelligen</a:t>
            </a:r>
            <a:r>
              <a:rPr sz="1600" b="1" dirty="0">
                <a:solidFill>
                  <a:srgbClr val="39FF14"/>
                </a:solidFill>
                <a:latin typeface="Times New Roman" panose="02020603050405020304"/>
              </a:rPr>
              <a:t>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765" r="-8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9013461"/>
            <a:ext cx="1847849" cy="962024"/>
          </a:xfrm>
          <a:custGeom>
            <a:avLst/>
            <a:gdLst/>
            <a:ahLst/>
            <a:cxnLst/>
            <a:rect l="l" t="t" r="r" b="b"/>
            <a:pathLst>
              <a:path w="1847849" h="962024">
                <a:moveTo>
                  <a:pt x="0" y="0"/>
                </a:moveTo>
                <a:lnTo>
                  <a:pt x="1847849" y="0"/>
                </a:lnTo>
                <a:lnTo>
                  <a:pt x="1847849" y="962024"/>
                </a:lnTo>
                <a:lnTo>
                  <a:pt x="0" y="962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7" b="-107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423285" y="1390609"/>
            <a:ext cx="275590" cy="78740"/>
            <a:chOff x="0" y="0"/>
            <a:chExt cx="367453" cy="1049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776" cy="104394"/>
            </a:xfrm>
            <a:custGeom>
              <a:avLst/>
              <a:gdLst/>
              <a:ahLst/>
              <a:cxnLst/>
              <a:rect l="l" t="t" r="r" b="b"/>
              <a:pathLst>
                <a:path w="366776" h="104394">
                  <a:moveTo>
                    <a:pt x="112522" y="104267"/>
                  </a:moveTo>
                  <a:lnTo>
                    <a:pt x="48895" y="101346"/>
                  </a:lnTo>
                  <a:lnTo>
                    <a:pt x="11938" y="94234"/>
                  </a:lnTo>
                  <a:lnTo>
                    <a:pt x="0" y="90297"/>
                  </a:lnTo>
                  <a:lnTo>
                    <a:pt x="15748" y="77851"/>
                  </a:lnTo>
                  <a:lnTo>
                    <a:pt x="57277" y="49911"/>
                  </a:lnTo>
                  <a:lnTo>
                    <a:pt x="115824" y="20447"/>
                  </a:lnTo>
                  <a:lnTo>
                    <a:pt x="182880" y="3556"/>
                  </a:lnTo>
                  <a:lnTo>
                    <a:pt x="250063" y="0"/>
                  </a:lnTo>
                  <a:lnTo>
                    <a:pt x="308991" y="0"/>
                  </a:lnTo>
                  <a:lnTo>
                    <a:pt x="350774" y="1524"/>
                  </a:lnTo>
                  <a:lnTo>
                    <a:pt x="366776" y="2540"/>
                  </a:lnTo>
                  <a:lnTo>
                    <a:pt x="361315" y="14097"/>
                  </a:lnTo>
                  <a:lnTo>
                    <a:pt x="338836" y="41148"/>
                  </a:lnTo>
                  <a:lnTo>
                    <a:pt x="289560" y="72136"/>
                  </a:lnTo>
                  <a:lnTo>
                    <a:pt x="204343" y="96012"/>
                  </a:lnTo>
                  <a:lnTo>
                    <a:pt x="112522" y="1043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6469713" y="1223585"/>
            <a:ext cx="228624" cy="168915"/>
          </a:xfrm>
          <a:custGeom>
            <a:avLst/>
            <a:gdLst/>
            <a:ahLst/>
            <a:cxnLst/>
            <a:rect l="l" t="t" r="r" b="b"/>
            <a:pathLst>
              <a:path w="228624" h="168915">
                <a:moveTo>
                  <a:pt x="0" y="0"/>
                </a:moveTo>
                <a:lnTo>
                  <a:pt x="228624" y="0"/>
                </a:lnTo>
                <a:lnTo>
                  <a:pt x="228624" y="168915"/>
                </a:lnTo>
                <a:lnTo>
                  <a:pt x="0" y="1689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62" r="-662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288898" y="1340965"/>
            <a:ext cx="281305" cy="67310"/>
            <a:chOff x="0" y="0"/>
            <a:chExt cx="375073" cy="897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4269" cy="89662"/>
            </a:xfrm>
            <a:custGeom>
              <a:avLst/>
              <a:gdLst/>
              <a:ahLst/>
              <a:cxnLst/>
              <a:rect l="l" t="t" r="r" b="b"/>
              <a:pathLst>
                <a:path w="374269" h="89662">
                  <a:moveTo>
                    <a:pt x="199898" y="89662"/>
                  </a:moveTo>
                  <a:lnTo>
                    <a:pt x="119253" y="88265"/>
                  </a:lnTo>
                  <a:lnTo>
                    <a:pt x="56007" y="79883"/>
                  </a:lnTo>
                  <a:lnTo>
                    <a:pt x="14732" y="70485"/>
                  </a:lnTo>
                  <a:lnTo>
                    <a:pt x="0" y="66040"/>
                  </a:lnTo>
                  <a:lnTo>
                    <a:pt x="14224" y="56388"/>
                  </a:lnTo>
                  <a:lnTo>
                    <a:pt x="53848" y="34925"/>
                  </a:lnTo>
                  <a:lnTo>
                    <a:pt x="113919" y="12446"/>
                  </a:lnTo>
                  <a:lnTo>
                    <a:pt x="189992" y="0"/>
                  </a:lnTo>
                  <a:lnTo>
                    <a:pt x="265176" y="1651"/>
                  </a:lnTo>
                  <a:lnTo>
                    <a:pt x="323342" y="10287"/>
                  </a:lnTo>
                  <a:lnTo>
                    <a:pt x="360934" y="19812"/>
                  </a:lnTo>
                  <a:lnTo>
                    <a:pt x="374269" y="24384"/>
                  </a:lnTo>
                  <a:lnTo>
                    <a:pt x="363474" y="33782"/>
                  </a:lnTo>
                  <a:lnTo>
                    <a:pt x="330962" y="54991"/>
                  </a:lnTo>
                  <a:lnTo>
                    <a:pt x="276479" y="77216"/>
                  </a:lnTo>
                  <a:lnTo>
                    <a:pt x="199898" y="896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6304772" y="1079767"/>
            <a:ext cx="161462" cy="231707"/>
          </a:xfrm>
          <a:custGeom>
            <a:avLst/>
            <a:gdLst/>
            <a:ahLst/>
            <a:cxnLst/>
            <a:rect l="l" t="t" r="r" b="b"/>
            <a:pathLst>
              <a:path w="161462" h="231707">
                <a:moveTo>
                  <a:pt x="0" y="0"/>
                </a:moveTo>
                <a:lnTo>
                  <a:pt x="161462" y="0"/>
                </a:lnTo>
                <a:lnTo>
                  <a:pt x="161462" y="231707"/>
                </a:lnTo>
                <a:lnTo>
                  <a:pt x="0" y="2317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79" b="-679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6144541" y="1251566"/>
            <a:ext cx="280670" cy="76200"/>
            <a:chOff x="0" y="0"/>
            <a:chExt cx="374227" cy="10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3507" cy="100965"/>
            </a:xfrm>
            <a:custGeom>
              <a:avLst/>
              <a:gdLst/>
              <a:ahLst/>
              <a:cxnLst/>
              <a:rect l="l" t="t" r="r" b="b"/>
              <a:pathLst>
                <a:path w="373507" h="100965">
                  <a:moveTo>
                    <a:pt x="266192" y="100965"/>
                  </a:moveTo>
                  <a:lnTo>
                    <a:pt x="188849" y="95123"/>
                  </a:lnTo>
                  <a:lnTo>
                    <a:pt x="110744" y="74930"/>
                  </a:lnTo>
                  <a:lnTo>
                    <a:pt x="51308" y="51943"/>
                  </a:lnTo>
                  <a:lnTo>
                    <a:pt x="0" y="25400"/>
                  </a:lnTo>
                  <a:lnTo>
                    <a:pt x="16129" y="19431"/>
                  </a:lnTo>
                  <a:lnTo>
                    <a:pt x="59563" y="7747"/>
                  </a:lnTo>
                  <a:lnTo>
                    <a:pt x="123317" y="0"/>
                  </a:lnTo>
                  <a:lnTo>
                    <a:pt x="200152" y="5715"/>
                  </a:lnTo>
                  <a:lnTo>
                    <a:pt x="272796" y="24892"/>
                  </a:lnTo>
                  <a:lnTo>
                    <a:pt x="327279" y="46863"/>
                  </a:lnTo>
                  <a:lnTo>
                    <a:pt x="361569" y="65024"/>
                  </a:lnTo>
                  <a:lnTo>
                    <a:pt x="373507" y="72517"/>
                  </a:lnTo>
                  <a:lnTo>
                    <a:pt x="360807" y="79121"/>
                  </a:lnTo>
                  <a:lnTo>
                    <a:pt x="324231" y="92075"/>
                  </a:lnTo>
                  <a:lnTo>
                    <a:pt x="266065" y="10096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6106052" y="1104701"/>
            <a:ext cx="244782" cy="141776"/>
          </a:xfrm>
          <a:custGeom>
            <a:avLst/>
            <a:gdLst/>
            <a:ahLst/>
            <a:cxnLst/>
            <a:rect l="l" t="t" r="r" b="b"/>
            <a:pathLst>
              <a:path w="244782" h="141776">
                <a:moveTo>
                  <a:pt x="0" y="0"/>
                </a:moveTo>
                <a:lnTo>
                  <a:pt x="244782" y="0"/>
                </a:lnTo>
                <a:lnTo>
                  <a:pt x="244782" y="141776"/>
                </a:lnTo>
                <a:lnTo>
                  <a:pt x="0" y="1417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780" b="-78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019856" y="339559"/>
            <a:ext cx="393700" cy="802640"/>
          </a:xfrm>
          <a:custGeom>
            <a:avLst/>
            <a:gdLst/>
            <a:ahLst/>
            <a:cxnLst/>
            <a:rect l="l" t="t" r="r" b="b"/>
            <a:pathLst>
              <a:path w="393700" h="802640">
                <a:moveTo>
                  <a:pt x="0" y="0"/>
                </a:moveTo>
                <a:lnTo>
                  <a:pt x="393700" y="0"/>
                </a:lnTo>
                <a:lnTo>
                  <a:pt x="393700" y="802640"/>
                </a:lnTo>
                <a:lnTo>
                  <a:pt x="0" y="8026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594649" y="1425631"/>
            <a:ext cx="112653" cy="126308"/>
          </a:xfrm>
          <a:custGeom>
            <a:avLst/>
            <a:gdLst/>
            <a:ahLst/>
            <a:cxnLst/>
            <a:rect l="l" t="t" r="r" b="b"/>
            <a:pathLst>
              <a:path w="112653" h="126308">
                <a:moveTo>
                  <a:pt x="0" y="0"/>
                </a:moveTo>
                <a:lnTo>
                  <a:pt x="112653" y="0"/>
                </a:lnTo>
                <a:lnTo>
                  <a:pt x="112653" y="126308"/>
                </a:lnTo>
                <a:lnTo>
                  <a:pt x="0" y="1263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68" b="-168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480534" y="758952"/>
            <a:ext cx="259079" cy="414527"/>
          </a:xfrm>
          <a:custGeom>
            <a:avLst/>
            <a:gdLst/>
            <a:ahLst/>
            <a:cxnLst/>
            <a:rect l="l" t="t" r="r" b="b"/>
            <a:pathLst>
              <a:path w="259079" h="414527">
                <a:moveTo>
                  <a:pt x="0" y="0"/>
                </a:moveTo>
                <a:lnTo>
                  <a:pt x="259079" y="0"/>
                </a:lnTo>
                <a:lnTo>
                  <a:pt x="259079" y="414527"/>
                </a:lnTo>
                <a:lnTo>
                  <a:pt x="0" y="4145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424389" y="792619"/>
            <a:ext cx="151765" cy="323850"/>
          </a:xfrm>
          <a:custGeom>
            <a:avLst/>
            <a:gdLst/>
            <a:ahLst/>
            <a:cxnLst/>
            <a:rect l="l" t="t" r="r" b="b"/>
            <a:pathLst>
              <a:path w="151765" h="323850">
                <a:moveTo>
                  <a:pt x="0" y="0"/>
                </a:moveTo>
                <a:lnTo>
                  <a:pt x="151765" y="0"/>
                </a:lnTo>
                <a:lnTo>
                  <a:pt x="151765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669510" y="755904"/>
            <a:ext cx="999743" cy="384047"/>
          </a:xfrm>
          <a:custGeom>
            <a:avLst/>
            <a:gdLst/>
            <a:ahLst/>
            <a:cxnLst/>
            <a:rect l="l" t="t" r="r" b="b"/>
            <a:pathLst>
              <a:path w="999743" h="384047">
                <a:moveTo>
                  <a:pt x="0" y="0"/>
                </a:moveTo>
                <a:lnTo>
                  <a:pt x="999743" y="0"/>
                </a:lnTo>
                <a:lnTo>
                  <a:pt x="999743" y="384047"/>
                </a:lnTo>
                <a:lnTo>
                  <a:pt x="0" y="3840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7330812" y="1389182"/>
            <a:ext cx="274955" cy="79375"/>
            <a:chOff x="0" y="0"/>
            <a:chExt cx="366607" cy="1058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6268" cy="105283"/>
            </a:xfrm>
            <a:custGeom>
              <a:avLst/>
              <a:gdLst/>
              <a:ahLst/>
              <a:cxnLst/>
              <a:rect l="l" t="t" r="r" b="b"/>
              <a:pathLst>
                <a:path w="366268" h="105283">
                  <a:moveTo>
                    <a:pt x="253746" y="105283"/>
                  </a:moveTo>
                  <a:lnTo>
                    <a:pt x="317373" y="102616"/>
                  </a:lnTo>
                  <a:lnTo>
                    <a:pt x="354330" y="95758"/>
                  </a:lnTo>
                  <a:lnTo>
                    <a:pt x="366268" y="91821"/>
                  </a:lnTo>
                  <a:lnTo>
                    <a:pt x="350520" y="79375"/>
                  </a:lnTo>
                  <a:lnTo>
                    <a:pt x="250698" y="21590"/>
                  </a:lnTo>
                  <a:lnTo>
                    <a:pt x="183896" y="4191"/>
                  </a:lnTo>
                  <a:lnTo>
                    <a:pt x="116713" y="254"/>
                  </a:lnTo>
                  <a:lnTo>
                    <a:pt x="57785" y="0"/>
                  </a:lnTo>
                  <a:lnTo>
                    <a:pt x="15875" y="1270"/>
                  </a:lnTo>
                  <a:lnTo>
                    <a:pt x="0" y="2159"/>
                  </a:lnTo>
                  <a:lnTo>
                    <a:pt x="5334" y="13716"/>
                  </a:lnTo>
                  <a:lnTo>
                    <a:pt x="27813" y="40894"/>
                  </a:lnTo>
                  <a:lnTo>
                    <a:pt x="76708" y="72263"/>
                  </a:lnTo>
                  <a:lnTo>
                    <a:pt x="161925" y="96520"/>
                  </a:lnTo>
                  <a:lnTo>
                    <a:pt x="253746" y="10528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17330812" y="1223064"/>
            <a:ext cx="229460" cy="167778"/>
          </a:xfrm>
          <a:custGeom>
            <a:avLst/>
            <a:gdLst/>
            <a:ahLst/>
            <a:cxnLst/>
            <a:rect l="l" t="t" r="r" b="b"/>
            <a:pathLst>
              <a:path w="229460" h="167778">
                <a:moveTo>
                  <a:pt x="0" y="0"/>
                </a:moveTo>
                <a:lnTo>
                  <a:pt x="229460" y="0"/>
                </a:lnTo>
                <a:lnTo>
                  <a:pt x="229460" y="167778"/>
                </a:lnTo>
                <a:lnTo>
                  <a:pt x="0" y="1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38" r="-138"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7459738" y="1340632"/>
            <a:ext cx="280670" cy="67310"/>
            <a:chOff x="0" y="0"/>
            <a:chExt cx="374227" cy="8974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4015" cy="89535"/>
            </a:xfrm>
            <a:custGeom>
              <a:avLst/>
              <a:gdLst/>
              <a:ahLst/>
              <a:cxnLst/>
              <a:rect l="l" t="t" r="r" b="b"/>
              <a:pathLst>
                <a:path w="374015" h="89535">
                  <a:moveTo>
                    <a:pt x="173990" y="89535"/>
                  </a:moveTo>
                  <a:lnTo>
                    <a:pt x="254635" y="88519"/>
                  </a:lnTo>
                  <a:lnTo>
                    <a:pt x="317881" y="80518"/>
                  </a:lnTo>
                  <a:lnTo>
                    <a:pt x="359156" y="71374"/>
                  </a:lnTo>
                  <a:lnTo>
                    <a:pt x="374015" y="67056"/>
                  </a:lnTo>
                  <a:lnTo>
                    <a:pt x="359791" y="57404"/>
                  </a:lnTo>
                  <a:lnTo>
                    <a:pt x="320421" y="35560"/>
                  </a:lnTo>
                  <a:lnTo>
                    <a:pt x="260350" y="12827"/>
                  </a:lnTo>
                  <a:lnTo>
                    <a:pt x="184277" y="0"/>
                  </a:lnTo>
                  <a:lnTo>
                    <a:pt x="109220" y="1270"/>
                  </a:lnTo>
                  <a:lnTo>
                    <a:pt x="50927" y="9652"/>
                  </a:lnTo>
                  <a:lnTo>
                    <a:pt x="13335" y="19050"/>
                  </a:lnTo>
                  <a:lnTo>
                    <a:pt x="0" y="23495"/>
                  </a:lnTo>
                  <a:lnTo>
                    <a:pt x="10795" y="33020"/>
                  </a:lnTo>
                  <a:lnTo>
                    <a:pt x="43180" y="54229"/>
                  </a:lnTo>
                  <a:lnTo>
                    <a:pt x="97409" y="76708"/>
                  </a:lnTo>
                  <a:lnTo>
                    <a:pt x="173990" y="8953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17563315" y="1080067"/>
            <a:ext cx="162610" cy="230903"/>
          </a:xfrm>
          <a:custGeom>
            <a:avLst/>
            <a:gdLst/>
            <a:ahLst/>
            <a:cxnLst/>
            <a:rect l="l" t="t" r="r" b="b"/>
            <a:pathLst>
              <a:path w="162610" h="230903">
                <a:moveTo>
                  <a:pt x="0" y="0"/>
                </a:moveTo>
                <a:lnTo>
                  <a:pt x="162610" y="0"/>
                </a:lnTo>
                <a:lnTo>
                  <a:pt x="162610" y="230903"/>
                </a:lnTo>
                <a:lnTo>
                  <a:pt x="0" y="23090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90" r="-290"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7604850" y="1252199"/>
            <a:ext cx="280670" cy="75565"/>
            <a:chOff x="0" y="0"/>
            <a:chExt cx="374227" cy="10075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3888" cy="100330"/>
            </a:xfrm>
            <a:custGeom>
              <a:avLst/>
              <a:gdLst/>
              <a:ahLst/>
              <a:cxnLst/>
              <a:rect l="l" t="t" r="r" b="b"/>
              <a:pathLst>
                <a:path w="373888" h="100330">
                  <a:moveTo>
                    <a:pt x="107188" y="100203"/>
                  </a:moveTo>
                  <a:lnTo>
                    <a:pt x="184658" y="94869"/>
                  </a:lnTo>
                  <a:lnTo>
                    <a:pt x="262763" y="75057"/>
                  </a:lnTo>
                  <a:lnTo>
                    <a:pt x="322453" y="52451"/>
                  </a:lnTo>
                  <a:lnTo>
                    <a:pt x="373888" y="26162"/>
                  </a:lnTo>
                  <a:lnTo>
                    <a:pt x="357886" y="20066"/>
                  </a:lnTo>
                  <a:lnTo>
                    <a:pt x="314325" y="8001"/>
                  </a:lnTo>
                  <a:lnTo>
                    <a:pt x="250571" y="0"/>
                  </a:lnTo>
                  <a:lnTo>
                    <a:pt x="173736" y="5334"/>
                  </a:lnTo>
                  <a:lnTo>
                    <a:pt x="100965" y="24130"/>
                  </a:lnTo>
                  <a:lnTo>
                    <a:pt x="46355" y="45847"/>
                  </a:lnTo>
                  <a:lnTo>
                    <a:pt x="11938" y="63754"/>
                  </a:lnTo>
                  <a:lnTo>
                    <a:pt x="0" y="71247"/>
                  </a:lnTo>
                  <a:lnTo>
                    <a:pt x="12700" y="77978"/>
                  </a:lnTo>
                  <a:lnTo>
                    <a:pt x="49149" y="91186"/>
                  </a:lnTo>
                  <a:lnTo>
                    <a:pt x="107188" y="100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6" name="Freeform 26"/>
          <p:cNvSpPr/>
          <p:nvPr/>
        </p:nvSpPr>
        <p:spPr>
          <a:xfrm>
            <a:off x="17679041" y="1105987"/>
            <a:ext cx="245478" cy="140612"/>
          </a:xfrm>
          <a:custGeom>
            <a:avLst/>
            <a:gdLst/>
            <a:ahLst/>
            <a:cxnLst/>
            <a:rect l="l" t="t" r="r" b="b"/>
            <a:pathLst>
              <a:path w="245478" h="140612">
                <a:moveTo>
                  <a:pt x="0" y="0"/>
                </a:moveTo>
                <a:lnTo>
                  <a:pt x="245478" y="0"/>
                </a:lnTo>
                <a:lnTo>
                  <a:pt x="245478" y="140612"/>
                </a:lnTo>
                <a:lnTo>
                  <a:pt x="0" y="14061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359" b="-359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621199" y="339330"/>
            <a:ext cx="390525" cy="803275"/>
          </a:xfrm>
          <a:custGeom>
            <a:avLst/>
            <a:gdLst/>
            <a:ahLst/>
            <a:cxnLst/>
            <a:rect l="l" t="t" r="r" b="b"/>
            <a:pathLst>
              <a:path w="390525" h="803275">
                <a:moveTo>
                  <a:pt x="0" y="0"/>
                </a:moveTo>
                <a:lnTo>
                  <a:pt x="390525" y="0"/>
                </a:lnTo>
                <a:lnTo>
                  <a:pt x="390525" y="803275"/>
                </a:lnTo>
                <a:lnTo>
                  <a:pt x="0" y="80327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7321684" y="1423928"/>
            <a:ext cx="112071" cy="126802"/>
          </a:xfrm>
          <a:custGeom>
            <a:avLst/>
            <a:gdLst/>
            <a:ahLst/>
            <a:cxnLst/>
            <a:rect l="l" t="t" r="r" b="b"/>
            <a:pathLst>
              <a:path w="112071" h="126802">
                <a:moveTo>
                  <a:pt x="0" y="0"/>
                </a:moveTo>
                <a:lnTo>
                  <a:pt x="112071" y="0"/>
                </a:lnTo>
                <a:lnTo>
                  <a:pt x="112071" y="126802"/>
                </a:lnTo>
                <a:lnTo>
                  <a:pt x="0" y="12680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2220" r="-2220"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16474160" y="744181"/>
            <a:ext cx="38100" cy="307340"/>
            <a:chOff x="0" y="0"/>
            <a:chExt cx="50800" cy="409787"/>
          </a:xfrm>
        </p:grpSpPr>
        <p:sp>
          <p:nvSpPr>
            <p:cNvPr id="30" name="Freeform 30"/>
            <p:cNvSpPr/>
            <p:nvPr/>
          </p:nvSpPr>
          <p:spPr>
            <a:xfrm>
              <a:off x="0" y="367665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9144" y="0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2" name="Freeform 32"/>
          <p:cNvSpPr/>
          <p:nvPr/>
        </p:nvSpPr>
        <p:spPr>
          <a:xfrm>
            <a:off x="16947701" y="1390593"/>
            <a:ext cx="135917" cy="134319"/>
          </a:xfrm>
          <a:custGeom>
            <a:avLst/>
            <a:gdLst/>
            <a:ahLst/>
            <a:cxnLst/>
            <a:rect l="l" t="t" r="r" b="b"/>
            <a:pathLst>
              <a:path w="135917" h="134319">
                <a:moveTo>
                  <a:pt x="0" y="0"/>
                </a:moveTo>
                <a:lnTo>
                  <a:pt x="135917" y="0"/>
                </a:lnTo>
                <a:lnTo>
                  <a:pt x="135917" y="134319"/>
                </a:lnTo>
                <a:lnTo>
                  <a:pt x="0" y="13431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t="-594" b="-594"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16209922" y="1570445"/>
            <a:ext cx="1592580" cy="157480"/>
            <a:chOff x="0" y="0"/>
            <a:chExt cx="2123440" cy="20997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23440" cy="209973"/>
            </a:xfrm>
            <a:custGeom>
              <a:avLst/>
              <a:gdLst/>
              <a:ahLst/>
              <a:cxnLst/>
              <a:rect l="l" t="t" r="r" b="b"/>
              <a:pathLst>
                <a:path w="2123440" h="209973">
                  <a:moveTo>
                    <a:pt x="0" y="0"/>
                  </a:moveTo>
                  <a:lnTo>
                    <a:pt x="2123440" y="0"/>
                  </a:lnTo>
                  <a:lnTo>
                    <a:pt x="2123440" y="209973"/>
                  </a:lnTo>
                  <a:lnTo>
                    <a:pt x="0" y="209973"/>
                  </a:lnTo>
                  <a:close/>
                </a:path>
              </a:pathLst>
            </a:custGeom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2123440" cy="2194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1020"/>
                </a:lnSpc>
              </a:pPr>
              <a:r>
                <a:rPr lang="en-US" sz="850" b="1" spc="-55">
                  <a:solidFill>
                    <a:srgbClr val="FFFFFF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Forum Of Data Science Engineers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16000" y="276291"/>
            <a:ext cx="11351260" cy="926973"/>
            <a:chOff x="0" y="0"/>
            <a:chExt cx="15135013" cy="123596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135014" cy="1235964"/>
            </a:xfrm>
            <a:custGeom>
              <a:avLst/>
              <a:gdLst/>
              <a:ahLst/>
              <a:cxnLst/>
              <a:rect l="l" t="t" r="r" b="b"/>
              <a:pathLst>
                <a:path w="15135014" h="1235964">
                  <a:moveTo>
                    <a:pt x="0" y="0"/>
                  </a:moveTo>
                  <a:lnTo>
                    <a:pt x="15135014" y="0"/>
                  </a:lnTo>
                  <a:lnTo>
                    <a:pt x="15135014" y="1235964"/>
                  </a:lnTo>
                  <a:lnTo>
                    <a:pt x="0" y="1235964"/>
                  </a:lnTo>
                  <a:close/>
                </a:path>
              </a:pathLst>
            </a:custGeom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5135013" cy="12454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120"/>
                </a:lnSpc>
              </a:pPr>
              <a:r>
                <a:rPr lang="en-US" sz="5100" b="1" spc="340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FLOW DIAGRAM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13399418" y="8565193"/>
            <a:ext cx="4888580" cy="1721806"/>
          </a:xfrm>
          <a:custGeom>
            <a:avLst/>
            <a:gdLst/>
            <a:ahLst/>
            <a:cxnLst/>
            <a:rect l="l" t="t" r="r" b="b"/>
            <a:pathLst>
              <a:path w="4888580" h="1721806">
                <a:moveTo>
                  <a:pt x="0" y="0"/>
                </a:moveTo>
                <a:lnTo>
                  <a:pt x="4888580" y="0"/>
                </a:lnTo>
                <a:lnTo>
                  <a:pt x="4888580" y="1721806"/>
                </a:lnTo>
                <a:lnTo>
                  <a:pt x="0" y="172180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0" name="TextBox 39"/>
          <p:cNvSpPr txBox="1"/>
          <p:nvPr/>
        </p:nvSpPr>
        <p:spPr>
          <a:xfrm>
            <a:off x="1005840" y="1325880"/>
            <a:ext cx="1481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E5FF"/>
                </a:solidFill>
                <a:latin typeface="Times New Roman" panose="02020603050405020304"/>
              </a:rPr>
              <a:t>System Architecture — Multi-Layer AI + OSINT Pipeline with Graph Theory Core</a:t>
            </a:r>
          </a:p>
        </p:txBody>
      </p:sp>
      <p:pic>
        <p:nvPicPr>
          <p:cNvPr id="41" name="Picture 40" descr="architectur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1520" y="1874519"/>
            <a:ext cx="15910559" cy="64008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05840" y="8412480"/>
            <a:ext cx="1481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B4C8"/>
                </a:solidFill>
                <a:latin typeface="Times New Roman" panose="02020603050405020304"/>
              </a:rPr>
              <a:t>Stateless Design: Zero persistence at any layer  |  Async workers: Celery + Redis for production  |  Live updates via WebSocket push protocol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765" r="-8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9013461"/>
            <a:ext cx="1847849" cy="962024"/>
          </a:xfrm>
          <a:custGeom>
            <a:avLst/>
            <a:gdLst/>
            <a:ahLst/>
            <a:cxnLst/>
            <a:rect l="l" t="t" r="r" b="b"/>
            <a:pathLst>
              <a:path w="1847849" h="962024">
                <a:moveTo>
                  <a:pt x="0" y="0"/>
                </a:moveTo>
                <a:lnTo>
                  <a:pt x="1847849" y="0"/>
                </a:lnTo>
                <a:lnTo>
                  <a:pt x="1847849" y="962024"/>
                </a:lnTo>
                <a:lnTo>
                  <a:pt x="0" y="962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7" b="-107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423285" y="1390609"/>
            <a:ext cx="275590" cy="78740"/>
            <a:chOff x="0" y="0"/>
            <a:chExt cx="367453" cy="1049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776" cy="104394"/>
            </a:xfrm>
            <a:custGeom>
              <a:avLst/>
              <a:gdLst/>
              <a:ahLst/>
              <a:cxnLst/>
              <a:rect l="l" t="t" r="r" b="b"/>
              <a:pathLst>
                <a:path w="366776" h="104394">
                  <a:moveTo>
                    <a:pt x="112522" y="104267"/>
                  </a:moveTo>
                  <a:lnTo>
                    <a:pt x="48895" y="101346"/>
                  </a:lnTo>
                  <a:lnTo>
                    <a:pt x="11938" y="94234"/>
                  </a:lnTo>
                  <a:lnTo>
                    <a:pt x="0" y="90297"/>
                  </a:lnTo>
                  <a:lnTo>
                    <a:pt x="15748" y="77851"/>
                  </a:lnTo>
                  <a:lnTo>
                    <a:pt x="57277" y="49911"/>
                  </a:lnTo>
                  <a:lnTo>
                    <a:pt x="115824" y="20447"/>
                  </a:lnTo>
                  <a:lnTo>
                    <a:pt x="182880" y="3556"/>
                  </a:lnTo>
                  <a:lnTo>
                    <a:pt x="250063" y="0"/>
                  </a:lnTo>
                  <a:lnTo>
                    <a:pt x="308991" y="0"/>
                  </a:lnTo>
                  <a:lnTo>
                    <a:pt x="350774" y="1524"/>
                  </a:lnTo>
                  <a:lnTo>
                    <a:pt x="366776" y="2540"/>
                  </a:lnTo>
                  <a:lnTo>
                    <a:pt x="361315" y="14097"/>
                  </a:lnTo>
                  <a:lnTo>
                    <a:pt x="338836" y="41148"/>
                  </a:lnTo>
                  <a:lnTo>
                    <a:pt x="289560" y="72136"/>
                  </a:lnTo>
                  <a:lnTo>
                    <a:pt x="204343" y="96012"/>
                  </a:lnTo>
                  <a:lnTo>
                    <a:pt x="112522" y="1043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6469713" y="1223585"/>
            <a:ext cx="228624" cy="168915"/>
          </a:xfrm>
          <a:custGeom>
            <a:avLst/>
            <a:gdLst/>
            <a:ahLst/>
            <a:cxnLst/>
            <a:rect l="l" t="t" r="r" b="b"/>
            <a:pathLst>
              <a:path w="228624" h="168915">
                <a:moveTo>
                  <a:pt x="0" y="0"/>
                </a:moveTo>
                <a:lnTo>
                  <a:pt x="228624" y="0"/>
                </a:lnTo>
                <a:lnTo>
                  <a:pt x="228624" y="168915"/>
                </a:lnTo>
                <a:lnTo>
                  <a:pt x="0" y="1689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62" r="-662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288898" y="1340965"/>
            <a:ext cx="281305" cy="67310"/>
            <a:chOff x="0" y="0"/>
            <a:chExt cx="375073" cy="897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4269" cy="89662"/>
            </a:xfrm>
            <a:custGeom>
              <a:avLst/>
              <a:gdLst/>
              <a:ahLst/>
              <a:cxnLst/>
              <a:rect l="l" t="t" r="r" b="b"/>
              <a:pathLst>
                <a:path w="374269" h="89662">
                  <a:moveTo>
                    <a:pt x="199898" y="89662"/>
                  </a:moveTo>
                  <a:lnTo>
                    <a:pt x="119253" y="88265"/>
                  </a:lnTo>
                  <a:lnTo>
                    <a:pt x="56007" y="79883"/>
                  </a:lnTo>
                  <a:lnTo>
                    <a:pt x="14732" y="70485"/>
                  </a:lnTo>
                  <a:lnTo>
                    <a:pt x="0" y="66040"/>
                  </a:lnTo>
                  <a:lnTo>
                    <a:pt x="14224" y="56388"/>
                  </a:lnTo>
                  <a:lnTo>
                    <a:pt x="53848" y="34925"/>
                  </a:lnTo>
                  <a:lnTo>
                    <a:pt x="113919" y="12446"/>
                  </a:lnTo>
                  <a:lnTo>
                    <a:pt x="189992" y="0"/>
                  </a:lnTo>
                  <a:lnTo>
                    <a:pt x="265176" y="1651"/>
                  </a:lnTo>
                  <a:lnTo>
                    <a:pt x="323342" y="10287"/>
                  </a:lnTo>
                  <a:lnTo>
                    <a:pt x="360934" y="19812"/>
                  </a:lnTo>
                  <a:lnTo>
                    <a:pt x="374269" y="24384"/>
                  </a:lnTo>
                  <a:lnTo>
                    <a:pt x="363474" y="33782"/>
                  </a:lnTo>
                  <a:lnTo>
                    <a:pt x="330962" y="54991"/>
                  </a:lnTo>
                  <a:lnTo>
                    <a:pt x="276479" y="77216"/>
                  </a:lnTo>
                  <a:lnTo>
                    <a:pt x="199898" y="896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6304772" y="1079767"/>
            <a:ext cx="161462" cy="231707"/>
          </a:xfrm>
          <a:custGeom>
            <a:avLst/>
            <a:gdLst/>
            <a:ahLst/>
            <a:cxnLst/>
            <a:rect l="l" t="t" r="r" b="b"/>
            <a:pathLst>
              <a:path w="161462" h="231707">
                <a:moveTo>
                  <a:pt x="0" y="0"/>
                </a:moveTo>
                <a:lnTo>
                  <a:pt x="161462" y="0"/>
                </a:lnTo>
                <a:lnTo>
                  <a:pt x="161462" y="231707"/>
                </a:lnTo>
                <a:lnTo>
                  <a:pt x="0" y="2317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79" b="-679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6144541" y="1251566"/>
            <a:ext cx="280670" cy="76200"/>
            <a:chOff x="0" y="0"/>
            <a:chExt cx="374227" cy="10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3507" cy="100965"/>
            </a:xfrm>
            <a:custGeom>
              <a:avLst/>
              <a:gdLst/>
              <a:ahLst/>
              <a:cxnLst/>
              <a:rect l="l" t="t" r="r" b="b"/>
              <a:pathLst>
                <a:path w="373507" h="100965">
                  <a:moveTo>
                    <a:pt x="266192" y="100965"/>
                  </a:moveTo>
                  <a:lnTo>
                    <a:pt x="188849" y="95123"/>
                  </a:lnTo>
                  <a:lnTo>
                    <a:pt x="110744" y="74930"/>
                  </a:lnTo>
                  <a:lnTo>
                    <a:pt x="51308" y="51943"/>
                  </a:lnTo>
                  <a:lnTo>
                    <a:pt x="0" y="25400"/>
                  </a:lnTo>
                  <a:lnTo>
                    <a:pt x="16129" y="19431"/>
                  </a:lnTo>
                  <a:lnTo>
                    <a:pt x="59563" y="7747"/>
                  </a:lnTo>
                  <a:lnTo>
                    <a:pt x="123317" y="0"/>
                  </a:lnTo>
                  <a:lnTo>
                    <a:pt x="200152" y="5715"/>
                  </a:lnTo>
                  <a:lnTo>
                    <a:pt x="272796" y="24892"/>
                  </a:lnTo>
                  <a:lnTo>
                    <a:pt x="327279" y="46863"/>
                  </a:lnTo>
                  <a:lnTo>
                    <a:pt x="361569" y="65024"/>
                  </a:lnTo>
                  <a:lnTo>
                    <a:pt x="373507" y="72517"/>
                  </a:lnTo>
                  <a:lnTo>
                    <a:pt x="360807" y="79121"/>
                  </a:lnTo>
                  <a:lnTo>
                    <a:pt x="324231" y="92075"/>
                  </a:lnTo>
                  <a:lnTo>
                    <a:pt x="266065" y="10096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6106052" y="1104701"/>
            <a:ext cx="244782" cy="141776"/>
          </a:xfrm>
          <a:custGeom>
            <a:avLst/>
            <a:gdLst/>
            <a:ahLst/>
            <a:cxnLst/>
            <a:rect l="l" t="t" r="r" b="b"/>
            <a:pathLst>
              <a:path w="244782" h="141776">
                <a:moveTo>
                  <a:pt x="0" y="0"/>
                </a:moveTo>
                <a:lnTo>
                  <a:pt x="244782" y="0"/>
                </a:lnTo>
                <a:lnTo>
                  <a:pt x="244782" y="141776"/>
                </a:lnTo>
                <a:lnTo>
                  <a:pt x="0" y="1417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780" b="-78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019856" y="339559"/>
            <a:ext cx="393700" cy="802640"/>
          </a:xfrm>
          <a:custGeom>
            <a:avLst/>
            <a:gdLst/>
            <a:ahLst/>
            <a:cxnLst/>
            <a:rect l="l" t="t" r="r" b="b"/>
            <a:pathLst>
              <a:path w="393700" h="802640">
                <a:moveTo>
                  <a:pt x="0" y="0"/>
                </a:moveTo>
                <a:lnTo>
                  <a:pt x="393700" y="0"/>
                </a:lnTo>
                <a:lnTo>
                  <a:pt x="393700" y="802640"/>
                </a:lnTo>
                <a:lnTo>
                  <a:pt x="0" y="8026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594649" y="1425631"/>
            <a:ext cx="112653" cy="126308"/>
          </a:xfrm>
          <a:custGeom>
            <a:avLst/>
            <a:gdLst/>
            <a:ahLst/>
            <a:cxnLst/>
            <a:rect l="l" t="t" r="r" b="b"/>
            <a:pathLst>
              <a:path w="112653" h="126308">
                <a:moveTo>
                  <a:pt x="0" y="0"/>
                </a:moveTo>
                <a:lnTo>
                  <a:pt x="112653" y="0"/>
                </a:lnTo>
                <a:lnTo>
                  <a:pt x="112653" y="126308"/>
                </a:lnTo>
                <a:lnTo>
                  <a:pt x="0" y="1263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68" b="-168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480534" y="758952"/>
            <a:ext cx="259079" cy="414527"/>
          </a:xfrm>
          <a:custGeom>
            <a:avLst/>
            <a:gdLst/>
            <a:ahLst/>
            <a:cxnLst/>
            <a:rect l="l" t="t" r="r" b="b"/>
            <a:pathLst>
              <a:path w="259079" h="414527">
                <a:moveTo>
                  <a:pt x="0" y="0"/>
                </a:moveTo>
                <a:lnTo>
                  <a:pt x="259079" y="0"/>
                </a:lnTo>
                <a:lnTo>
                  <a:pt x="259079" y="414527"/>
                </a:lnTo>
                <a:lnTo>
                  <a:pt x="0" y="4145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424389" y="792619"/>
            <a:ext cx="151765" cy="323850"/>
          </a:xfrm>
          <a:custGeom>
            <a:avLst/>
            <a:gdLst/>
            <a:ahLst/>
            <a:cxnLst/>
            <a:rect l="l" t="t" r="r" b="b"/>
            <a:pathLst>
              <a:path w="151765" h="323850">
                <a:moveTo>
                  <a:pt x="0" y="0"/>
                </a:moveTo>
                <a:lnTo>
                  <a:pt x="151765" y="0"/>
                </a:lnTo>
                <a:lnTo>
                  <a:pt x="151765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669510" y="755904"/>
            <a:ext cx="999743" cy="384047"/>
          </a:xfrm>
          <a:custGeom>
            <a:avLst/>
            <a:gdLst/>
            <a:ahLst/>
            <a:cxnLst/>
            <a:rect l="l" t="t" r="r" b="b"/>
            <a:pathLst>
              <a:path w="999743" h="384047">
                <a:moveTo>
                  <a:pt x="0" y="0"/>
                </a:moveTo>
                <a:lnTo>
                  <a:pt x="999743" y="0"/>
                </a:lnTo>
                <a:lnTo>
                  <a:pt x="999743" y="384047"/>
                </a:lnTo>
                <a:lnTo>
                  <a:pt x="0" y="3840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7330812" y="1389182"/>
            <a:ext cx="274955" cy="79375"/>
            <a:chOff x="0" y="0"/>
            <a:chExt cx="366607" cy="1058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6268" cy="105283"/>
            </a:xfrm>
            <a:custGeom>
              <a:avLst/>
              <a:gdLst/>
              <a:ahLst/>
              <a:cxnLst/>
              <a:rect l="l" t="t" r="r" b="b"/>
              <a:pathLst>
                <a:path w="366268" h="105283">
                  <a:moveTo>
                    <a:pt x="253746" y="105283"/>
                  </a:moveTo>
                  <a:lnTo>
                    <a:pt x="317373" y="102616"/>
                  </a:lnTo>
                  <a:lnTo>
                    <a:pt x="354330" y="95758"/>
                  </a:lnTo>
                  <a:lnTo>
                    <a:pt x="366268" y="91821"/>
                  </a:lnTo>
                  <a:lnTo>
                    <a:pt x="350520" y="79375"/>
                  </a:lnTo>
                  <a:lnTo>
                    <a:pt x="250698" y="21590"/>
                  </a:lnTo>
                  <a:lnTo>
                    <a:pt x="183896" y="4191"/>
                  </a:lnTo>
                  <a:lnTo>
                    <a:pt x="116713" y="254"/>
                  </a:lnTo>
                  <a:lnTo>
                    <a:pt x="57785" y="0"/>
                  </a:lnTo>
                  <a:lnTo>
                    <a:pt x="15875" y="1270"/>
                  </a:lnTo>
                  <a:lnTo>
                    <a:pt x="0" y="2159"/>
                  </a:lnTo>
                  <a:lnTo>
                    <a:pt x="5334" y="13716"/>
                  </a:lnTo>
                  <a:lnTo>
                    <a:pt x="27813" y="40894"/>
                  </a:lnTo>
                  <a:lnTo>
                    <a:pt x="76708" y="72263"/>
                  </a:lnTo>
                  <a:lnTo>
                    <a:pt x="161925" y="96520"/>
                  </a:lnTo>
                  <a:lnTo>
                    <a:pt x="253746" y="10528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17330812" y="1223064"/>
            <a:ext cx="229460" cy="167778"/>
          </a:xfrm>
          <a:custGeom>
            <a:avLst/>
            <a:gdLst/>
            <a:ahLst/>
            <a:cxnLst/>
            <a:rect l="l" t="t" r="r" b="b"/>
            <a:pathLst>
              <a:path w="229460" h="167778">
                <a:moveTo>
                  <a:pt x="0" y="0"/>
                </a:moveTo>
                <a:lnTo>
                  <a:pt x="229460" y="0"/>
                </a:lnTo>
                <a:lnTo>
                  <a:pt x="229460" y="167778"/>
                </a:lnTo>
                <a:lnTo>
                  <a:pt x="0" y="1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38" r="-138"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7459738" y="1340632"/>
            <a:ext cx="280670" cy="67310"/>
            <a:chOff x="0" y="0"/>
            <a:chExt cx="374227" cy="8974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4015" cy="89535"/>
            </a:xfrm>
            <a:custGeom>
              <a:avLst/>
              <a:gdLst/>
              <a:ahLst/>
              <a:cxnLst/>
              <a:rect l="l" t="t" r="r" b="b"/>
              <a:pathLst>
                <a:path w="374015" h="89535">
                  <a:moveTo>
                    <a:pt x="173990" y="89535"/>
                  </a:moveTo>
                  <a:lnTo>
                    <a:pt x="254635" y="88519"/>
                  </a:lnTo>
                  <a:lnTo>
                    <a:pt x="317881" y="80518"/>
                  </a:lnTo>
                  <a:lnTo>
                    <a:pt x="359156" y="71374"/>
                  </a:lnTo>
                  <a:lnTo>
                    <a:pt x="374015" y="67056"/>
                  </a:lnTo>
                  <a:lnTo>
                    <a:pt x="359791" y="57404"/>
                  </a:lnTo>
                  <a:lnTo>
                    <a:pt x="320421" y="35560"/>
                  </a:lnTo>
                  <a:lnTo>
                    <a:pt x="260350" y="12827"/>
                  </a:lnTo>
                  <a:lnTo>
                    <a:pt x="184277" y="0"/>
                  </a:lnTo>
                  <a:lnTo>
                    <a:pt x="109220" y="1270"/>
                  </a:lnTo>
                  <a:lnTo>
                    <a:pt x="50927" y="9652"/>
                  </a:lnTo>
                  <a:lnTo>
                    <a:pt x="13335" y="19050"/>
                  </a:lnTo>
                  <a:lnTo>
                    <a:pt x="0" y="23495"/>
                  </a:lnTo>
                  <a:lnTo>
                    <a:pt x="10795" y="33020"/>
                  </a:lnTo>
                  <a:lnTo>
                    <a:pt x="43180" y="54229"/>
                  </a:lnTo>
                  <a:lnTo>
                    <a:pt x="97409" y="76708"/>
                  </a:lnTo>
                  <a:lnTo>
                    <a:pt x="173990" y="8953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17563315" y="1080067"/>
            <a:ext cx="162610" cy="230903"/>
          </a:xfrm>
          <a:custGeom>
            <a:avLst/>
            <a:gdLst/>
            <a:ahLst/>
            <a:cxnLst/>
            <a:rect l="l" t="t" r="r" b="b"/>
            <a:pathLst>
              <a:path w="162610" h="230903">
                <a:moveTo>
                  <a:pt x="0" y="0"/>
                </a:moveTo>
                <a:lnTo>
                  <a:pt x="162610" y="0"/>
                </a:lnTo>
                <a:lnTo>
                  <a:pt x="162610" y="230903"/>
                </a:lnTo>
                <a:lnTo>
                  <a:pt x="0" y="23090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90" r="-290"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7604850" y="1252199"/>
            <a:ext cx="280670" cy="75565"/>
            <a:chOff x="0" y="0"/>
            <a:chExt cx="374227" cy="10075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3888" cy="100330"/>
            </a:xfrm>
            <a:custGeom>
              <a:avLst/>
              <a:gdLst/>
              <a:ahLst/>
              <a:cxnLst/>
              <a:rect l="l" t="t" r="r" b="b"/>
              <a:pathLst>
                <a:path w="373888" h="100330">
                  <a:moveTo>
                    <a:pt x="107188" y="100203"/>
                  </a:moveTo>
                  <a:lnTo>
                    <a:pt x="184658" y="94869"/>
                  </a:lnTo>
                  <a:lnTo>
                    <a:pt x="262763" y="75057"/>
                  </a:lnTo>
                  <a:lnTo>
                    <a:pt x="322453" y="52451"/>
                  </a:lnTo>
                  <a:lnTo>
                    <a:pt x="373888" y="26162"/>
                  </a:lnTo>
                  <a:lnTo>
                    <a:pt x="357886" y="20066"/>
                  </a:lnTo>
                  <a:lnTo>
                    <a:pt x="314325" y="8001"/>
                  </a:lnTo>
                  <a:lnTo>
                    <a:pt x="250571" y="0"/>
                  </a:lnTo>
                  <a:lnTo>
                    <a:pt x="173736" y="5334"/>
                  </a:lnTo>
                  <a:lnTo>
                    <a:pt x="100965" y="24130"/>
                  </a:lnTo>
                  <a:lnTo>
                    <a:pt x="46355" y="45847"/>
                  </a:lnTo>
                  <a:lnTo>
                    <a:pt x="11938" y="63754"/>
                  </a:lnTo>
                  <a:lnTo>
                    <a:pt x="0" y="71247"/>
                  </a:lnTo>
                  <a:lnTo>
                    <a:pt x="12700" y="77978"/>
                  </a:lnTo>
                  <a:lnTo>
                    <a:pt x="49149" y="91186"/>
                  </a:lnTo>
                  <a:lnTo>
                    <a:pt x="107188" y="100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6" name="Freeform 26"/>
          <p:cNvSpPr/>
          <p:nvPr/>
        </p:nvSpPr>
        <p:spPr>
          <a:xfrm>
            <a:off x="17679041" y="1105987"/>
            <a:ext cx="245478" cy="140612"/>
          </a:xfrm>
          <a:custGeom>
            <a:avLst/>
            <a:gdLst/>
            <a:ahLst/>
            <a:cxnLst/>
            <a:rect l="l" t="t" r="r" b="b"/>
            <a:pathLst>
              <a:path w="245478" h="140612">
                <a:moveTo>
                  <a:pt x="0" y="0"/>
                </a:moveTo>
                <a:lnTo>
                  <a:pt x="245478" y="0"/>
                </a:lnTo>
                <a:lnTo>
                  <a:pt x="245478" y="140612"/>
                </a:lnTo>
                <a:lnTo>
                  <a:pt x="0" y="14061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359" b="-359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621199" y="339330"/>
            <a:ext cx="390525" cy="803275"/>
          </a:xfrm>
          <a:custGeom>
            <a:avLst/>
            <a:gdLst/>
            <a:ahLst/>
            <a:cxnLst/>
            <a:rect l="l" t="t" r="r" b="b"/>
            <a:pathLst>
              <a:path w="390525" h="803275">
                <a:moveTo>
                  <a:pt x="0" y="0"/>
                </a:moveTo>
                <a:lnTo>
                  <a:pt x="390525" y="0"/>
                </a:lnTo>
                <a:lnTo>
                  <a:pt x="390525" y="803275"/>
                </a:lnTo>
                <a:lnTo>
                  <a:pt x="0" y="80327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7321684" y="1423928"/>
            <a:ext cx="112071" cy="126802"/>
          </a:xfrm>
          <a:custGeom>
            <a:avLst/>
            <a:gdLst/>
            <a:ahLst/>
            <a:cxnLst/>
            <a:rect l="l" t="t" r="r" b="b"/>
            <a:pathLst>
              <a:path w="112071" h="126802">
                <a:moveTo>
                  <a:pt x="0" y="0"/>
                </a:moveTo>
                <a:lnTo>
                  <a:pt x="112071" y="0"/>
                </a:lnTo>
                <a:lnTo>
                  <a:pt x="112071" y="126802"/>
                </a:lnTo>
                <a:lnTo>
                  <a:pt x="0" y="12680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2220" r="-2220"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16474160" y="744181"/>
            <a:ext cx="38100" cy="307340"/>
            <a:chOff x="0" y="0"/>
            <a:chExt cx="50800" cy="409787"/>
          </a:xfrm>
        </p:grpSpPr>
        <p:sp>
          <p:nvSpPr>
            <p:cNvPr id="30" name="Freeform 30"/>
            <p:cNvSpPr/>
            <p:nvPr/>
          </p:nvSpPr>
          <p:spPr>
            <a:xfrm>
              <a:off x="0" y="367665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9144" y="0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2" name="Freeform 32"/>
          <p:cNvSpPr/>
          <p:nvPr/>
        </p:nvSpPr>
        <p:spPr>
          <a:xfrm>
            <a:off x="16947701" y="1390593"/>
            <a:ext cx="135917" cy="134319"/>
          </a:xfrm>
          <a:custGeom>
            <a:avLst/>
            <a:gdLst/>
            <a:ahLst/>
            <a:cxnLst/>
            <a:rect l="l" t="t" r="r" b="b"/>
            <a:pathLst>
              <a:path w="135917" h="134319">
                <a:moveTo>
                  <a:pt x="0" y="0"/>
                </a:moveTo>
                <a:lnTo>
                  <a:pt x="135917" y="0"/>
                </a:lnTo>
                <a:lnTo>
                  <a:pt x="135917" y="134319"/>
                </a:lnTo>
                <a:lnTo>
                  <a:pt x="0" y="13431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t="-594" b="-594"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16209922" y="1570445"/>
            <a:ext cx="1592580" cy="157480"/>
            <a:chOff x="0" y="0"/>
            <a:chExt cx="2123440" cy="20997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23440" cy="209973"/>
            </a:xfrm>
            <a:custGeom>
              <a:avLst/>
              <a:gdLst/>
              <a:ahLst/>
              <a:cxnLst/>
              <a:rect l="l" t="t" r="r" b="b"/>
              <a:pathLst>
                <a:path w="2123440" h="209973">
                  <a:moveTo>
                    <a:pt x="0" y="0"/>
                  </a:moveTo>
                  <a:lnTo>
                    <a:pt x="2123440" y="0"/>
                  </a:lnTo>
                  <a:lnTo>
                    <a:pt x="2123440" y="209973"/>
                  </a:lnTo>
                  <a:lnTo>
                    <a:pt x="0" y="209973"/>
                  </a:lnTo>
                  <a:close/>
                </a:path>
              </a:pathLst>
            </a:custGeom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2123440" cy="2194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1020"/>
                </a:lnSpc>
              </a:pPr>
              <a:r>
                <a:rPr lang="en-US" sz="850" b="1" spc="-55">
                  <a:solidFill>
                    <a:srgbClr val="FFFFFF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Forum Of Data Science Engineers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16000" y="276291"/>
            <a:ext cx="11351260" cy="926973"/>
            <a:chOff x="0" y="0"/>
            <a:chExt cx="15135013" cy="123596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135014" cy="1235964"/>
            </a:xfrm>
            <a:custGeom>
              <a:avLst/>
              <a:gdLst/>
              <a:ahLst/>
              <a:cxnLst/>
              <a:rect l="l" t="t" r="r" b="b"/>
              <a:pathLst>
                <a:path w="15135014" h="1235964">
                  <a:moveTo>
                    <a:pt x="0" y="0"/>
                  </a:moveTo>
                  <a:lnTo>
                    <a:pt x="15135014" y="0"/>
                  </a:lnTo>
                  <a:lnTo>
                    <a:pt x="15135014" y="1235964"/>
                  </a:lnTo>
                  <a:lnTo>
                    <a:pt x="0" y="1235964"/>
                  </a:lnTo>
                  <a:close/>
                </a:path>
              </a:pathLst>
            </a:custGeom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5135013" cy="12454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120"/>
                </a:lnSpc>
              </a:pPr>
              <a:r>
                <a:rPr lang="en-US" sz="5100" b="1" spc="125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TECHNICAL REQUIREMENTS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13399418" y="8565193"/>
            <a:ext cx="4888580" cy="1721806"/>
          </a:xfrm>
          <a:custGeom>
            <a:avLst/>
            <a:gdLst/>
            <a:ahLst/>
            <a:cxnLst/>
            <a:rect l="l" t="t" r="r" b="b"/>
            <a:pathLst>
              <a:path w="4888580" h="1721806">
                <a:moveTo>
                  <a:pt x="0" y="0"/>
                </a:moveTo>
                <a:lnTo>
                  <a:pt x="4888580" y="0"/>
                </a:lnTo>
                <a:lnTo>
                  <a:pt x="4888580" y="1721806"/>
                </a:lnTo>
                <a:lnTo>
                  <a:pt x="0" y="172180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0" name="TextBox 39"/>
          <p:cNvSpPr txBox="1"/>
          <p:nvPr/>
        </p:nvSpPr>
        <p:spPr>
          <a:xfrm>
            <a:off x="1005840" y="1325880"/>
            <a:ext cx="1481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Times New Roman" panose="02020603050405020304"/>
              </a:rPr>
              <a:t>Complete Technology Stack — Open Source, Zero-Budget, Production-Grade</a:t>
            </a:r>
          </a:p>
        </p:txBody>
      </p:sp>
      <p:pic>
        <p:nvPicPr>
          <p:cNvPr id="41" name="Picture 40" descr="tech_stac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1520" y="1874519"/>
            <a:ext cx="15910559" cy="448056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28700" y="6173611"/>
            <a:ext cx="14991156" cy="2333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0E5FF"/>
                </a:solidFill>
                <a:latin typeface="Times New Roman" panose="02020603050405020304"/>
              </a:rPr>
              <a:t>Advanced Engineering Depth</a:t>
            </a:r>
          </a:p>
          <a:p>
            <a:pPr algn="l">
              <a:spcBef>
                <a:spcPts val="200"/>
              </a:spcBef>
            </a:pPr>
            <a:endParaRPr b="1" dirty="0">
              <a:solidFill>
                <a:srgbClr val="00E5FF"/>
              </a:solidFill>
              <a:latin typeface="Times New Roman" panose="02020603050405020304"/>
            </a:endParaRPr>
          </a:p>
          <a:p>
            <a:pPr algn="l"/>
            <a:r>
              <a:rPr b="0" dirty="0">
                <a:solidFill>
                  <a:srgbClr val="FFFFFF"/>
                </a:solidFill>
                <a:latin typeface="Times New Roman" panose="02020603050405020304"/>
              </a:rPr>
              <a:t>■  Async OSINT Pipeline: Sherlock runs as a non-blocking async task. Results stream</a:t>
            </a:r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 live to frontend via WebSocket as each node is discovered.</a:t>
            </a:r>
          </a:p>
          <a:p>
            <a:pPr algn="l"/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■  ML Model: scikit-learn </a:t>
            </a:r>
            <a:r>
              <a:rPr b="1" dirty="0" err="1">
                <a:solidFill>
                  <a:srgbClr val="FFFFFF"/>
                </a:solidFill>
                <a:latin typeface="Times New Roman" panose="02020603050405020304"/>
              </a:rPr>
              <a:t>RandomForest</a:t>
            </a:r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 Classifier trained on Kaggle breach datasets. Features: </a:t>
            </a:r>
            <a:r>
              <a:rPr b="1" dirty="0" err="1">
                <a:solidFill>
                  <a:srgbClr val="FFFFFF"/>
                </a:solidFill>
                <a:latin typeface="Times New Roman" panose="02020603050405020304"/>
              </a:rPr>
              <a:t>breach_type</a:t>
            </a:r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, </a:t>
            </a:r>
            <a:r>
              <a:rPr b="1" dirty="0" err="1">
                <a:solidFill>
                  <a:srgbClr val="FFFFFF"/>
                </a:solidFill>
                <a:latin typeface="Times New Roman" panose="02020603050405020304"/>
              </a:rPr>
              <a:t>data_class</a:t>
            </a:r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, </a:t>
            </a:r>
            <a:r>
              <a:rPr b="1" dirty="0" err="1">
                <a:solidFill>
                  <a:srgbClr val="FFFFFF"/>
                </a:solidFill>
                <a:latin typeface="Times New Roman" panose="02020603050405020304"/>
              </a:rPr>
              <a:t>platform_category</a:t>
            </a:r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,</a:t>
            </a:r>
          </a:p>
          <a:p>
            <a:pPr algn="l"/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    </a:t>
            </a:r>
            <a:r>
              <a:rPr b="1" dirty="0" err="1">
                <a:solidFill>
                  <a:srgbClr val="FFFFFF"/>
                </a:solidFill>
                <a:latin typeface="Times New Roman" panose="02020603050405020304"/>
              </a:rPr>
              <a:t>exposure_date</a:t>
            </a:r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. Output labels: </a:t>
            </a:r>
            <a:r>
              <a:rPr b="1" dirty="0" err="1">
                <a:solidFill>
                  <a:srgbClr val="FFFFFF"/>
                </a:solidFill>
                <a:latin typeface="Times New Roman" panose="02020603050405020304"/>
              </a:rPr>
              <a:t>spear_phishing</a:t>
            </a:r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, </a:t>
            </a:r>
            <a:r>
              <a:rPr b="1" dirty="0" err="1">
                <a:solidFill>
                  <a:srgbClr val="FFFFFF"/>
                </a:solidFill>
                <a:latin typeface="Times New Roman" panose="02020603050405020304"/>
              </a:rPr>
              <a:t>credential_stuffing</a:t>
            </a:r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, </a:t>
            </a:r>
            <a:r>
              <a:rPr b="1" dirty="0" err="1">
                <a:solidFill>
                  <a:srgbClr val="FFFFFF"/>
                </a:solidFill>
                <a:latin typeface="Times New Roman" panose="02020603050405020304"/>
              </a:rPr>
              <a:t>sim_swap</a:t>
            </a:r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, </a:t>
            </a:r>
            <a:r>
              <a:rPr b="1" dirty="0" err="1">
                <a:solidFill>
                  <a:srgbClr val="FFFFFF"/>
                </a:solidFill>
                <a:latin typeface="Times New Roman" panose="02020603050405020304"/>
              </a:rPr>
              <a:t>api_key_harvest</a:t>
            </a:r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. Model accuracy: ~87% on test split.</a:t>
            </a:r>
          </a:p>
          <a:p>
            <a:pPr algn="l"/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■  Graph Core: </a:t>
            </a:r>
            <a:r>
              <a:rPr b="1" dirty="0" err="1">
                <a:solidFill>
                  <a:srgbClr val="FFFFFF"/>
                </a:solidFill>
                <a:latin typeface="Times New Roman" panose="02020603050405020304"/>
              </a:rPr>
              <a:t>NetworkX</a:t>
            </a:r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 computes Betweenness Centrality (hub identification), Shortest Path (attack route), Degree Centrality (most connected node).</a:t>
            </a:r>
          </a:p>
          <a:p>
            <a:pPr algn="l"/>
            <a:r>
              <a:rPr b="1" dirty="0">
                <a:solidFill>
                  <a:srgbClr val="FFFFFF"/>
                </a:solidFill>
                <a:latin typeface="Times New Roman" panose="02020603050405020304"/>
              </a:rPr>
              <a:t>■  Scalability: Prototype is synchronous. Production uses Celery + Redis worker queues — horizontally scalable to 10,000+ concurrent scans.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765" r="-8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9013461"/>
            <a:ext cx="1847849" cy="962024"/>
          </a:xfrm>
          <a:custGeom>
            <a:avLst/>
            <a:gdLst/>
            <a:ahLst/>
            <a:cxnLst/>
            <a:rect l="l" t="t" r="r" b="b"/>
            <a:pathLst>
              <a:path w="1847849" h="962024">
                <a:moveTo>
                  <a:pt x="0" y="0"/>
                </a:moveTo>
                <a:lnTo>
                  <a:pt x="1847849" y="0"/>
                </a:lnTo>
                <a:lnTo>
                  <a:pt x="1847849" y="962024"/>
                </a:lnTo>
                <a:lnTo>
                  <a:pt x="0" y="962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7" b="-107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423285" y="1390609"/>
            <a:ext cx="275590" cy="78740"/>
            <a:chOff x="0" y="0"/>
            <a:chExt cx="367453" cy="1049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776" cy="104394"/>
            </a:xfrm>
            <a:custGeom>
              <a:avLst/>
              <a:gdLst/>
              <a:ahLst/>
              <a:cxnLst/>
              <a:rect l="l" t="t" r="r" b="b"/>
              <a:pathLst>
                <a:path w="366776" h="104394">
                  <a:moveTo>
                    <a:pt x="112522" y="104267"/>
                  </a:moveTo>
                  <a:lnTo>
                    <a:pt x="48895" y="101346"/>
                  </a:lnTo>
                  <a:lnTo>
                    <a:pt x="11938" y="94234"/>
                  </a:lnTo>
                  <a:lnTo>
                    <a:pt x="0" y="90297"/>
                  </a:lnTo>
                  <a:lnTo>
                    <a:pt x="15748" y="77851"/>
                  </a:lnTo>
                  <a:lnTo>
                    <a:pt x="57277" y="49911"/>
                  </a:lnTo>
                  <a:lnTo>
                    <a:pt x="115824" y="20447"/>
                  </a:lnTo>
                  <a:lnTo>
                    <a:pt x="182880" y="3556"/>
                  </a:lnTo>
                  <a:lnTo>
                    <a:pt x="250063" y="0"/>
                  </a:lnTo>
                  <a:lnTo>
                    <a:pt x="308991" y="0"/>
                  </a:lnTo>
                  <a:lnTo>
                    <a:pt x="350774" y="1524"/>
                  </a:lnTo>
                  <a:lnTo>
                    <a:pt x="366776" y="2540"/>
                  </a:lnTo>
                  <a:lnTo>
                    <a:pt x="361315" y="14097"/>
                  </a:lnTo>
                  <a:lnTo>
                    <a:pt x="338836" y="41148"/>
                  </a:lnTo>
                  <a:lnTo>
                    <a:pt x="289560" y="72136"/>
                  </a:lnTo>
                  <a:lnTo>
                    <a:pt x="204343" y="96012"/>
                  </a:lnTo>
                  <a:lnTo>
                    <a:pt x="112522" y="1043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6469713" y="1223585"/>
            <a:ext cx="228624" cy="168915"/>
          </a:xfrm>
          <a:custGeom>
            <a:avLst/>
            <a:gdLst/>
            <a:ahLst/>
            <a:cxnLst/>
            <a:rect l="l" t="t" r="r" b="b"/>
            <a:pathLst>
              <a:path w="228624" h="168915">
                <a:moveTo>
                  <a:pt x="0" y="0"/>
                </a:moveTo>
                <a:lnTo>
                  <a:pt x="228624" y="0"/>
                </a:lnTo>
                <a:lnTo>
                  <a:pt x="228624" y="168915"/>
                </a:lnTo>
                <a:lnTo>
                  <a:pt x="0" y="1689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62" r="-662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288898" y="1340965"/>
            <a:ext cx="281305" cy="67310"/>
            <a:chOff x="0" y="0"/>
            <a:chExt cx="375073" cy="897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4269" cy="89662"/>
            </a:xfrm>
            <a:custGeom>
              <a:avLst/>
              <a:gdLst/>
              <a:ahLst/>
              <a:cxnLst/>
              <a:rect l="l" t="t" r="r" b="b"/>
              <a:pathLst>
                <a:path w="374269" h="89662">
                  <a:moveTo>
                    <a:pt x="199898" y="89662"/>
                  </a:moveTo>
                  <a:lnTo>
                    <a:pt x="119253" y="88265"/>
                  </a:lnTo>
                  <a:lnTo>
                    <a:pt x="56007" y="79883"/>
                  </a:lnTo>
                  <a:lnTo>
                    <a:pt x="14732" y="70485"/>
                  </a:lnTo>
                  <a:lnTo>
                    <a:pt x="0" y="66040"/>
                  </a:lnTo>
                  <a:lnTo>
                    <a:pt x="14224" y="56388"/>
                  </a:lnTo>
                  <a:lnTo>
                    <a:pt x="53848" y="34925"/>
                  </a:lnTo>
                  <a:lnTo>
                    <a:pt x="113919" y="12446"/>
                  </a:lnTo>
                  <a:lnTo>
                    <a:pt x="189992" y="0"/>
                  </a:lnTo>
                  <a:lnTo>
                    <a:pt x="265176" y="1651"/>
                  </a:lnTo>
                  <a:lnTo>
                    <a:pt x="323342" y="10287"/>
                  </a:lnTo>
                  <a:lnTo>
                    <a:pt x="360934" y="19812"/>
                  </a:lnTo>
                  <a:lnTo>
                    <a:pt x="374269" y="24384"/>
                  </a:lnTo>
                  <a:lnTo>
                    <a:pt x="363474" y="33782"/>
                  </a:lnTo>
                  <a:lnTo>
                    <a:pt x="330962" y="54991"/>
                  </a:lnTo>
                  <a:lnTo>
                    <a:pt x="276479" y="77216"/>
                  </a:lnTo>
                  <a:lnTo>
                    <a:pt x="199898" y="896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6304772" y="1079767"/>
            <a:ext cx="161462" cy="231707"/>
          </a:xfrm>
          <a:custGeom>
            <a:avLst/>
            <a:gdLst/>
            <a:ahLst/>
            <a:cxnLst/>
            <a:rect l="l" t="t" r="r" b="b"/>
            <a:pathLst>
              <a:path w="161462" h="231707">
                <a:moveTo>
                  <a:pt x="0" y="0"/>
                </a:moveTo>
                <a:lnTo>
                  <a:pt x="161462" y="0"/>
                </a:lnTo>
                <a:lnTo>
                  <a:pt x="161462" y="231707"/>
                </a:lnTo>
                <a:lnTo>
                  <a:pt x="0" y="2317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79" b="-679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6144541" y="1251566"/>
            <a:ext cx="280670" cy="76200"/>
            <a:chOff x="0" y="0"/>
            <a:chExt cx="374227" cy="10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3507" cy="100965"/>
            </a:xfrm>
            <a:custGeom>
              <a:avLst/>
              <a:gdLst/>
              <a:ahLst/>
              <a:cxnLst/>
              <a:rect l="l" t="t" r="r" b="b"/>
              <a:pathLst>
                <a:path w="373507" h="100965">
                  <a:moveTo>
                    <a:pt x="266192" y="100965"/>
                  </a:moveTo>
                  <a:lnTo>
                    <a:pt x="188849" y="95123"/>
                  </a:lnTo>
                  <a:lnTo>
                    <a:pt x="110744" y="74930"/>
                  </a:lnTo>
                  <a:lnTo>
                    <a:pt x="51308" y="51943"/>
                  </a:lnTo>
                  <a:lnTo>
                    <a:pt x="0" y="25400"/>
                  </a:lnTo>
                  <a:lnTo>
                    <a:pt x="16129" y="19431"/>
                  </a:lnTo>
                  <a:lnTo>
                    <a:pt x="59563" y="7747"/>
                  </a:lnTo>
                  <a:lnTo>
                    <a:pt x="123317" y="0"/>
                  </a:lnTo>
                  <a:lnTo>
                    <a:pt x="200152" y="5715"/>
                  </a:lnTo>
                  <a:lnTo>
                    <a:pt x="272796" y="24892"/>
                  </a:lnTo>
                  <a:lnTo>
                    <a:pt x="327279" y="46863"/>
                  </a:lnTo>
                  <a:lnTo>
                    <a:pt x="361569" y="65024"/>
                  </a:lnTo>
                  <a:lnTo>
                    <a:pt x="373507" y="72517"/>
                  </a:lnTo>
                  <a:lnTo>
                    <a:pt x="360807" y="79121"/>
                  </a:lnTo>
                  <a:lnTo>
                    <a:pt x="324231" y="92075"/>
                  </a:lnTo>
                  <a:lnTo>
                    <a:pt x="266065" y="10096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6106052" y="1104701"/>
            <a:ext cx="244782" cy="141776"/>
          </a:xfrm>
          <a:custGeom>
            <a:avLst/>
            <a:gdLst/>
            <a:ahLst/>
            <a:cxnLst/>
            <a:rect l="l" t="t" r="r" b="b"/>
            <a:pathLst>
              <a:path w="244782" h="141776">
                <a:moveTo>
                  <a:pt x="0" y="0"/>
                </a:moveTo>
                <a:lnTo>
                  <a:pt x="244782" y="0"/>
                </a:lnTo>
                <a:lnTo>
                  <a:pt x="244782" y="141776"/>
                </a:lnTo>
                <a:lnTo>
                  <a:pt x="0" y="1417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780" b="-78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019856" y="339559"/>
            <a:ext cx="393700" cy="802640"/>
          </a:xfrm>
          <a:custGeom>
            <a:avLst/>
            <a:gdLst/>
            <a:ahLst/>
            <a:cxnLst/>
            <a:rect l="l" t="t" r="r" b="b"/>
            <a:pathLst>
              <a:path w="393700" h="802640">
                <a:moveTo>
                  <a:pt x="0" y="0"/>
                </a:moveTo>
                <a:lnTo>
                  <a:pt x="393700" y="0"/>
                </a:lnTo>
                <a:lnTo>
                  <a:pt x="393700" y="802640"/>
                </a:lnTo>
                <a:lnTo>
                  <a:pt x="0" y="8026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594649" y="1425631"/>
            <a:ext cx="112653" cy="126308"/>
          </a:xfrm>
          <a:custGeom>
            <a:avLst/>
            <a:gdLst/>
            <a:ahLst/>
            <a:cxnLst/>
            <a:rect l="l" t="t" r="r" b="b"/>
            <a:pathLst>
              <a:path w="112653" h="126308">
                <a:moveTo>
                  <a:pt x="0" y="0"/>
                </a:moveTo>
                <a:lnTo>
                  <a:pt x="112653" y="0"/>
                </a:lnTo>
                <a:lnTo>
                  <a:pt x="112653" y="126308"/>
                </a:lnTo>
                <a:lnTo>
                  <a:pt x="0" y="1263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68" b="-168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480534" y="758952"/>
            <a:ext cx="259079" cy="414527"/>
          </a:xfrm>
          <a:custGeom>
            <a:avLst/>
            <a:gdLst/>
            <a:ahLst/>
            <a:cxnLst/>
            <a:rect l="l" t="t" r="r" b="b"/>
            <a:pathLst>
              <a:path w="259079" h="414527">
                <a:moveTo>
                  <a:pt x="0" y="0"/>
                </a:moveTo>
                <a:lnTo>
                  <a:pt x="259079" y="0"/>
                </a:lnTo>
                <a:lnTo>
                  <a:pt x="259079" y="414527"/>
                </a:lnTo>
                <a:lnTo>
                  <a:pt x="0" y="4145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424389" y="792619"/>
            <a:ext cx="151765" cy="323850"/>
          </a:xfrm>
          <a:custGeom>
            <a:avLst/>
            <a:gdLst/>
            <a:ahLst/>
            <a:cxnLst/>
            <a:rect l="l" t="t" r="r" b="b"/>
            <a:pathLst>
              <a:path w="151765" h="323850">
                <a:moveTo>
                  <a:pt x="0" y="0"/>
                </a:moveTo>
                <a:lnTo>
                  <a:pt x="151765" y="0"/>
                </a:lnTo>
                <a:lnTo>
                  <a:pt x="151765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669510" y="755904"/>
            <a:ext cx="999743" cy="384047"/>
          </a:xfrm>
          <a:custGeom>
            <a:avLst/>
            <a:gdLst/>
            <a:ahLst/>
            <a:cxnLst/>
            <a:rect l="l" t="t" r="r" b="b"/>
            <a:pathLst>
              <a:path w="999743" h="384047">
                <a:moveTo>
                  <a:pt x="0" y="0"/>
                </a:moveTo>
                <a:lnTo>
                  <a:pt x="999743" y="0"/>
                </a:lnTo>
                <a:lnTo>
                  <a:pt x="999743" y="384047"/>
                </a:lnTo>
                <a:lnTo>
                  <a:pt x="0" y="3840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7330812" y="1389182"/>
            <a:ext cx="274955" cy="79375"/>
            <a:chOff x="0" y="0"/>
            <a:chExt cx="366607" cy="1058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6268" cy="105283"/>
            </a:xfrm>
            <a:custGeom>
              <a:avLst/>
              <a:gdLst/>
              <a:ahLst/>
              <a:cxnLst/>
              <a:rect l="l" t="t" r="r" b="b"/>
              <a:pathLst>
                <a:path w="366268" h="105283">
                  <a:moveTo>
                    <a:pt x="253746" y="105283"/>
                  </a:moveTo>
                  <a:lnTo>
                    <a:pt x="317373" y="102616"/>
                  </a:lnTo>
                  <a:lnTo>
                    <a:pt x="354330" y="95758"/>
                  </a:lnTo>
                  <a:lnTo>
                    <a:pt x="366268" y="91821"/>
                  </a:lnTo>
                  <a:lnTo>
                    <a:pt x="350520" y="79375"/>
                  </a:lnTo>
                  <a:lnTo>
                    <a:pt x="250698" y="21590"/>
                  </a:lnTo>
                  <a:lnTo>
                    <a:pt x="183896" y="4191"/>
                  </a:lnTo>
                  <a:lnTo>
                    <a:pt x="116713" y="254"/>
                  </a:lnTo>
                  <a:lnTo>
                    <a:pt x="57785" y="0"/>
                  </a:lnTo>
                  <a:lnTo>
                    <a:pt x="15875" y="1270"/>
                  </a:lnTo>
                  <a:lnTo>
                    <a:pt x="0" y="2159"/>
                  </a:lnTo>
                  <a:lnTo>
                    <a:pt x="5334" y="13716"/>
                  </a:lnTo>
                  <a:lnTo>
                    <a:pt x="27813" y="40894"/>
                  </a:lnTo>
                  <a:lnTo>
                    <a:pt x="76708" y="72263"/>
                  </a:lnTo>
                  <a:lnTo>
                    <a:pt x="161925" y="96520"/>
                  </a:lnTo>
                  <a:lnTo>
                    <a:pt x="253746" y="10528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17330812" y="1223064"/>
            <a:ext cx="229460" cy="167778"/>
          </a:xfrm>
          <a:custGeom>
            <a:avLst/>
            <a:gdLst/>
            <a:ahLst/>
            <a:cxnLst/>
            <a:rect l="l" t="t" r="r" b="b"/>
            <a:pathLst>
              <a:path w="229460" h="167778">
                <a:moveTo>
                  <a:pt x="0" y="0"/>
                </a:moveTo>
                <a:lnTo>
                  <a:pt x="229460" y="0"/>
                </a:lnTo>
                <a:lnTo>
                  <a:pt x="229460" y="167778"/>
                </a:lnTo>
                <a:lnTo>
                  <a:pt x="0" y="1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38" r="-138"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7459738" y="1340632"/>
            <a:ext cx="280670" cy="67310"/>
            <a:chOff x="0" y="0"/>
            <a:chExt cx="374227" cy="8974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4015" cy="89535"/>
            </a:xfrm>
            <a:custGeom>
              <a:avLst/>
              <a:gdLst/>
              <a:ahLst/>
              <a:cxnLst/>
              <a:rect l="l" t="t" r="r" b="b"/>
              <a:pathLst>
                <a:path w="374015" h="89535">
                  <a:moveTo>
                    <a:pt x="173990" y="89535"/>
                  </a:moveTo>
                  <a:lnTo>
                    <a:pt x="254635" y="88519"/>
                  </a:lnTo>
                  <a:lnTo>
                    <a:pt x="317881" y="80518"/>
                  </a:lnTo>
                  <a:lnTo>
                    <a:pt x="359156" y="71374"/>
                  </a:lnTo>
                  <a:lnTo>
                    <a:pt x="374015" y="67056"/>
                  </a:lnTo>
                  <a:lnTo>
                    <a:pt x="359791" y="57404"/>
                  </a:lnTo>
                  <a:lnTo>
                    <a:pt x="320421" y="35560"/>
                  </a:lnTo>
                  <a:lnTo>
                    <a:pt x="260350" y="12827"/>
                  </a:lnTo>
                  <a:lnTo>
                    <a:pt x="184277" y="0"/>
                  </a:lnTo>
                  <a:lnTo>
                    <a:pt x="109220" y="1270"/>
                  </a:lnTo>
                  <a:lnTo>
                    <a:pt x="50927" y="9652"/>
                  </a:lnTo>
                  <a:lnTo>
                    <a:pt x="13335" y="19050"/>
                  </a:lnTo>
                  <a:lnTo>
                    <a:pt x="0" y="23495"/>
                  </a:lnTo>
                  <a:lnTo>
                    <a:pt x="10795" y="33020"/>
                  </a:lnTo>
                  <a:lnTo>
                    <a:pt x="43180" y="54229"/>
                  </a:lnTo>
                  <a:lnTo>
                    <a:pt x="97409" y="76708"/>
                  </a:lnTo>
                  <a:lnTo>
                    <a:pt x="173990" y="8953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17563315" y="1080067"/>
            <a:ext cx="162610" cy="230903"/>
          </a:xfrm>
          <a:custGeom>
            <a:avLst/>
            <a:gdLst/>
            <a:ahLst/>
            <a:cxnLst/>
            <a:rect l="l" t="t" r="r" b="b"/>
            <a:pathLst>
              <a:path w="162610" h="230903">
                <a:moveTo>
                  <a:pt x="0" y="0"/>
                </a:moveTo>
                <a:lnTo>
                  <a:pt x="162610" y="0"/>
                </a:lnTo>
                <a:lnTo>
                  <a:pt x="162610" y="230903"/>
                </a:lnTo>
                <a:lnTo>
                  <a:pt x="0" y="23090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90" r="-290"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7604850" y="1252199"/>
            <a:ext cx="280670" cy="75565"/>
            <a:chOff x="0" y="0"/>
            <a:chExt cx="374227" cy="10075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3888" cy="100330"/>
            </a:xfrm>
            <a:custGeom>
              <a:avLst/>
              <a:gdLst/>
              <a:ahLst/>
              <a:cxnLst/>
              <a:rect l="l" t="t" r="r" b="b"/>
              <a:pathLst>
                <a:path w="373888" h="100330">
                  <a:moveTo>
                    <a:pt x="107188" y="100203"/>
                  </a:moveTo>
                  <a:lnTo>
                    <a:pt x="184658" y="94869"/>
                  </a:lnTo>
                  <a:lnTo>
                    <a:pt x="262763" y="75057"/>
                  </a:lnTo>
                  <a:lnTo>
                    <a:pt x="322453" y="52451"/>
                  </a:lnTo>
                  <a:lnTo>
                    <a:pt x="373888" y="26162"/>
                  </a:lnTo>
                  <a:lnTo>
                    <a:pt x="357886" y="20066"/>
                  </a:lnTo>
                  <a:lnTo>
                    <a:pt x="314325" y="8001"/>
                  </a:lnTo>
                  <a:lnTo>
                    <a:pt x="250571" y="0"/>
                  </a:lnTo>
                  <a:lnTo>
                    <a:pt x="173736" y="5334"/>
                  </a:lnTo>
                  <a:lnTo>
                    <a:pt x="100965" y="24130"/>
                  </a:lnTo>
                  <a:lnTo>
                    <a:pt x="46355" y="45847"/>
                  </a:lnTo>
                  <a:lnTo>
                    <a:pt x="11938" y="63754"/>
                  </a:lnTo>
                  <a:lnTo>
                    <a:pt x="0" y="71247"/>
                  </a:lnTo>
                  <a:lnTo>
                    <a:pt x="12700" y="77978"/>
                  </a:lnTo>
                  <a:lnTo>
                    <a:pt x="49149" y="91186"/>
                  </a:lnTo>
                  <a:lnTo>
                    <a:pt x="107188" y="100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6" name="Freeform 26"/>
          <p:cNvSpPr/>
          <p:nvPr/>
        </p:nvSpPr>
        <p:spPr>
          <a:xfrm>
            <a:off x="17679041" y="1105987"/>
            <a:ext cx="245478" cy="140612"/>
          </a:xfrm>
          <a:custGeom>
            <a:avLst/>
            <a:gdLst/>
            <a:ahLst/>
            <a:cxnLst/>
            <a:rect l="l" t="t" r="r" b="b"/>
            <a:pathLst>
              <a:path w="245478" h="140612">
                <a:moveTo>
                  <a:pt x="0" y="0"/>
                </a:moveTo>
                <a:lnTo>
                  <a:pt x="245478" y="0"/>
                </a:lnTo>
                <a:lnTo>
                  <a:pt x="245478" y="140612"/>
                </a:lnTo>
                <a:lnTo>
                  <a:pt x="0" y="14061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359" b="-359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621199" y="339330"/>
            <a:ext cx="390525" cy="803275"/>
          </a:xfrm>
          <a:custGeom>
            <a:avLst/>
            <a:gdLst/>
            <a:ahLst/>
            <a:cxnLst/>
            <a:rect l="l" t="t" r="r" b="b"/>
            <a:pathLst>
              <a:path w="390525" h="803275">
                <a:moveTo>
                  <a:pt x="0" y="0"/>
                </a:moveTo>
                <a:lnTo>
                  <a:pt x="390525" y="0"/>
                </a:lnTo>
                <a:lnTo>
                  <a:pt x="390525" y="803275"/>
                </a:lnTo>
                <a:lnTo>
                  <a:pt x="0" y="80327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7321684" y="1423928"/>
            <a:ext cx="112071" cy="126802"/>
          </a:xfrm>
          <a:custGeom>
            <a:avLst/>
            <a:gdLst/>
            <a:ahLst/>
            <a:cxnLst/>
            <a:rect l="l" t="t" r="r" b="b"/>
            <a:pathLst>
              <a:path w="112071" h="126802">
                <a:moveTo>
                  <a:pt x="0" y="0"/>
                </a:moveTo>
                <a:lnTo>
                  <a:pt x="112071" y="0"/>
                </a:lnTo>
                <a:lnTo>
                  <a:pt x="112071" y="126802"/>
                </a:lnTo>
                <a:lnTo>
                  <a:pt x="0" y="12680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2220" r="-2220"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16474160" y="744181"/>
            <a:ext cx="38100" cy="307340"/>
            <a:chOff x="0" y="0"/>
            <a:chExt cx="50800" cy="409787"/>
          </a:xfrm>
        </p:grpSpPr>
        <p:sp>
          <p:nvSpPr>
            <p:cNvPr id="30" name="Freeform 30"/>
            <p:cNvSpPr/>
            <p:nvPr/>
          </p:nvSpPr>
          <p:spPr>
            <a:xfrm>
              <a:off x="0" y="367665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9144" y="0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2" name="Freeform 32"/>
          <p:cNvSpPr/>
          <p:nvPr/>
        </p:nvSpPr>
        <p:spPr>
          <a:xfrm>
            <a:off x="16947701" y="1390593"/>
            <a:ext cx="135917" cy="134319"/>
          </a:xfrm>
          <a:custGeom>
            <a:avLst/>
            <a:gdLst/>
            <a:ahLst/>
            <a:cxnLst/>
            <a:rect l="l" t="t" r="r" b="b"/>
            <a:pathLst>
              <a:path w="135917" h="134319">
                <a:moveTo>
                  <a:pt x="0" y="0"/>
                </a:moveTo>
                <a:lnTo>
                  <a:pt x="135917" y="0"/>
                </a:lnTo>
                <a:lnTo>
                  <a:pt x="135917" y="134319"/>
                </a:lnTo>
                <a:lnTo>
                  <a:pt x="0" y="13431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t="-594" b="-594"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16209922" y="1570445"/>
            <a:ext cx="1592580" cy="157480"/>
            <a:chOff x="0" y="0"/>
            <a:chExt cx="2123440" cy="20997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23440" cy="209973"/>
            </a:xfrm>
            <a:custGeom>
              <a:avLst/>
              <a:gdLst/>
              <a:ahLst/>
              <a:cxnLst/>
              <a:rect l="l" t="t" r="r" b="b"/>
              <a:pathLst>
                <a:path w="2123440" h="209973">
                  <a:moveTo>
                    <a:pt x="0" y="0"/>
                  </a:moveTo>
                  <a:lnTo>
                    <a:pt x="2123440" y="0"/>
                  </a:lnTo>
                  <a:lnTo>
                    <a:pt x="2123440" y="209973"/>
                  </a:lnTo>
                  <a:lnTo>
                    <a:pt x="0" y="209973"/>
                  </a:lnTo>
                  <a:close/>
                </a:path>
              </a:pathLst>
            </a:custGeom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2123440" cy="2194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1020"/>
                </a:lnSpc>
              </a:pPr>
              <a:r>
                <a:rPr lang="en-US" sz="850" b="1" spc="-55">
                  <a:solidFill>
                    <a:srgbClr val="FFFFFF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Forum Of Data Science Engineers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964909" y="9845112"/>
            <a:ext cx="2734944" cy="231775"/>
            <a:chOff x="0" y="0"/>
            <a:chExt cx="3646592" cy="30903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646592" cy="309033"/>
            </a:xfrm>
            <a:custGeom>
              <a:avLst/>
              <a:gdLst/>
              <a:ahLst/>
              <a:cxnLst/>
              <a:rect l="l" t="t" r="r" b="b"/>
              <a:pathLst>
                <a:path w="3646592" h="309033">
                  <a:moveTo>
                    <a:pt x="0" y="0"/>
                  </a:moveTo>
                  <a:lnTo>
                    <a:pt x="3646592" y="0"/>
                  </a:lnTo>
                  <a:lnTo>
                    <a:pt x="3646592" y="309033"/>
                  </a:lnTo>
                  <a:lnTo>
                    <a:pt x="0" y="309033"/>
                  </a:lnTo>
                  <a:close/>
                </a:path>
              </a:pathLst>
            </a:custGeom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3646592" cy="30903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960"/>
                </a:lnSpc>
              </a:pPr>
              <a:r>
                <a:rPr lang="en-US" sz="800" spc="80">
                  <a:solidFill>
                    <a:srgbClr val="FFFFFF"/>
                  </a:solidFill>
                  <a:latin typeface="Verdana Pro" panose="020B0604030504040204"/>
                  <a:ea typeface="Verdana Pro" panose="020B0604030504040204"/>
                  <a:cs typeface="Verdana Pro" panose="020B0604030504040204"/>
                  <a:sym typeface="Verdana Pro" panose="020B0604030504040204"/>
                </a:rPr>
                <a:t>D E S I G N  .  D E V E L O P  .  D E P L O Y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16000" y="276291"/>
            <a:ext cx="13395683" cy="926973"/>
            <a:chOff x="0" y="0"/>
            <a:chExt cx="17860910" cy="123596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7860911" cy="1235964"/>
            </a:xfrm>
            <a:custGeom>
              <a:avLst/>
              <a:gdLst/>
              <a:ahLst/>
              <a:cxnLst/>
              <a:rect l="l" t="t" r="r" b="b"/>
              <a:pathLst>
                <a:path w="17860911" h="1235964">
                  <a:moveTo>
                    <a:pt x="0" y="0"/>
                  </a:moveTo>
                  <a:lnTo>
                    <a:pt x="17860911" y="0"/>
                  </a:lnTo>
                  <a:lnTo>
                    <a:pt x="17860911" y="1235964"/>
                  </a:lnTo>
                  <a:lnTo>
                    <a:pt x="0" y="1235964"/>
                  </a:lnTo>
                  <a:close/>
                </a:path>
              </a:pathLst>
            </a:custGeom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17860910" cy="12454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120"/>
                </a:lnSpc>
              </a:pPr>
              <a:r>
                <a:rPr lang="en-US" sz="5100" b="1" spc="315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BUSINESS MODEL / TARGET MARKET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13399418" y="8565193"/>
            <a:ext cx="4888580" cy="1721806"/>
          </a:xfrm>
          <a:custGeom>
            <a:avLst/>
            <a:gdLst/>
            <a:ahLst/>
            <a:cxnLst/>
            <a:rect l="l" t="t" r="r" b="b"/>
            <a:pathLst>
              <a:path w="4888580" h="1721806">
                <a:moveTo>
                  <a:pt x="0" y="0"/>
                </a:moveTo>
                <a:lnTo>
                  <a:pt x="4888580" y="0"/>
                </a:lnTo>
                <a:lnTo>
                  <a:pt x="4888580" y="1721806"/>
                </a:lnTo>
                <a:lnTo>
                  <a:pt x="0" y="172180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3" name="TextBox 42"/>
          <p:cNvSpPr txBox="1"/>
          <p:nvPr/>
        </p:nvSpPr>
        <p:spPr>
          <a:xfrm>
            <a:off x="1005840" y="1325880"/>
            <a:ext cx="1481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Times New Roman" panose="02020603050405020304"/>
              </a:rPr>
              <a:t>Business Model, Revenue Strategy &amp; Total Addressable Market</a:t>
            </a:r>
          </a:p>
        </p:txBody>
      </p:sp>
      <p:pic>
        <p:nvPicPr>
          <p:cNvPr id="44" name="Picture 43" descr="business_model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1520" y="1874519"/>
            <a:ext cx="15910559" cy="374903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143000" y="5739130"/>
            <a:ext cx="14813280" cy="3158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0E5FF"/>
                </a:solidFill>
                <a:latin typeface="Times New Roman" panose="02020603050405020304"/>
              </a:rPr>
              <a:t>Market Opportunity &amp; Scale</a:t>
            </a:r>
          </a:p>
          <a:p>
            <a:pPr marL="285750" indent="-285750" algn="l">
              <a:buFont typeface="Wingdings" panose="05000000000000000000" charset="0"/>
              <a:buChar char="v"/>
            </a:pPr>
            <a:r>
              <a:rPr sz="2000" b="1" dirty="0">
                <a:solidFill>
                  <a:srgbClr val="FFFFFF"/>
                </a:solidFill>
                <a:latin typeface="Times New Roman" panose="02020603050405020304"/>
              </a:rPr>
              <a:t>Primary Market: 800M+ Indian internet users — professionals, students, senior citizens with high online exposure and zero protection tools.</a:t>
            </a:r>
          </a:p>
          <a:p>
            <a:pPr marL="285750" indent="-285750" algn="l">
              <a:buFont typeface="Wingdings" panose="05000000000000000000" charset="0"/>
              <a:buChar char="v"/>
            </a:pPr>
            <a:r>
              <a:rPr sz="2000" b="1" dirty="0">
                <a:solidFill>
                  <a:srgbClr val="FFFFFF"/>
                </a:solidFill>
                <a:latin typeface="Times New Roman" panose="02020603050405020304"/>
              </a:rPr>
              <a:t> Secondary Market: 450,000+ SMEs and startups in India without a dedicated CISO, cybersecurity team, or employee audit infrastructure.</a:t>
            </a:r>
          </a:p>
          <a:p>
            <a:pPr marL="285750" indent="-285750" algn="l">
              <a:buFont typeface="Wingdings" panose="05000000000000000000" charset="0"/>
              <a:buChar char="v"/>
            </a:pPr>
            <a:r>
              <a:rPr sz="2000" b="1" dirty="0">
                <a:solidFill>
                  <a:srgbClr val="FFFFFF"/>
                </a:solidFill>
                <a:latin typeface="Times New Roman" panose="02020603050405020304"/>
              </a:rPr>
              <a:t> Tertiary Market: Cybersecurity researchers, OSINT investigators, journalists, legal professionals, and HR compliance departments.</a:t>
            </a:r>
          </a:p>
          <a:p>
            <a:pPr marL="285750" indent="-285750" algn="l">
              <a:buFont typeface="Wingdings" panose="05000000000000000000" charset="0"/>
              <a:buChar char="v"/>
            </a:pPr>
            <a:r>
              <a:rPr sz="2000" b="1" dirty="0">
                <a:solidFill>
                  <a:srgbClr val="FFFFFF"/>
                </a:solidFill>
                <a:latin typeface="Times New Roman" panose="02020603050405020304"/>
              </a:rPr>
              <a:t> Global TAM: 5.4 Billion internet users worldwide face the same data exposure problem — with zero free solutions currently available.</a:t>
            </a:r>
          </a:p>
          <a:p>
            <a:pPr marL="285750" indent="-285750" algn="l">
              <a:spcBef>
                <a:spcPts val="200"/>
              </a:spcBef>
              <a:buFont typeface="Wingdings" panose="05000000000000000000" charset="0"/>
              <a:buChar char="v"/>
            </a:pPr>
            <a:endParaRPr b="1" dirty="0">
              <a:solidFill>
                <a:srgbClr val="39FF14"/>
              </a:solidFill>
              <a:latin typeface="Times New Roman" panose="02020603050405020304"/>
            </a:endParaRPr>
          </a:p>
          <a:p>
            <a:pPr indent="0" algn="l">
              <a:spcBef>
                <a:spcPts val="200"/>
              </a:spcBef>
              <a:buFont typeface="Wingdings" panose="05000000000000000000" charset="0"/>
              <a:buNone/>
            </a:pPr>
            <a:r>
              <a:rPr b="1" dirty="0">
                <a:solidFill>
                  <a:srgbClr val="39FF14"/>
                </a:solidFill>
                <a:latin typeface="Times New Roman" panose="02020603050405020304"/>
              </a:rPr>
              <a:t>India Cybersecurity Market: USD 6.06 Billion (2024)  |  18.33% CAGR  |  Projected: USD 13.6 Billion by 2029  (Source: NASSCOM 2024)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765" r="-8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9013461"/>
            <a:ext cx="1847849" cy="962024"/>
          </a:xfrm>
          <a:custGeom>
            <a:avLst/>
            <a:gdLst/>
            <a:ahLst/>
            <a:cxnLst/>
            <a:rect l="l" t="t" r="r" b="b"/>
            <a:pathLst>
              <a:path w="1847849" h="962024">
                <a:moveTo>
                  <a:pt x="0" y="0"/>
                </a:moveTo>
                <a:lnTo>
                  <a:pt x="1847849" y="0"/>
                </a:lnTo>
                <a:lnTo>
                  <a:pt x="1847849" y="962024"/>
                </a:lnTo>
                <a:lnTo>
                  <a:pt x="0" y="962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7" b="-107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423285" y="1390609"/>
            <a:ext cx="275590" cy="78740"/>
            <a:chOff x="0" y="0"/>
            <a:chExt cx="367453" cy="1049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776" cy="104394"/>
            </a:xfrm>
            <a:custGeom>
              <a:avLst/>
              <a:gdLst/>
              <a:ahLst/>
              <a:cxnLst/>
              <a:rect l="l" t="t" r="r" b="b"/>
              <a:pathLst>
                <a:path w="366776" h="104394">
                  <a:moveTo>
                    <a:pt x="112522" y="104267"/>
                  </a:moveTo>
                  <a:lnTo>
                    <a:pt x="48895" y="101346"/>
                  </a:lnTo>
                  <a:lnTo>
                    <a:pt x="11938" y="94234"/>
                  </a:lnTo>
                  <a:lnTo>
                    <a:pt x="0" y="90297"/>
                  </a:lnTo>
                  <a:lnTo>
                    <a:pt x="15748" y="77851"/>
                  </a:lnTo>
                  <a:lnTo>
                    <a:pt x="57277" y="49911"/>
                  </a:lnTo>
                  <a:lnTo>
                    <a:pt x="115824" y="20447"/>
                  </a:lnTo>
                  <a:lnTo>
                    <a:pt x="182880" y="3556"/>
                  </a:lnTo>
                  <a:lnTo>
                    <a:pt x="250063" y="0"/>
                  </a:lnTo>
                  <a:lnTo>
                    <a:pt x="308991" y="0"/>
                  </a:lnTo>
                  <a:lnTo>
                    <a:pt x="350774" y="1524"/>
                  </a:lnTo>
                  <a:lnTo>
                    <a:pt x="366776" y="2540"/>
                  </a:lnTo>
                  <a:lnTo>
                    <a:pt x="361315" y="14097"/>
                  </a:lnTo>
                  <a:lnTo>
                    <a:pt x="338836" y="41148"/>
                  </a:lnTo>
                  <a:lnTo>
                    <a:pt x="289560" y="72136"/>
                  </a:lnTo>
                  <a:lnTo>
                    <a:pt x="204343" y="96012"/>
                  </a:lnTo>
                  <a:lnTo>
                    <a:pt x="112522" y="1043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6469713" y="1223585"/>
            <a:ext cx="228624" cy="168915"/>
          </a:xfrm>
          <a:custGeom>
            <a:avLst/>
            <a:gdLst/>
            <a:ahLst/>
            <a:cxnLst/>
            <a:rect l="l" t="t" r="r" b="b"/>
            <a:pathLst>
              <a:path w="228624" h="168915">
                <a:moveTo>
                  <a:pt x="0" y="0"/>
                </a:moveTo>
                <a:lnTo>
                  <a:pt x="228624" y="0"/>
                </a:lnTo>
                <a:lnTo>
                  <a:pt x="228624" y="168915"/>
                </a:lnTo>
                <a:lnTo>
                  <a:pt x="0" y="1689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62" r="-662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288898" y="1340965"/>
            <a:ext cx="281305" cy="67310"/>
            <a:chOff x="0" y="0"/>
            <a:chExt cx="375073" cy="897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4269" cy="89662"/>
            </a:xfrm>
            <a:custGeom>
              <a:avLst/>
              <a:gdLst/>
              <a:ahLst/>
              <a:cxnLst/>
              <a:rect l="l" t="t" r="r" b="b"/>
              <a:pathLst>
                <a:path w="374269" h="89662">
                  <a:moveTo>
                    <a:pt x="199898" y="89662"/>
                  </a:moveTo>
                  <a:lnTo>
                    <a:pt x="119253" y="88265"/>
                  </a:lnTo>
                  <a:lnTo>
                    <a:pt x="56007" y="79883"/>
                  </a:lnTo>
                  <a:lnTo>
                    <a:pt x="14732" y="70485"/>
                  </a:lnTo>
                  <a:lnTo>
                    <a:pt x="0" y="66040"/>
                  </a:lnTo>
                  <a:lnTo>
                    <a:pt x="14224" y="56388"/>
                  </a:lnTo>
                  <a:lnTo>
                    <a:pt x="53848" y="34925"/>
                  </a:lnTo>
                  <a:lnTo>
                    <a:pt x="113919" y="12446"/>
                  </a:lnTo>
                  <a:lnTo>
                    <a:pt x="189992" y="0"/>
                  </a:lnTo>
                  <a:lnTo>
                    <a:pt x="265176" y="1651"/>
                  </a:lnTo>
                  <a:lnTo>
                    <a:pt x="323342" y="10287"/>
                  </a:lnTo>
                  <a:lnTo>
                    <a:pt x="360934" y="19812"/>
                  </a:lnTo>
                  <a:lnTo>
                    <a:pt x="374269" y="24384"/>
                  </a:lnTo>
                  <a:lnTo>
                    <a:pt x="363474" y="33782"/>
                  </a:lnTo>
                  <a:lnTo>
                    <a:pt x="330962" y="54991"/>
                  </a:lnTo>
                  <a:lnTo>
                    <a:pt x="276479" y="77216"/>
                  </a:lnTo>
                  <a:lnTo>
                    <a:pt x="199898" y="896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6304772" y="1079767"/>
            <a:ext cx="161462" cy="231707"/>
          </a:xfrm>
          <a:custGeom>
            <a:avLst/>
            <a:gdLst/>
            <a:ahLst/>
            <a:cxnLst/>
            <a:rect l="l" t="t" r="r" b="b"/>
            <a:pathLst>
              <a:path w="161462" h="231707">
                <a:moveTo>
                  <a:pt x="0" y="0"/>
                </a:moveTo>
                <a:lnTo>
                  <a:pt x="161462" y="0"/>
                </a:lnTo>
                <a:lnTo>
                  <a:pt x="161462" y="231707"/>
                </a:lnTo>
                <a:lnTo>
                  <a:pt x="0" y="2317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79" b="-679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6144541" y="1251566"/>
            <a:ext cx="280670" cy="76200"/>
            <a:chOff x="0" y="0"/>
            <a:chExt cx="374227" cy="10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3507" cy="100965"/>
            </a:xfrm>
            <a:custGeom>
              <a:avLst/>
              <a:gdLst/>
              <a:ahLst/>
              <a:cxnLst/>
              <a:rect l="l" t="t" r="r" b="b"/>
              <a:pathLst>
                <a:path w="373507" h="100965">
                  <a:moveTo>
                    <a:pt x="266192" y="100965"/>
                  </a:moveTo>
                  <a:lnTo>
                    <a:pt x="188849" y="95123"/>
                  </a:lnTo>
                  <a:lnTo>
                    <a:pt x="110744" y="74930"/>
                  </a:lnTo>
                  <a:lnTo>
                    <a:pt x="51308" y="51943"/>
                  </a:lnTo>
                  <a:lnTo>
                    <a:pt x="0" y="25400"/>
                  </a:lnTo>
                  <a:lnTo>
                    <a:pt x="16129" y="19431"/>
                  </a:lnTo>
                  <a:lnTo>
                    <a:pt x="59563" y="7747"/>
                  </a:lnTo>
                  <a:lnTo>
                    <a:pt x="123317" y="0"/>
                  </a:lnTo>
                  <a:lnTo>
                    <a:pt x="200152" y="5715"/>
                  </a:lnTo>
                  <a:lnTo>
                    <a:pt x="272796" y="24892"/>
                  </a:lnTo>
                  <a:lnTo>
                    <a:pt x="327279" y="46863"/>
                  </a:lnTo>
                  <a:lnTo>
                    <a:pt x="361569" y="65024"/>
                  </a:lnTo>
                  <a:lnTo>
                    <a:pt x="373507" y="72517"/>
                  </a:lnTo>
                  <a:lnTo>
                    <a:pt x="360807" y="79121"/>
                  </a:lnTo>
                  <a:lnTo>
                    <a:pt x="324231" y="92075"/>
                  </a:lnTo>
                  <a:lnTo>
                    <a:pt x="266065" y="10096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6106052" y="1104701"/>
            <a:ext cx="244782" cy="141776"/>
          </a:xfrm>
          <a:custGeom>
            <a:avLst/>
            <a:gdLst/>
            <a:ahLst/>
            <a:cxnLst/>
            <a:rect l="l" t="t" r="r" b="b"/>
            <a:pathLst>
              <a:path w="244782" h="141776">
                <a:moveTo>
                  <a:pt x="0" y="0"/>
                </a:moveTo>
                <a:lnTo>
                  <a:pt x="244782" y="0"/>
                </a:lnTo>
                <a:lnTo>
                  <a:pt x="244782" y="141776"/>
                </a:lnTo>
                <a:lnTo>
                  <a:pt x="0" y="1417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780" b="-78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019856" y="339559"/>
            <a:ext cx="393700" cy="802640"/>
          </a:xfrm>
          <a:custGeom>
            <a:avLst/>
            <a:gdLst/>
            <a:ahLst/>
            <a:cxnLst/>
            <a:rect l="l" t="t" r="r" b="b"/>
            <a:pathLst>
              <a:path w="393700" h="802640">
                <a:moveTo>
                  <a:pt x="0" y="0"/>
                </a:moveTo>
                <a:lnTo>
                  <a:pt x="393700" y="0"/>
                </a:lnTo>
                <a:lnTo>
                  <a:pt x="393700" y="802640"/>
                </a:lnTo>
                <a:lnTo>
                  <a:pt x="0" y="8026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594649" y="1425631"/>
            <a:ext cx="112653" cy="126308"/>
          </a:xfrm>
          <a:custGeom>
            <a:avLst/>
            <a:gdLst/>
            <a:ahLst/>
            <a:cxnLst/>
            <a:rect l="l" t="t" r="r" b="b"/>
            <a:pathLst>
              <a:path w="112653" h="126308">
                <a:moveTo>
                  <a:pt x="0" y="0"/>
                </a:moveTo>
                <a:lnTo>
                  <a:pt x="112653" y="0"/>
                </a:lnTo>
                <a:lnTo>
                  <a:pt x="112653" y="126308"/>
                </a:lnTo>
                <a:lnTo>
                  <a:pt x="0" y="1263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68" b="-168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480534" y="758952"/>
            <a:ext cx="259079" cy="414527"/>
          </a:xfrm>
          <a:custGeom>
            <a:avLst/>
            <a:gdLst/>
            <a:ahLst/>
            <a:cxnLst/>
            <a:rect l="l" t="t" r="r" b="b"/>
            <a:pathLst>
              <a:path w="259079" h="414527">
                <a:moveTo>
                  <a:pt x="0" y="0"/>
                </a:moveTo>
                <a:lnTo>
                  <a:pt x="259079" y="0"/>
                </a:lnTo>
                <a:lnTo>
                  <a:pt x="259079" y="414527"/>
                </a:lnTo>
                <a:lnTo>
                  <a:pt x="0" y="4145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424389" y="792619"/>
            <a:ext cx="151765" cy="323850"/>
          </a:xfrm>
          <a:custGeom>
            <a:avLst/>
            <a:gdLst/>
            <a:ahLst/>
            <a:cxnLst/>
            <a:rect l="l" t="t" r="r" b="b"/>
            <a:pathLst>
              <a:path w="151765" h="323850">
                <a:moveTo>
                  <a:pt x="0" y="0"/>
                </a:moveTo>
                <a:lnTo>
                  <a:pt x="151765" y="0"/>
                </a:lnTo>
                <a:lnTo>
                  <a:pt x="151765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669510" y="755904"/>
            <a:ext cx="999743" cy="384047"/>
          </a:xfrm>
          <a:custGeom>
            <a:avLst/>
            <a:gdLst/>
            <a:ahLst/>
            <a:cxnLst/>
            <a:rect l="l" t="t" r="r" b="b"/>
            <a:pathLst>
              <a:path w="999743" h="384047">
                <a:moveTo>
                  <a:pt x="0" y="0"/>
                </a:moveTo>
                <a:lnTo>
                  <a:pt x="999743" y="0"/>
                </a:lnTo>
                <a:lnTo>
                  <a:pt x="999743" y="384047"/>
                </a:lnTo>
                <a:lnTo>
                  <a:pt x="0" y="3840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7330812" y="1389182"/>
            <a:ext cx="274955" cy="79375"/>
            <a:chOff x="0" y="0"/>
            <a:chExt cx="366607" cy="1058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6268" cy="105283"/>
            </a:xfrm>
            <a:custGeom>
              <a:avLst/>
              <a:gdLst/>
              <a:ahLst/>
              <a:cxnLst/>
              <a:rect l="l" t="t" r="r" b="b"/>
              <a:pathLst>
                <a:path w="366268" h="105283">
                  <a:moveTo>
                    <a:pt x="253746" y="105283"/>
                  </a:moveTo>
                  <a:lnTo>
                    <a:pt x="317373" y="102616"/>
                  </a:lnTo>
                  <a:lnTo>
                    <a:pt x="354330" y="95758"/>
                  </a:lnTo>
                  <a:lnTo>
                    <a:pt x="366268" y="91821"/>
                  </a:lnTo>
                  <a:lnTo>
                    <a:pt x="350520" y="79375"/>
                  </a:lnTo>
                  <a:lnTo>
                    <a:pt x="250698" y="21590"/>
                  </a:lnTo>
                  <a:lnTo>
                    <a:pt x="183896" y="4191"/>
                  </a:lnTo>
                  <a:lnTo>
                    <a:pt x="116713" y="254"/>
                  </a:lnTo>
                  <a:lnTo>
                    <a:pt x="57785" y="0"/>
                  </a:lnTo>
                  <a:lnTo>
                    <a:pt x="15875" y="1270"/>
                  </a:lnTo>
                  <a:lnTo>
                    <a:pt x="0" y="2159"/>
                  </a:lnTo>
                  <a:lnTo>
                    <a:pt x="5334" y="13716"/>
                  </a:lnTo>
                  <a:lnTo>
                    <a:pt x="27813" y="40894"/>
                  </a:lnTo>
                  <a:lnTo>
                    <a:pt x="76708" y="72263"/>
                  </a:lnTo>
                  <a:lnTo>
                    <a:pt x="161925" y="96520"/>
                  </a:lnTo>
                  <a:lnTo>
                    <a:pt x="253746" y="10528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17330812" y="1223064"/>
            <a:ext cx="229460" cy="167778"/>
          </a:xfrm>
          <a:custGeom>
            <a:avLst/>
            <a:gdLst/>
            <a:ahLst/>
            <a:cxnLst/>
            <a:rect l="l" t="t" r="r" b="b"/>
            <a:pathLst>
              <a:path w="229460" h="167778">
                <a:moveTo>
                  <a:pt x="0" y="0"/>
                </a:moveTo>
                <a:lnTo>
                  <a:pt x="229460" y="0"/>
                </a:lnTo>
                <a:lnTo>
                  <a:pt x="229460" y="167778"/>
                </a:lnTo>
                <a:lnTo>
                  <a:pt x="0" y="1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38" r="-138"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7459738" y="1340632"/>
            <a:ext cx="280670" cy="67310"/>
            <a:chOff x="0" y="0"/>
            <a:chExt cx="374227" cy="8974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4015" cy="89535"/>
            </a:xfrm>
            <a:custGeom>
              <a:avLst/>
              <a:gdLst/>
              <a:ahLst/>
              <a:cxnLst/>
              <a:rect l="l" t="t" r="r" b="b"/>
              <a:pathLst>
                <a:path w="374015" h="89535">
                  <a:moveTo>
                    <a:pt x="173990" y="89535"/>
                  </a:moveTo>
                  <a:lnTo>
                    <a:pt x="254635" y="88519"/>
                  </a:lnTo>
                  <a:lnTo>
                    <a:pt x="317881" y="80518"/>
                  </a:lnTo>
                  <a:lnTo>
                    <a:pt x="359156" y="71374"/>
                  </a:lnTo>
                  <a:lnTo>
                    <a:pt x="374015" y="67056"/>
                  </a:lnTo>
                  <a:lnTo>
                    <a:pt x="359791" y="57404"/>
                  </a:lnTo>
                  <a:lnTo>
                    <a:pt x="320421" y="35560"/>
                  </a:lnTo>
                  <a:lnTo>
                    <a:pt x="260350" y="12827"/>
                  </a:lnTo>
                  <a:lnTo>
                    <a:pt x="184277" y="0"/>
                  </a:lnTo>
                  <a:lnTo>
                    <a:pt x="109220" y="1270"/>
                  </a:lnTo>
                  <a:lnTo>
                    <a:pt x="50927" y="9652"/>
                  </a:lnTo>
                  <a:lnTo>
                    <a:pt x="13335" y="19050"/>
                  </a:lnTo>
                  <a:lnTo>
                    <a:pt x="0" y="23495"/>
                  </a:lnTo>
                  <a:lnTo>
                    <a:pt x="10795" y="33020"/>
                  </a:lnTo>
                  <a:lnTo>
                    <a:pt x="43180" y="54229"/>
                  </a:lnTo>
                  <a:lnTo>
                    <a:pt x="97409" y="76708"/>
                  </a:lnTo>
                  <a:lnTo>
                    <a:pt x="173990" y="8953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17563315" y="1080067"/>
            <a:ext cx="162610" cy="230903"/>
          </a:xfrm>
          <a:custGeom>
            <a:avLst/>
            <a:gdLst/>
            <a:ahLst/>
            <a:cxnLst/>
            <a:rect l="l" t="t" r="r" b="b"/>
            <a:pathLst>
              <a:path w="162610" h="230903">
                <a:moveTo>
                  <a:pt x="0" y="0"/>
                </a:moveTo>
                <a:lnTo>
                  <a:pt x="162610" y="0"/>
                </a:lnTo>
                <a:lnTo>
                  <a:pt x="162610" y="230903"/>
                </a:lnTo>
                <a:lnTo>
                  <a:pt x="0" y="23090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90" r="-290"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7604850" y="1252199"/>
            <a:ext cx="280670" cy="75565"/>
            <a:chOff x="0" y="0"/>
            <a:chExt cx="374227" cy="10075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3888" cy="100330"/>
            </a:xfrm>
            <a:custGeom>
              <a:avLst/>
              <a:gdLst/>
              <a:ahLst/>
              <a:cxnLst/>
              <a:rect l="l" t="t" r="r" b="b"/>
              <a:pathLst>
                <a:path w="373888" h="100330">
                  <a:moveTo>
                    <a:pt x="107188" y="100203"/>
                  </a:moveTo>
                  <a:lnTo>
                    <a:pt x="184658" y="94869"/>
                  </a:lnTo>
                  <a:lnTo>
                    <a:pt x="262763" y="75057"/>
                  </a:lnTo>
                  <a:lnTo>
                    <a:pt x="322453" y="52451"/>
                  </a:lnTo>
                  <a:lnTo>
                    <a:pt x="373888" y="26162"/>
                  </a:lnTo>
                  <a:lnTo>
                    <a:pt x="357886" y="20066"/>
                  </a:lnTo>
                  <a:lnTo>
                    <a:pt x="314325" y="8001"/>
                  </a:lnTo>
                  <a:lnTo>
                    <a:pt x="250571" y="0"/>
                  </a:lnTo>
                  <a:lnTo>
                    <a:pt x="173736" y="5334"/>
                  </a:lnTo>
                  <a:lnTo>
                    <a:pt x="100965" y="24130"/>
                  </a:lnTo>
                  <a:lnTo>
                    <a:pt x="46355" y="45847"/>
                  </a:lnTo>
                  <a:lnTo>
                    <a:pt x="11938" y="63754"/>
                  </a:lnTo>
                  <a:lnTo>
                    <a:pt x="0" y="71247"/>
                  </a:lnTo>
                  <a:lnTo>
                    <a:pt x="12700" y="77978"/>
                  </a:lnTo>
                  <a:lnTo>
                    <a:pt x="49149" y="91186"/>
                  </a:lnTo>
                  <a:lnTo>
                    <a:pt x="107188" y="100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6" name="Freeform 26"/>
          <p:cNvSpPr/>
          <p:nvPr/>
        </p:nvSpPr>
        <p:spPr>
          <a:xfrm>
            <a:off x="17679041" y="1105987"/>
            <a:ext cx="245478" cy="140612"/>
          </a:xfrm>
          <a:custGeom>
            <a:avLst/>
            <a:gdLst/>
            <a:ahLst/>
            <a:cxnLst/>
            <a:rect l="l" t="t" r="r" b="b"/>
            <a:pathLst>
              <a:path w="245478" h="140612">
                <a:moveTo>
                  <a:pt x="0" y="0"/>
                </a:moveTo>
                <a:lnTo>
                  <a:pt x="245478" y="0"/>
                </a:lnTo>
                <a:lnTo>
                  <a:pt x="245478" y="140612"/>
                </a:lnTo>
                <a:lnTo>
                  <a:pt x="0" y="14061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359" b="-359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621199" y="339330"/>
            <a:ext cx="390525" cy="803275"/>
          </a:xfrm>
          <a:custGeom>
            <a:avLst/>
            <a:gdLst/>
            <a:ahLst/>
            <a:cxnLst/>
            <a:rect l="l" t="t" r="r" b="b"/>
            <a:pathLst>
              <a:path w="390525" h="803275">
                <a:moveTo>
                  <a:pt x="0" y="0"/>
                </a:moveTo>
                <a:lnTo>
                  <a:pt x="390525" y="0"/>
                </a:lnTo>
                <a:lnTo>
                  <a:pt x="390525" y="803275"/>
                </a:lnTo>
                <a:lnTo>
                  <a:pt x="0" y="80327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7321684" y="1423928"/>
            <a:ext cx="112071" cy="126802"/>
          </a:xfrm>
          <a:custGeom>
            <a:avLst/>
            <a:gdLst/>
            <a:ahLst/>
            <a:cxnLst/>
            <a:rect l="l" t="t" r="r" b="b"/>
            <a:pathLst>
              <a:path w="112071" h="126802">
                <a:moveTo>
                  <a:pt x="0" y="0"/>
                </a:moveTo>
                <a:lnTo>
                  <a:pt x="112071" y="0"/>
                </a:lnTo>
                <a:lnTo>
                  <a:pt x="112071" y="126802"/>
                </a:lnTo>
                <a:lnTo>
                  <a:pt x="0" y="12680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2220" r="-2220"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16474160" y="744181"/>
            <a:ext cx="38100" cy="307340"/>
            <a:chOff x="0" y="0"/>
            <a:chExt cx="50800" cy="409787"/>
          </a:xfrm>
        </p:grpSpPr>
        <p:sp>
          <p:nvSpPr>
            <p:cNvPr id="30" name="Freeform 30"/>
            <p:cNvSpPr/>
            <p:nvPr/>
          </p:nvSpPr>
          <p:spPr>
            <a:xfrm>
              <a:off x="0" y="367665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9144" y="0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2" name="Freeform 32"/>
          <p:cNvSpPr/>
          <p:nvPr/>
        </p:nvSpPr>
        <p:spPr>
          <a:xfrm>
            <a:off x="16947701" y="1390593"/>
            <a:ext cx="135917" cy="134319"/>
          </a:xfrm>
          <a:custGeom>
            <a:avLst/>
            <a:gdLst/>
            <a:ahLst/>
            <a:cxnLst/>
            <a:rect l="l" t="t" r="r" b="b"/>
            <a:pathLst>
              <a:path w="135917" h="134319">
                <a:moveTo>
                  <a:pt x="0" y="0"/>
                </a:moveTo>
                <a:lnTo>
                  <a:pt x="135917" y="0"/>
                </a:lnTo>
                <a:lnTo>
                  <a:pt x="135917" y="134319"/>
                </a:lnTo>
                <a:lnTo>
                  <a:pt x="0" y="13431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t="-594" b="-594"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16209922" y="1570445"/>
            <a:ext cx="1592580" cy="157480"/>
            <a:chOff x="0" y="0"/>
            <a:chExt cx="2123440" cy="20997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23440" cy="209973"/>
            </a:xfrm>
            <a:custGeom>
              <a:avLst/>
              <a:gdLst/>
              <a:ahLst/>
              <a:cxnLst/>
              <a:rect l="l" t="t" r="r" b="b"/>
              <a:pathLst>
                <a:path w="2123440" h="209973">
                  <a:moveTo>
                    <a:pt x="0" y="0"/>
                  </a:moveTo>
                  <a:lnTo>
                    <a:pt x="2123440" y="0"/>
                  </a:lnTo>
                  <a:lnTo>
                    <a:pt x="2123440" y="209973"/>
                  </a:lnTo>
                  <a:lnTo>
                    <a:pt x="0" y="209973"/>
                  </a:lnTo>
                  <a:close/>
                </a:path>
              </a:pathLst>
            </a:custGeom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2123440" cy="2194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1020"/>
                </a:lnSpc>
              </a:pPr>
              <a:r>
                <a:rPr lang="en-US" sz="850" b="1" spc="-55">
                  <a:solidFill>
                    <a:srgbClr val="FFFFFF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Forum Of Data Science Engineers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16000" y="276291"/>
            <a:ext cx="11351260" cy="926973"/>
            <a:chOff x="0" y="0"/>
            <a:chExt cx="15135013" cy="123596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135014" cy="1235964"/>
            </a:xfrm>
            <a:custGeom>
              <a:avLst/>
              <a:gdLst/>
              <a:ahLst/>
              <a:cxnLst/>
              <a:rect l="l" t="t" r="r" b="b"/>
              <a:pathLst>
                <a:path w="15135014" h="1235964">
                  <a:moveTo>
                    <a:pt x="0" y="0"/>
                  </a:moveTo>
                  <a:lnTo>
                    <a:pt x="15135014" y="0"/>
                  </a:lnTo>
                  <a:lnTo>
                    <a:pt x="15135014" y="1235964"/>
                  </a:lnTo>
                  <a:lnTo>
                    <a:pt x="0" y="1235964"/>
                  </a:lnTo>
                  <a:close/>
                </a:path>
              </a:pathLst>
            </a:custGeom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5135013" cy="12454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120"/>
                </a:lnSpc>
              </a:pPr>
              <a:r>
                <a:rPr lang="en-US" sz="5100" b="1" spc="165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NOVELTY / USE CASE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13399418" y="8565193"/>
            <a:ext cx="4888580" cy="1721806"/>
          </a:xfrm>
          <a:custGeom>
            <a:avLst/>
            <a:gdLst/>
            <a:ahLst/>
            <a:cxnLst/>
            <a:rect l="l" t="t" r="r" b="b"/>
            <a:pathLst>
              <a:path w="4888580" h="1721806">
                <a:moveTo>
                  <a:pt x="0" y="0"/>
                </a:moveTo>
                <a:lnTo>
                  <a:pt x="4888580" y="0"/>
                </a:lnTo>
                <a:lnTo>
                  <a:pt x="4888580" y="1721806"/>
                </a:lnTo>
                <a:lnTo>
                  <a:pt x="0" y="172180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0" name="TextBox 39"/>
          <p:cNvSpPr txBox="1"/>
          <p:nvPr/>
        </p:nvSpPr>
        <p:spPr>
          <a:xfrm>
            <a:off x="1005840" y="1325880"/>
            <a:ext cx="1481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Times New Roman" panose="02020603050405020304"/>
              </a:rPr>
              <a:t>Innovation Pillars — Four Reasons OmniShield Is Genuinely Novel</a:t>
            </a:r>
          </a:p>
        </p:txBody>
      </p:sp>
      <p:pic>
        <p:nvPicPr>
          <p:cNvPr id="41" name="Picture 40" descr="novelty_cards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1520" y="1874519"/>
            <a:ext cx="15910559" cy="338328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05840" y="5394960"/>
            <a:ext cx="1481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Times New Roman" panose="02020603050405020304"/>
              </a:rPr>
              <a:t>Real-World Applications — Five Validated Use Cases</a:t>
            </a:r>
          </a:p>
        </p:txBody>
      </p:sp>
      <p:pic>
        <p:nvPicPr>
          <p:cNvPr id="43" name="Picture 42" descr="use_cases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4400" y="5897880"/>
            <a:ext cx="14813280" cy="150876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05840" y="7543800"/>
            <a:ext cx="1481328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chemeClr val="bg1"/>
                </a:solidFill>
                <a:latin typeface="Times New Roman" panose="02020603050405020304"/>
              </a:rPr>
              <a:t>Competitive Landscape: HaveIBeenPwned = breach only. Maltego = $1,999/year enterprise. Sherlock = CLI, no visualisation, no ML.</a:t>
            </a:r>
          </a:p>
          <a:p>
            <a:pPr algn="l"/>
            <a:r>
              <a:rPr sz="2000" b="1">
                <a:solidFill>
                  <a:srgbClr val="39FF14"/>
                </a:solidFill>
                <a:latin typeface="Times New Roman" panose="02020603050405020304"/>
              </a:rPr>
              <a:t>OmniShield = ONLY free browser tool combining OSINT + Breach + Shadow Profiles + Graph Theory + ML Attack Prediction.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8765" r="-8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9089661"/>
            <a:ext cx="1847849" cy="962024"/>
          </a:xfrm>
          <a:custGeom>
            <a:avLst/>
            <a:gdLst/>
            <a:ahLst/>
            <a:cxnLst/>
            <a:rect l="l" t="t" r="r" b="b"/>
            <a:pathLst>
              <a:path w="1847849" h="962024">
                <a:moveTo>
                  <a:pt x="0" y="0"/>
                </a:moveTo>
                <a:lnTo>
                  <a:pt x="1847849" y="0"/>
                </a:lnTo>
                <a:lnTo>
                  <a:pt x="1847849" y="962024"/>
                </a:lnTo>
                <a:lnTo>
                  <a:pt x="0" y="962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7" b="-107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423285" y="1390609"/>
            <a:ext cx="275590" cy="78740"/>
            <a:chOff x="0" y="0"/>
            <a:chExt cx="367453" cy="1049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776" cy="104394"/>
            </a:xfrm>
            <a:custGeom>
              <a:avLst/>
              <a:gdLst/>
              <a:ahLst/>
              <a:cxnLst/>
              <a:rect l="l" t="t" r="r" b="b"/>
              <a:pathLst>
                <a:path w="366776" h="104394">
                  <a:moveTo>
                    <a:pt x="112522" y="104267"/>
                  </a:moveTo>
                  <a:lnTo>
                    <a:pt x="48895" y="101346"/>
                  </a:lnTo>
                  <a:lnTo>
                    <a:pt x="11938" y="94234"/>
                  </a:lnTo>
                  <a:lnTo>
                    <a:pt x="0" y="90297"/>
                  </a:lnTo>
                  <a:lnTo>
                    <a:pt x="15748" y="77851"/>
                  </a:lnTo>
                  <a:lnTo>
                    <a:pt x="57277" y="49911"/>
                  </a:lnTo>
                  <a:lnTo>
                    <a:pt x="115824" y="20447"/>
                  </a:lnTo>
                  <a:lnTo>
                    <a:pt x="182880" y="3556"/>
                  </a:lnTo>
                  <a:lnTo>
                    <a:pt x="250063" y="0"/>
                  </a:lnTo>
                  <a:lnTo>
                    <a:pt x="308991" y="0"/>
                  </a:lnTo>
                  <a:lnTo>
                    <a:pt x="350774" y="1524"/>
                  </a:lnTo>
                  <a:lnTo>
                    <a:pt x="366776" y="2540"/>
                  </a:lnTo>
                  <a:lnTo>
                    <a:pt x="361315" y="14097"/>
                  </a:lnTo>
                  <a:lnTo>
                    <a:pt x="338836" y="41148"/>
                  </a:lnTo>
                  <a:lnTo>
                    <a:pt x="289560" y="72136"/>
                  </a:lnTo>
                  <a:lnTo>
                    <a:pt x="204343" y="96012"/>
                  </a:lnTo>
                  <a:lnTo>
                    <a:pt x="112522" y="1043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6469713" y="1223585"/>
            <a:ext cx="228624" cy="168915"/>
          </a:xfrm>
          <a:custGeom>
            <a:avLst/>
            <a:gdLst/>
            <a:ahLst/>
            <a:cxnLst/>
            <a:rect l="l" t="t" r="r" b="b"/>
            <a:pathLst>
              <a:path w="228624" h="168915">
                <a:moveTo>
                  <a:pt x="0" y="0"/>
                </a:moveTo>
                <a:lnTo>
                  <a:pt x="228624" y="0"/>
                </a:lnTo>
                <a:lnTo>
                  <a:pt x="228624" y="168915"/>
                </a:lnTo>
                <a:lnTo>
                  <a:pt x="0" y="1689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62" r="-662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288898" y="1340965"/>
            <a:ext cx="281305" cy="67310"/>
            <a:chOff x="0" y="0"/>
            <a:chExt cx="375073" cy="897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4269" cy="89662"/>
            </a:xfrm>
            <a:custGeom>
              <a:avLst/>
              <a:gdLst/>
              <a:ahLst/>
              <a:cxnLst/>
              <a:rect l="l" t="t" r="r" b="b"/>
              <a:pathLst>
                <a:path w="374269" h="89662">
                  <a:moveTo>
                    <a:pt x="199898" y="89662"/>
                  </a:moveTo>
                  <a:lnTo>
                    <a:pt x="119253" y="88265"/>
                  </a:lnTo>
                  <a:lnTo>
                    <a:pt x="56007" y="79883"/>
                  </a:lnTo>
                  <a:lnTo>
                    <a:pt x="14732" y="70485"/>
                  </a:lnTo>
                  <a:lnTo>
                    <a:pt x="0" y="66040"/>
                  </a:lnTo>
                  <a:lnTo>
                    <a:pt x="14224" y="56388"/>
                  </a:lnTo>
                  <a:lnTo>
                    <a:pt x="53848" y="34925"/>
                  </a:lnTo>
                  <a:lnTo>
                    <a:pt x="113919" y="12446"/>
                  </a:lnTo>
                  <a:lnTo>
                    <a:pt x="189992" y="0"/>
                  </a:lnTo>
                  <a:lnTo>
                    <a:pt x="265176" y="1651"/>
                  </a:lnTo>
                  <a:lnTo>
                    <a:pt x="323342" y="10287"/>
                  </a:lnTo>
                  <a:lnTo>
                    <a:pt x="360934" y="19812"/>
                  </a:lnTo>
                  <a:lnTo>
                    <a:pt x="374269" y="24384"/>
                  </a:lnTo>
                  <a:lnTo>
                    <a:pt x="363474" y="33782"/>
                  </a:lnTo>
                  <a:lnTo>
                    <a:pt x="330962" y="54991"/>
                  </a:lnTo>
                  <a:lnTo>
                    <a:pt x="276479" y="77216"/>
                  </a:lnTo>
                  <a:lnTo>
                    <a:pt x="199898" y="896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6304772" y="1079767"/>
            <a:ext cx="161462" cy="231707"/>
          </a:xfrm>
          <a:custGeom>
            <a:avLst/>
            <a:gdLst/>
            <a:ahLst/>
            <a:cxnLst/>
            <a:rect l="l" t="t" r="r" b="b"/>
            <a:pathLst>
              <a:path w="161462" h="231707">
                <a:moveTo>
                  <a:pt x="0" y="0"/>
                </a:moveTo>
                <a:lnTo>
                  <a:pt x="161462" y="0"/>
                </a:lnTo>
                <a:lnTo>
                  <a:pt x="161462" y="231707"/>
                </a:lnTo>
                <a:lnTo>
                  <a:pt x="0" y="2317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79" b="-679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6144541" y="1251566"/>
            <a:ext cx="280670" cy="76200"/>
            <a:chOff x="0" y="0"/>
            <a:chExt cx="374227" cy="10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3507" cy="100965"/>
            </a:xfrm>
            <a:custGeom>
              <a:avLst/>
              <a:gdLst/>
              <a:ahLst/>
              <a:cxnLst/>
              <a:rect l="l" t="t" r="r" b="b"/>
              <a:pathLst>
                <a:path w="373507" h="100965">
                  <a:moveTo>
                    <a:pt x="266192" y="100965"/>
                  </a:moveTo>
                  <a:lnTo>
                    <a:pt x="188849" y="95123"/>
                  </a:lnTo>
                  <a:lnTo>
                    <a:pt x="110744" y="74930"/>
                  </a:lnTo>
                  <a:lnTo>
                    <a:pt x="51308" y="51943"/>
                  </a:lnTo>
                  <a:lnTo>
                    <a:pt x="0" y="25400"/>
                  </a:lnTo>
                  <a:lnTo>
                    <a:pt x="16129" y="19431"/>
                  </a:lnTo>
                  <a:lnTo>
                    <a:pt x="59563" y="7747"/>
                  </a:lnTo>
                  <a:lnTo>
                    <a:pt x="123317" y="0"/>
                  </a:lnTo>
                  <a:lnTo>
                    <a:pt x="200152" y="5715"/>
                  </a:lnTo>
                  <a:lnTo>
                    <a:pt x="272796" y="24892"/>
                  </a:lnTo>
                  <a:lnTo>
                    <a:pt x="327279" y="46863"/>
                  </a:lnTo>
                  <a:lnTo>
                    <a:pt x="361569" y="65024"/>
                  </a:lnTo>
                  <a:lnTo>
                    <a:pt x="373507" y="72517"/>
                  </a:lnTo>
                  <a:lnTo>
                    <a:pt x="360807" y="79121"/>
                  </a:lnTo>
                  <a:lnTo>
                    <a:pt x="324231" y="92075"/>
                  </a:lnTo>
                  <a:lnTo>
                    <a:pt x="266065" y="10096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6106052" y="1104701"/>
            <a:ext cx="244782" cy="141776"/>
          </a:xfrm>
          <a:custGeom>
            <a:avLst/>
            <a:gdLst/>
            <a:ahLst/>
            <a:cxnLst/>
            <a:rect l="l" t="t" r="r" b="b"/>
            <a:pathLst>
              <a:path w="244782" h="141776">
                <a:moveTo>
                  <a:pt x="0" y="0"/>
                </a:moveTo>
                <a:lnTo>
                  <a:pt x="244782" y="0"/>
                </a:lnTo>
                <a:lnTo>
                  <a:pt x="244782" y="141776"/>
                </a:lnTo>
                <a:lnTo>
                  <a:pt x="0" y="1417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780" b="-78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019856" y="339559"/>
            <a:ext cx="393700" cy="802640"/>
          </a:xfrm>
          <a:custGeom>
            <a:avLst/>
            <a:gdLst/>
            <a:ahLst/>
            <a:cxnLst/>
            <a:rect l="l" t="t" r="r" b="b"/>
            <a:pathLst>
              <a:path w="393700" h="802640">
                <a:moveTo>
                  <a:pt x="0" y="0"/>
                </a:moveTo>
                <a:lnTo>
                  <a:pt x="393700" y="0"/>
                </a:lnTo>
                <a:lnTo>
                  <a:pt x="393700" y="802640"/>
                </a:lnTo>
                <a:lnTo>
                  <a:pt x="0" y="8026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594649" y="1425631"/>
            <a:ext cx="112653" cy="126308"/>
          </a:xfrm>
          <a:custGeom>
            <a:avLst/>
            <a:gdLst/>
            <a:ahLst/>
            <a:cxnLst/>
            <a:rect l="l" t="t" r="r" b="b"/>
            <a:pathLst>
              <a:path w="112653" h="126308">
                <a:moveTo>
                  <a:pt x="0" y="0"/>
                </a:moveTo>
                <a:lnTo>
                  <a:pt x="112653" y="0"/>
                </a:lnTo>
                <a:lnTo>
                  <a:pt x="112653" y="126308"/>
                </a:lnTo>
                <a:lnTo>
                  <a:pt x="0" y="1263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68" b="-168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480534" y="758952"/>
            <a:ext cx="259079" cy="414527"/>
          </a:xfrm>
          <a:custGeom>
            <a:avLst/>
            <a:gdLst/>
            <a:ahLst/>
            <a:cxnLst/>
            <a:rect l="l" t="t" r="r" b="b"/>
            <a:pathLst>
              <a:path w="259079" h="414527">
                <a:moveTo>
                  <a:pt x="0" y="0"/>
                </a:moveTo>
                <a:lnTo>
                  <a:pt x="259079" y="0"/>
                </a:lnTo>
                <a:lnTo>
                  <a:pt x="259079" y="414527"/>
                </a:lnTo>
                <a:lnTo>
                  <a:pt x="0" y="4145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424389" y="792619"/>
            <a:ext cx="151765" cy="323850"/>
          </a:xfrm>
          <a:custGeom>
            <a:avLst/>
            <a:gdLst/>
            <a:ahLst/>
            <a:cxnLst/>
            <a:rect l="l" t="t" r="r" b="b"/>
            <a:pathLst>
              <a:path w="151765" h="323850">
                <a:moveTo>
                  <a:pt x="0" y="0"/>
                </a:moveTo>
                <a:lnTo>
                  <a:pt x="151765" y="0"/>
                </a:lnTo>
                <a:lnTo>
                  <a:pt x="151765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669510" y="755904"/>
            <a:ext cx="999743" cy="384047"/>
          </a:xfrm>
          <a:custGeom>
            <a:avLst/>
            <a:gdLst/>
            <a:ahLst/>
            <a:cxnLst/>
            <a:rect l="l" t="t" r="r" b="b"/>
            <a:pathLst>
              <a:path w="999743" h="384047">
                <a:moveTo>
                  <a:pt x="0" y="0"/>
                </a:moveTo>
                <a:lnTo>
                  <a:pt x="999743" y="0"/>
                </a:lnTo>
                <a:lnTo>
                  <a:pt x="999743" y="384047"/>
                </a:lnTo>
                <a:lnTo>
                  <a:pt x="0" y="3840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7330812" y="1389182"/>
            <a:ext cx="274955" cy="79375"/>
            <a:chOff x="0" y="0"/>
            <a:chExt cx="366607" cy="1058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6268" cy="105283"/>
            </a:xfrm>
            <a:custGeom>
              <a:avLst/>
              <a:gdLst/>
              <a:ahLst/>
              <a:cxnLst/>
              <a:rect l="l" t="t" r="r" b="b"/>
              <a:pathLst>
                <a:path w="366268" h="105283">
                  <a:moveTo>
                    <a:pt x="253746" y="105283"/>
                  </a:moveTo>
                  <a:lnTo>
                    <a:pt x="317373" y="102616"/>
                  </a:lnTo>
                  <a:lnTo>
                    <a:pt x="354330" y="95758"/>
                  </a:lnTo>
                  <a:lnTo>
                    <a:pt x="366268" y="91821"/>
                  </a:lnTo>
                  <a:lnTo>
                    <a:pt x="350520" y="79375"/>
                  </a:lnTo>
                  <a:lnTo>
                    <a:pt x="250698" y="21590"/>
                  </a:lnTo>
                  <a:lnTo>
                    <a:pt x="183896" y="4191"/>
                  </a:lnTo>
                  <a:lnTo>
                    <a:pt x="116713" y="254"/>
                  </a:lnTo>
                  <a:lnTo>
                    <a:pt x="57785" y="0"/>
                  </a:lnTo>
                  <a:lnTo>
                    <a:pt x="15875" y="1270"/>
                  </a:lnTo>
                  <a:lnTo>
                    <a:pt x="0" y="2159"/>
                  </a:lnTo>
                  <a:lnTo>
                    <a:pt x="5334" y="13716"/>
                  </a:lnTo>
                  <a:lnTo>
                    <a:pt x="27813" y="40894"/>
                  </a:lnTo>
                  <a:lnTo>
                    <a:pt x="76708" y="72263"/>
                  </a:lnTo>
                  <a:lnTo>
                    <a:pt x="161925" y="96520"/>
                  </a:lnTo>
                  <a:lnTo>
                    <a:pt x="253746" y="10528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17330812" y="1223064"/>
            <a:ext cx="229460" cy="167778"/>
          </a:xfrm>
          <a:custGeom>
            <a:avLst/>
            <a:gdLst/>
            <a:ahLst/>
            <a:cxnLst/>
            <a:rect l="l" t="t" r="r" b="b"/>
            <a:pathLst>
              <a:path w="229460" h="167778">
                <a:moveTo>
                  <a:pt x="0" y="0"/>
                </a:moveTo>
                <a:lnTo>
                  <a:pt x="229460" y="0"/>
                </a:lnTo>
                <a:lnTo>
                  <a:pt x="229460" y="167778"/>
                </a:lnTo>
                <a:lnTo>
                  <a:pt x="0" y="1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38" r="-138"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7459738" y="1340632"/>
            <a:ext cx="280670" cy="67310"/>
            <a:chOff x="0" y="0"/>
            <a:chExt cx="374227" cy="8974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4015" cy="89535"/>
            </a:xfrm>
            <a:custGeom>
              <a:avLst/>
              <a:gdLst/>
              <a:ahLst/>
              <a:cxnLst/>
              <a:rect l="l" t="t" r="r" b="b"/>
              <a:pathLst>
                <a:path w="374015" h="89535">
                  <a:moveTo>
                    <a:pt x="173990" y="89535"/>
                  </a:moveTo>
                  <a:lnTo>
                    <a:pt x="254635" y="88519"/>
                  </a:lnTo>
                  <a:lnTo>
                    <a:pt x="317881" y="80518"/>
                  </a:lnTo>
                  <a:lnTo>
                    <a:pt x="359156" y="71374"/>
                  </a:lnTo>
                  <a:lnTo>
                    <a:pt x="374015" y="67056"/>
                  </a:lnTo>
                  <a:lnTo>
                    <a:pt x="359791" y="57404"/>
                  </a:lnTo>
                  <a:lnTo>
                    <a:pt x="320421" y="35560"/>
                  </a:lnTo>
                  <a:lnTo>
                    <a:pt x="260350" y="12827"/>
                  </a:lnTo>
                  <a:lnTo>
                    <a:pt x="184277" y="0"/>
                  </a:lnTo>
                  <a:lnTo>
                    <a:pt x="109220" y="1270"/>
                  </a:lnTo>
                  <a:lnTo>
                    <a:pt x="50927" y="9652"/>
                  </a:lnTo>
                  <a:lnTo>
                    <a:pt x="13335" y="19050"/>
                  </a:lnTo>
                  <a:lnTo>
                    <a:pt x="0" y="23495"/>
                  </a:lnTo>
                  <a:lnTo>
                    <a:pt x="10795" y="33020"/>
                  </a:lnTo>
                  <a:lnTo>
                    <a:pt x="43180" y="54229"/>
                  </a:lnTo>
                  <a:lnTo>
                    <a:pt x="97409" y="76708"/>
                  </a:lnTo>
                  <a:lnTo>
                    <a:pt x="173990" y="8953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17563315" y="1080067"/>
            <a:ext cx="162610" cy="230903"/>
          </a:xfrm>
          <a:custGeom>
            <a:avLst/>
            <a:gdLst/>
            <a:ahLst/>
            <a:cxnLst/>
            <a:rect l="l" t="t" r="r" b="b"/>
            <a:pathLst>
              <a:path w="162610" h="230903">
                <a:moveTo>
                  <a:pt x="0" y="0"/>
                </a:moveTo>
                <a:lnTo>
                  <a:pt x="162610" y="0"/>
                </a:lnTo>
                <a:lnTo>
                  <a:pt x="162610" y="230903"/>
                </a:lnTo>
                <a:lnTo>
                  <a:pt x="0" y="23090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90" r="-290"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7604850" y="1252199"/>
            <a:ext cx="280670" cy="75565"/>
            <a:chOff x="0" y="0"/>
            <a:chExt cx="374227" cy="10075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3888" cy="100330"/>
            </a:xfrm>
            <a:custGeom>
              <a:avLst/>
              <a:gdLst/>
              <a:ahLst/>
              <a:cxnLst/>
              <a:rect l="l" t="t" r="r" b="b"/>
              <a:pathLst>
                <a:path w="373888" h="100330">
                  <a:moveTo>
                    <a:pt x="107188" y="100203"/>
                  </a:moveTo>
                  <a:lnTo>
                    <a:pt x="184658" y="94869"/>
                  </a:lnTo>
                  <a:lnTo>
                    <a:pt x="262763" y="75057"/>
                  </a:lnTo>
                  <a:lnTo>
                    <a:pt x="322453" y="52451"/>
                  </a:lnTo>
                  <a:lnTo>
                    <a:pt x="373888" y="26162"/>
                  </a:lnTo>
                  <a:lnTo>
                    <a:pt x="357886" y="20066"/>
                  </a:lnTo>
                  <a:lnTo>
                    <a:pt x="314325" y="8001"/>
                  </a:lnTo>
                  <a:lnTo>
                    <a:pt x="250571" y="0"/>
                  </a:lnTo>
                  <a:lnTo>
                    <a:pt x="173736" y="5334"/>
                  </a:lnTo>
                  <a:lnTo>
                    <a:pt x="100965" y="24130"/>
                  </a:lnTo>
                  <a:lnTo>
                    <a:pt x="46355" y="45847"/>
                  </a:lnTo>
                  <a:lnTo>
                    <a:pt x="11938" y="63754"/>
                  </a:lnTo>
                  <a:lnTo>
                    <a:pt x="0" y="71247"/>
                  </a:lnTo>
                  <a:lnTo>
                    <a:pt x="12700" y="77978"/>
                  </a:lnTo>
                  <a:lnTo>
                    <a:pt x="49149" y="91186"/>
                  </a:lnTo>
                  <a:lnTo>
                    <a:pt x="107188" y="100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6" name="Freeform 26"/>
          <p:cNvSpPr/>
          <p:nvPr/>
        </p:nvSpPr>
        <p:spPr>
          <a:xfrm>
            <a:off x="17679041" y="1105987"/>
            <a:ext cx="245478" cy="140612"/>
          </a:xfrm>
          <a:custGeom>
            <a:avLst/>
            <a:gdLst/>
            <a:ahLst/>
            <a:cxnLst/>
            <a:rect l="l" t="t" r="r" b="b"/>
            <a:pathLst>
              <a:path w="245478" h="140612">
                <a:moveTo>
                  <a:pt x="0" y="0"/>
                </a:moveTo>
                <a:lnTo>
                  <a:pt x="245478" y="0"/>
                </a:lnTo>
                <a:lnTo>
                  <a:pt x="245478" y="140612"/>
                </a:lnTo>
                <a:lnTo>
                  <a:pt x="0" y="14061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359" b="-359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621199" y="339330"/>
            <a:ext cx="390525" cy="803275"/>
          </a:xfrm>
          <a:custGeom>
            <a:avLst/>
            <a:gdLst/>
            <a:ahLst/>
            <a:cxnLst/>
            <a:rect l="l" t="t" r="r" b="b"/>
            <a:pathLst>
              <a:path w="390525" h="803275">
                <a:moveTo>
                  <a:pt x="0" y="0"/>
                </a:moveTo>
                <a:lnTo>
                  <a:pt x="390525" y="0"/>
                </a:lnTo>
                <a:lnTo>
                  <a:pt x="390525" y="803275"/>
                </a:lnTo>
                <a:lnTo>
                  <a:pt x="0" y="80327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7321684" y="1423928"/>
            <a:ext cx="112071" cy="126802"/>
          </a:xfrm>
          <a:custGeom>
            <a:avLst/>
            <a:gdLst/>
            <a:ahLst/>
            <a:cxnLst/>
            <a:rect l="l" t="t" r="r" b="b"/>
            <a:pathLst>
              <a:path w="112071" h="126802">
                <a:moveTo>
                  <a:pt x="0" y="0"/>
                </a:moveTo>
                <a:lnTo>
                  <a:pt x="112071" y="0"/>
                </a:lnTo>
                <a:lnTo>
                  <a:pt x="112071" y="126802"/>
                </a:lnTo>
                <a:lnTo>
                  <a:pt x="0" y="12680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2220" r="-2220"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16474160" y="744181"/>
            <a:ext cx="38100" cy="307340"/>
            <a:chOff x="0" y="0"/>
            <a:chExt cx="50800" cy="409787"/>
          </a:xfrm>
        </p:grpSpPr>
        <p:sp>
          <p:nvSpPr>
            <p:cNvPr id="30" name="Freeform 30"/>
            <p:cNvSpPr/>
            <p:nvPr/>
          </p:nvSpPr>
          <p:spPr>
            <a:xfrm>
              <a:off x="0" y="367665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9144" y="0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2" name="Freeform 32"/>
          <p:cNvSpPr/>
          <p:nvPr/>
        </p:nvSpPr>
        <p:spPr>
          <a:xfrm>
            <a:off x="16947701" y="1390593"/>
            <a:ext cx="135917" cy="134319"/>
          </a:xfrm>
          <a:custGeom>
            <a:avLst/>
            <a:gdLst/>
            <a:ahLst/>
            <a:cxnLst/>
            <a:rect l="l" t="t" r="r" b="b"/>
            <a:pathLst>
              <a:path w="135917" h="134319">
                <a:moveTo>
                  <a:pt x="0" y="0"/>
                </a:moveTo>
                <a:lnTo>
                  <a:pt x="135917" y="0"/>
                </a:lnTo>
                <a:lnTo>
                  <a:pt x="135917" y="134319"/>
                </a:lnTo>
                <a:lnTo>
                  <a:pt x="0" y="13431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t="-594" b="-594"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16209922" y="1570445"/>
            <a:ext cx="1592580" cy="157480"/>
            <a:chOff x="0" y="0"/>
            <a:chExt cx="2123440" cy="20997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23440" cy="209973"/>
            </a:xfrm>
            <a:custGeom>
              <a:avLst/>
              <a:gdLst/>
              <a:ahLst/>
              <a:cxnLst/>
              <a:rect l="l" t="t" r="r" b="b"/>
              <a:pathLst>
                <a:path w="2123440" h="209973">
                  <a:moveTo>
                    <a:pt x="0" y="0"/>
                  </a:moveTo>
                  <a:lnTo>
                    <a:pt x="2123440" y="0"/>
                  </a:lnTo>
                  <a:lnTo>
                    <a:pt x="2123440" y="209973"/>
                  </a:lnTo>
                  <a:lnTo>
                    <a:pt x="0" y="209973"/>
                  </a:lnTo>
                  <a:close/>
                </a:path>
              </a:pathLst>
            </a:custGeom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2123440" cy="2194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1020"/>
                </a:lnSpc>
              </a:pPr>
              <a:r>
                <a:rPr lang="en-US" sz="850" b="1" spc="-55">
                  <a:solidFill>
                    <a:srgbClr val="FFFFFF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Forum Of Data Science Engineers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192139" y="2270630"/>
            <a:ext cx="650240" cy="278130"/>
            <a:chOff x="0" y="0"/>
            <a:chExt cx="866987" cy="3708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66987" cy="370840"/>
            </a:xfrm>
            <a:custGeom>
              <a:avLst/>
              <a:gdLst/>
              <a:ahLst/>
              <a:cxnLst/>
              <a:rect l="l" t="t" r="r" b="b"/>
              <a:pathLst>
                <a:path w="866987" h="370840">
                  <a:moveTo>
                    <a:pt x="0" y="0"/>
                  </a:moveTo>
                  <a:lnTo>
                    <a:pt x="866987" y="0"/>
                  </a:lnTo>
                  <a:lnTo>
                    <a:pt x="866987" y="370840"/>
                  </a:lnTo>
                  <a:lnTo>
                    <a:pt x="0" y="370840"/>
                  </a:lnTo>
                  <a:close/>
                </a:path>
              </a:pathLst>
            </a:custGeom>
          </p:spPr>
        </p:sp>
        <p:sp>
          <p:nvSpPr>
            <p:cNvPr id="38" name="TextBox 38"/>
            <p:cNvSpPr txBox="1"/>
            <p:nvPr/>
          </p:nvSpPr>
          <p:spPr>
            <a:xfrm>
              <a:off x="0" y="9525"/>
              <a:ext cx="866987" cy="3613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095"/>
                </a:lnSpc>
              </a:pPr>
              <a:r>
                <a:rPr lang="en-US" sz="1800" b="1" spc="40">
                  <a:solidFill>
                    <a:srgbClr val="000000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ROLE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647030" y="2270630"/>
            <a:ext cx="728980" cy="278130"/>
            <a:chOff x="0" y="0"/>
            <a:chExt cx="971973" cy="3708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71973" cy="370840"/>
            </a:xfrm>
            <a:custGeom>
              <a:avLst/>
              <a:gdLst/>
              <a:ahLst/>
              <a:cxnLst/>
              <a:rect l="l" t="t" r="r" b="b"/>
              <a:pathLst>
                <a:path w="971973" h="370840">
                  <a:moveTo>
                    <a:pt x="0" y="0"/>
                  </a:moveTo>
                  <a:lnTo>
                    <a:pt x="971973" y="0"/>
                  </a:lnTo>
                  <a:lnTo>
                    <a:pt x="971973" y="370840"/>
                  </a:lnTo>
                  <a:lnTo>
                    <a:pt x="0" y="370840"/>
                  </a:lnTo>
                  <a:close/>
                </a:path>
              </a:pathLst>
            </a:custGeom>
          </p:spPr>
        </p:sp>
        <p:sp>
          <p:nvSpPr>
            <p:cNvPr id="41" name="TextBox 41"/>
            <p:cNvSpPr txBox="1"/>
            <p:nvPr/>
          </p:nvSpPr>
          <p:spPr>
            <a:xfrm>
              <a:off x="0" y="9525"/>
              <a:ext cx="971973" cy="3613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095"/>
                </a:lnSpc>
              </a:pPr>
              <a:r>
                <a:rPr lang="en-US" sz="1800" b="1" spc="69">
                  <a:solidFill>
                    <a:srgbClr val="000000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NAME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702472" y="2270630"/>
            <a:ext cx="1736089" cy="278130"/>
            <a:chOff x="0" y="0"/>
            <a:chExt cx="2314785" cy="3708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314785" cy="370840"/>
            </a:xfrm>
            <a:custGeom>
              <a:avLst/>
              <a:gdLst/>
              <a:ahLst/>
              <a:cxnLst/>
              <a:rect l="l" t="t" r="r" b="b"/>
              <a:pathLst>
                <a:path w="2314785" h="370840">
                  <a:moveTo>
                    <a:pt x="0" y="0"/>
                  </a:moveTo>
                  <a:lnTo>
                    <a:pt x="2314785" y="0"/>
                  </a:lnTo>
                  <a:lnTo>
                    <a:pt x="2314785" y="370840"/>
                  </a:lnTo>
                  <a:lnTo>
                    <a:pt x="0" y="370840"/>
                  </a:lnTo>
                  <a:close/>
                </a:path>
              </a:pathLst>
            </a:custGeom>
          </p:spPr>
        </p:sp>
        <p:sp>
          <p:nvSpPr>
            <p:cNvPr id="44" name="TextBox 44"/>
            <p:cNvSpPr txBox="1"/>
            <p:nvPr/>
          </p:nvSpPr>
          <p:spPr>
            <a:xfrm>
              <a:off x="0" y="9525"/>
              <a:ext cx="2314785" cy="3613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095"/>
                </a:lnSpc>
              </a:pPr>
              <a:r>
                <a:rPr lang="en-US" sz="1800" b="1" spc="-10">
                  <a:solidFill>
                    <a:srgbClr val="000000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STREAM/DEPT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025685" y="2270630"/>
            <a:ext cx="648970" cy="278130"/>
            <a:chOff x="0" y="0"/>
            <a:chExt cx="865293" cy="3708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65293" cy="370840"/>
            </a:xfrm>
            <a:custGeom>
              <a:avLst/>
              <a:gdLst/>
              <a:ahLst/>
              <a:cxnLst/>
              <a:rect l="l" t="t" r="r" b="b"/>
              <a:pathLst>
                <a:path w="865293" h="370840">
                  <a:moveTo>
                    <a:pt x="0" y="0"/>
                  </a:moveTo>
                  <a:lnTo>
                    <a:pt x="865293" y="0"/>
                  </a:lnTo>
                  <a:lnTo>
                    <a:pt x="865293" y="370840"/>
                  </a:lnTo>
                  <a:lnTo>
                    <a:pt x="0" y="370840"/>
                  </a:lnTo>
                  <a:close/>
                </a:path>
              </a:pathLst>
            </a:custGeom>
          </p:spPr>
        </p:sp>
        <p:sp>
          <p:nvSpPr>
            <p:cNvPr id="47" name="TextBox 47"/>
            <p:cNvSpPr txBox="1"/>
            <p:nvPr/>
          </p:nvSpPr>
          <p:spPr>
            <a:xfrm>
              <a:off x="0" y="9525"/>
              <a:ext cx="865293" cy="3613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095"/>
                </a:lnSpc>
              </a:pPr>
              <a:r>
                <a:rPr lang="en-US" sz="1800" b="1" spc="-20">
                  <a:solidFill>
                    <a:srgbClr val="000000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YEAR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4860261" y="2270630"/>
            <a:ext cx="1115695" cy="278130"/>
            <a:chOff x="0" y="0"/>
            <a:chExt cx="1487593" cy="3708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487593" cy="370840"/>
            </a:xfrm>
            <a:custGeom>
              <a:avLst/>
              <a:gdLst/>
              <a:ahLst/>
              <a:cxnLst/>
              <a:rect l="l" t="t" r="r" b="b"/>
              <a:pathLst>
                <a:path w="1487593" h="370840">
                  <a:moveTo>
                    <a:pt x="0" y="0"/>
                  </a:moveTo>
                  <a:lnTo>
                    <a:pt x="1487593" y="0"/>
                  </a:lnTo>
                  <a:lnTo>
                    <a:pt x="1487593" y="370840"/>
                  </a:lnTo>
                  <a:lnTo>
                    <a:pt x="0" y="370840"/>
                  </a:lnTo>
                  <a:close/>
                </a:path>
              </a:pathLst>
            </a:custGeom>
          </p:spPr>
        </p:sp>
        <p:sp>
          <p:nvSpPr>
            <p:cNvPr id="50" name="TextBox 50"/>
            <p:cNvSpPr txBox="1"/>
            <p:nvPr/>
          </p:nvSpPr>
          <p:spPr>
            <a:xfrm>
              <a:off x="0" y="9525"/>
              <a:ext cx="1487593" cy="3613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095"/>
                </a:lnSpc>
              </a:pPr>
              <a:r>
                <a:rPr lang="en-US" sz="1800" b="1" spc="60">
                  <a:solidFill>
                    <a:srgbClr val="000000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COLLEGE</a:t>
              </a:r>
            </a:p>
          </p:txBody>
        </p:sp>
      </p:grpSp>
      <p:graphicFrame>
        <p:nvGraphicFramePr>
          <p:cNvPr id="51" name="Table 51"/>
          <p:cNvGraphicFramePr>
            <a:graphicFrameLocks noGrp="1"/>
          </p:cNvGraphicFramePr>
          <p:nvPr/>
        </p:nvGraphicFramePr>
        <p:xfrm>
          <a:off x="1080988" y="1900535"/>
          <a:ext cx="16065500" cy="6934200"/>
        </p:xfrm>
        <a:graphic>
          <a:graphicData uri="http://schemas.openxmlformats.org/drawingml/2006/table">
            <a:tbl>
              <a:tblPr/>
              <a:tblGrid>
                <a:gridCol w="2839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6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5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6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7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ROLE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FULL NAME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STREAM / DEPT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YEAR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COLLEGE</a:t>
                      </a: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sz="1400" b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Team Lead / Backend Dev</a:t>
                      </a:r>
                      <a:endParaRPr lang="en-US" sz="14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DILLI BASKARAN K 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sz="1400" b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B</a:t>
                      </a:r>
                      <a:r>
                        <a:rPr lang="en-IN" sz="1400" b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.Tech - Artificial Intelligence and Data Science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sz="1400" b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II</a:t>
                      </a:r>
                      <a:r>
                        <a:rPr lang="en-IN" sz="1400" b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 </a:t>
                      </a:r>
                      <a:r>
                        <a:rPr sz="1400" b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Year</a:t>
                      </a:r>
                      <a:endParaRPr lang="en-US" sz="14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Sri Sairam Engg College </a:t>
                      </a:r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, Chennai</a:t>
                      </a:r>
                      <a:endParaRPr lang="en-US" sz="1400" b="1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sz="1400" b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Frontend Developer</a:t>
                      </a:r>
                      <a:endParaRPr lang="en-US" sz="14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M</a:t>
                      </a:r>
                      <a:r>
                        <a:rPr lang="en-IN" sz="14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OGHIT P M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B</a:t>
                      </a:r>
                      <a:r>
                        <a:rPr lang="en-IN" sz="1400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.Tech - Artificial Intelligence and Data Science</a:t>
                      </a:r>
                      <a:endParaRPr lang="en-IN" sz="1400" b="0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400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sz="1400" b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II</a:t>
                      </a:r>
                      <a:r>
                        <a:rPr lang="en-IN" sz="1400" b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 </a:t>
                      </a:r>
                      <a:r>
                        <a:rPr sz="1400" b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Year</a:t>
                      </a:r>
                      <a:endParaRPr lang="en-US" sz="14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Sri Sairam Engg College </a:t>
                      </a:r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, Chennai</a:t>
                      </a:r>
                      <a:endParaRPr lang="en-US" sz="14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sz="1400" b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ML / AI Engineer</a:t>
                      </a:r>
                      <a:endParaRPr lang="en-US" sz="14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HARI CHARRAN R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B</a:t>
                      </a:r>
                      <a:r>
                        <a:rPr lang="en-IN" sz="1400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.Tech - Artificial Intelligence and Data Scien</a:t>
                      </a:r>
                      <a:r>
                        <a:rPr lang="en-IN" sz="1100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ce</a:t>
                      </a:r>
                      <a:endParaRPr lang="en-IN" sz="1100" b="0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sz="1400" b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II</a:t>
                      </a:r>
                      <a:r>
                        <a:rPr lang="en-IN" sz="1400" b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 </a:t>
                      </a:r>
                      <a:r>
                        <a:rPr sz="1400" b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Year</a:t>
                      </a:r>
                      <a:endParaRPr lang="en-US" sz="14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IN" sz="1300" b="1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S</a:t>
                      </a:r>
                      <a:r>
                        <a:rPr lang="en-IN" sz="1400" b="1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ri Sairam Engg College </a:t>
                      </a:r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, Chennai</a:t>
                      </a:r>
                      <a:endParaRPr lang="en-US" sz="14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sz="1400" b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UI/UX + DevOps</a:t>
                      </a:r>
                      <a:endParaRPr lang="en-US" sz="14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M</a:t>
                      </a:r>
                      <a:r>
                        <a:rPr lang="en-IN" sz="14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ITESH KUMAAR 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B</a:t>
                      </a:r>
                      <a:r>
                        <a:rPr lang="en-IN" sz="1400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.Tech - Artificial Intelligence and Data Science</a:t>
                      </a:r>
                      <a:endParaRPr lang="en-US" sz="14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I</a:t>
                      </a:r>
                      <a:r>
                        <a:rPr sz="1400" b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I</a:t>
                      </a:r>
                      <a:r>
                        <a:rPr lang="en-IN" sz="1400" b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 </a:t>
                      </a:r>
                      <a:r>
                        <a:rPr sz="1400" b="0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Year</a:t>
                      </a:r>
                      <a:endParaRPr lang="en-US" sz="14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Sri Sairam Engg College </a:t>
                      </a:r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, Chennai</a:t>
                      </a:r>
                      <a:endParaRPr lang="en-US" sz="14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140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Data  Engineer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1400" b="1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HARITHA L S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B</a:t>
                      </a:r>
                      <a:r>
                        <a:rPr lang="en-IN" sz="1400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.Tech - Artificial Intelligence and Data Science</a:t>
                      </a:r>
                      <a:endParaRPr lang="en-IN" sz="1400" b="0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4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sz="1100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II</a:t>
                      </a:r>
                      <a:r>
                        <a:rPr lang="en-IN" sz="1100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 </a:t>
                      </a:r>
                      <a:r>
                        <a:rPr sz="1100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Year</a:t>
                      </a:r>
                      <a:endParaRPr lang="en-US" sz="1100"/>
                    </a:p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4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Sri Sairam Engg College </a:t>
                      </a:r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, Chennai</a:t>
                      </a:r>
                      <a:endParaRPr lang="en-US" sz="1400" b="1"/>
                    </a:p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4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E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140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    Presenter / Communication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1400" b="1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VANVIZHI L</a:t>
                      </a:r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B</a:t>
                      </a:r>
                      <a:r>
                        <a:rPr lang="en-IN" sz="1400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.Tech - Artificial Intelligence and Data Scienc</a:t>
                      </a:r>
                      <a:r>
                        <a:rPr lang="en-IN" sz="1100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e</a:t>
                      </a:r>
                      <a:endParaRPr lang="en-IN" sz="1100" b="0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II</a:t>
                      </a:r>
                      <a:r>
                        <a:rPr lang="en-IN" sz="1400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 </a:t>
                      </a:r>
                      <a:r>
                        <a:rPr sz="1400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Year</a:t>
                      </a:r>
                      <a:endParaRPr lang="en-US" sz="1400"/>
                    </a:p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4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r>
                        <a:rPr lang="en-IN" sz="1400" b="1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Sri Sairam Engg College </a:t>
                      </a:r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/>
                          <a:sym typeface="+mn-ea"/>
                        </a:rPr>
                        <a:t>, Chennai</a:t>
                      </a:r>
                      <a:endParaRPr lang="en-US" sz="1400" b="1"/>
                    </a:p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400"/>
                    </a:p>
                  </a:txBody>
                  <a:tcPr marL="0" marR="0" marT="0" marB="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2" name="Group 52"/>
          <p:cNvGrpSpPr/>
          <p:nvPr/>
        </p:nvGrpSpPr>
        <p:grpSpPr>
          <a:xfrm>
            <a:off x="1016000" y="276291"/>
            <a:ext cx="11351260" cy="926973"/>
            <a:chOff x="0" y="0"/>
            <a:chExt cx="15135013" cy="123596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5135014" cy="1235964"/>
            </a:xfrm>
            <a:custGeom>
              <a:avLst/>
              <a:gdLst/>
              <a:ahLst/>
              <a:cxnLst/>
              <a:rect l="l" t="t" r="r" b="b"/>
              <a:pathLst>
                <a:path w="15135014" h="1235964">
                  <a:moveTo>
                    <a:pt x="0" y="0"/>
                  </a:moveTo>
                  <a:lnTo>
                    <a:pt x="15135014" y="0"/>
                  </a:lnTo>
                  <a:lnTo>
                    <a:pt x="15135014" y="1235964"/>
                  </a:lnTo>
                  <a:lnTo>
                    <a:pt x="0" y="1235964"/>
                  </a:lnTo>
                  <a:close/>
                </a:path>
              </a:pathLst>
            </a:custGeom>
          </p:spPr>
        </p:sp>
        <p:sp>
          <p:nvSpPr>
            <p:cNvPr id="54" name="TextBox 54"/>
            <p:cNvSpPr txBox="1"/>
            <p:nvPr/>
          </p:nvSpPr>
          <p:spPr>
            <a:xfrm>
              <a:off x="0" y="-9525"/>
              <a:ext cx="15135013" cy="12454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120"/>
                </a:lnSpc>
              </a:pPr>
              <a:r>
                <a:rPr lang="en-US" sz="5100" b="1" spc="305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TEAM DETAILS</a:t>
              </a:r>
            </a:p>
          </p:txBody>
        </p:sp>
      </p:grpSp>
      <p:sp>
        <p:nvSpPr>
          <p:cNvPr id="55" name="Freeform 55"/>
          <p:cNvSpPr/>
          <p:nvPr/>
        </p:nvSpPr>
        <p:spPr>
          <a:xfrm>
            <a:off x="13778250" y="8698621"/>
            <a:ext cx="4509748" cy="1588378"/>
          </a:xfrm>
          <a:custGeom>
            <a:avLst/>
            <a:gdLst/>
            <a:ahLst/>
            <a:cxnLst/>
            <a:rect l="l" t="t" r="r" b="b"/>
            <a:pathLst>
              <a:path w="4509748" h="1588378">
                <a:moveTo>
                  <a:pt x="0" y="0"/>
                </a:moveTo>
                <a:lnTo>
                  <a:pt x="4509748" y="0"/>
                </a:lnTo>
                <a:lnTo>
                  <a:pt x="4509748" y="1588378"/>
                </a:lnTo>
                <a:lnTo>
                  <a:pt x="0" y="158837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6921</Words>
  <Application>Microsoft Office PowerPoint</Application>
  <PresentationFormat>Custom</PresentationFormat>
  <Paragraphs>230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abstract-format (2).pptx</dc:title>
  <dc:creator/>
  <cp:lastModifiedBy>919940283634</cp:lastModifiedBy>
  <cp:revision>5</cp:revision>
  <dcterms:created xsi:type="dcterms:W3CDTF">2006-08-16T00:00:00Z</dcterms:created>
  <dcterms:modified xsi:type="dcterms:W3CDTF">2026-03-09T05:01:37Z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2317889963354B3381E4E3E1DAE42927_13</vt:lpwstr>
  </property>
  <property fmtid="{D5CDD505-2E9C-101B-9397-08002B2CF9AE}" pid="3" name="KSOProductBuildVer">
    <vt:lpwstr>1033-12.2.0.23196</vt:lpwstr>
  </property>
</Properties>
</file>